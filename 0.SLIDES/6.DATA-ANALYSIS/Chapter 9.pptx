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bookmarkIdSeed="6">
  <p:sldMasterIdLst>
    <p:sldMasterId id="2147483669" r:id="rId1"/>
  </p:sldMasterIdLst>
  <p:notesMasterIdLst>
    <p:notesMasterId r:id="rId45"/>
  </p:notesMasterIdLst>
  <p:handoutMasterIdLst>
    <p:handoutMasterId r:id="rId46"/>
  </p:handoutMasterIdLst>
  <p:sldIdLst>
    <p:sldId id="256" r:id="rId2"/>
    <p:sldId id="257" r:id="rId3"/>
    <p:sldId id="299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20396D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6414" autoAdjust="0"/>
  </p:normalViewPr>
  <p:slideViewPr>
    <p:cSldViewPr>
      <p:cViewPr>
        <p:scale>
          <a:sx n="160" d="100"/>
          <a:sy n="160" d="100"/>
        </p:scale>
        <p:origin x="114" y="-3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938" y="0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4633A84-D730-4DB1-B585-7559B92CE5D8}" type="datetimeFigureOut">
              <a:rPr lang="en-US"/>
              <a:pPr>
                <a:defRPr/>
              </a:pPr>
              <a:t>4/15/2024</a:t>
            </a:fld>
            <a:endParaRPr lang="en-US"/>
          </a:p>
        </p:txBody>
      </p:sp>
      <p:sp>
        <p:nvSpPr>
          <p:cNvPr id="276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967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6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938" y="8829967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1C669EC8-97E7-4C24-A864-1853E75085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98575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2560" y="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53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4720" y="4415790"/>
            <a:ext cx="5140960" cy="4183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32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58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32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2560" y="883158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82C5A2EE-74B4-4329-B2EC-6DFE0575ED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45560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_number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1143000"/>
            <a:ext cx="7772400" cy="553998"/>
          </a:xfrm>
        </p:spPr>
        <p:txBody>
          <a:bodyPr lIns="0" tIns="0" rIns="0" bIns="0" anchor="t" anchorCtr="0">
            <a:spAutoFit/>
          </a:bodyPr>
          <a:lstStyle>
            <a:lvl1pPr>
              <a:defRPr sz="3600" b="1" i="0" baseline="0">
                <a:solidFill>
                  <a:srgbClr val="000099"/>
                </a:solidFill>
              </a:defRPr>
            </a:lvl1pPr>
          </a:lstStyle>
          <a:p>
            <a:r>
              <a:rPr lang="en-US" dirty="0"/>
              <a:t>Chapter number</a:t>
            </a: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905000" y="2209800"/>
            <a:ext cx="5334000" cy="2971800"/>
          </a:xfrm>
        </p:spPr>
        <p:txBody>
          <a:bodyPr/>
          <a:lstStyle>
            <a:lvl1pPr marL="0" indent="0" algn="ctr">
              <a:buNone/>
              <a:defRPr sz="4800" b="1" baseline="0"/>
            </a:lvl1pPr>
          </a:lstStyle>
          <a:p>
            <a:pPr lvl="0"/>
            <a:r>
              <a:rPr lang="en-US" dirty="0"/>
              <a:t>Chapter title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C9,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3205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838200" y="1066800"/>
            <a:ext cx="7391400" cy="4876800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C9,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173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layout_2-line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740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838200" y="1463040"/>
            <a:ext cx="7391400" cy="4495800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C9,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9648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914400" y="1143000"/>
            <a:ext cx="7315200" cy="48006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insert image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C9,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5222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B67ED070-8611-4D83-A3C6-478B69003052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914400" y="1143000"/>
            <a:ext cx="7315200" cy="4495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to insert table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C9,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467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_Tabl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B67ED070-8611-4D83-A3C6-478B69003052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914400" y="1143000"/>
            <a:ext cx="7315200" cy="4495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to insert table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C9,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Table Placeholder 7">
            <a:extLst>
              <a:ext uri="{FF2B5EF4-FFF2-40B4-BE49-F238E27FC236}">
                <a16:creationId xmlns:a16="http://schemas.microsoft.com/office/drawing/2014/main" id="{1BAA420C-3471-4D6A-BE62-30BE07634CDD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1066800" y="1295400"/>
            <a:ext cx="7315200" cy="4495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to insert table</a:t>
            </a:r>
          </a:p>
        </p:txBody>
      </p:sp>
    </p:spTree>
    <p:extLst>
      <p:ext uri="{BB962C8B-B14F-4D97-AF65-F5344CB8AC3E}">
        <p14:creationId xmlns:p14="http://schemas.microsoft.com/office/powerpoint/2010/main" val="42136316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_Text_Tabl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B67ED070-8611-4D83-A3C6-478B69003052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914400" y="1143000"/>
            <a:ext cx="7315200" cy="1496734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to insert table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C9,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Table Placeholder 7">
            <a:extLst>
              <a:ext uri="{FF2B5EF4-FFF2-40B4-BE49-F238E27FC236}">
                <a16:creationId xmlns:a16="http://schemas.microsoft.com/office/drawing/2014/main" id="{1BAA420C-3471-4D6A-BE62-30BE07634CDD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914400" y="3597780"/>
            <a:ext cx="7315200" cy="150762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to insert table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343F8196-C45E-4101-8642-53DC9DFF59B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38200" y="2743200"/>
            <a:ext cx="7391400" cy="6858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508416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_Text_Imag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B67ED070-8611-4D83-A3C6-478B69003052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914400" y="1143000"/>
            <a:ext cx="7315200" cy="1496734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to insert table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C9,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343F8196-C45E-4101-8642-53DC9DFF59B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38200" y="2743200"/>
            <a:ext cx="7391400" cy="6858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B39D1673-5FDF-4D83-ADBE-97ACF8D227BA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76300" y="3532466"/>
            <a:ext cx="7315200" cy="25146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insert image</a:t>
            </a:r>
          </a:p>
        </p:txBody>
      </p:sp>
    </p:spTree>
    <p:extLst>
      <p:ext uri="{BB962C8B-B14F-4D97-AF65-F5344CB8AC3E}">
        <p14:creationId xmlns:p14="http://schemas.microsoft.com/office/powerpoint/2010/main" val="3368246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Consol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838200" y="1066800"/>
            <a:ext cx="7391400" cy="27432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4"/>
          <p:cNvSpPr>
            <a:spLocks noGrp="1"/>
          </p:cNvSpPr>
          <p:nvPr>
            <p:ph type="body" sz="quarter" idx="15"/>
          </p:nvPr>
        </p:nvSpPr>
        <p:spPr>
          <a:xfrm>
            <a:off x="1295400" y="3892100"/>
            <a:ext cx="6934200" cy="2049956"/>
          </a:xfrm>
          <a:solidFill>
            <a:schemeClr val="bg1">
              <a:lumMod val="95000"/>
            </a:schemeClr>
          </a:solidFill>
          <a:ln w="31750" cmpd="thickThin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C9,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31122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Console_Text_Consol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838200" y="1066800"/>
            <a:ext cx="7391400" cy="9906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4"/>
          <p:cNvSpPr>
            <a:spLocks noGrp="1"/>
          </p:cNvSpPr>
          <p:nvPr>
            <p:ph type="body" sz="quarter" idx="16"/>
          </p:nvPr>
        </p:nvSpPr>
        <p:spPr>
          <a:xfrm>
            <a:off x="1295400" y="2150899"/>
            <a:ext cx="6934200" cy="815635"/>
          </a:xfrm>
          <a:solidFill>
            <a:schemeClr val="bg1">
              <a:lumMod val="95000"/>
            </a:schemeClr>
          </a:solidFill>
          <a:ln w="31750" cmpd="thickThin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838200" y="3347534"/>
            <a:ext cx="7391400" cy="1496734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4"/>
          <p:cNvSpPr>
            <a:spLocks noGrp="1"/>
          </p:cNvSpPr>
          <p:nvPr>
            <p:ph type="body" sz="quarter" idx="15"/>
          </p:nvPr>
        </p:nvSpPr>
        <p:spPr>
          <a:xfrm>
            <a:off x="1295400" y="4982112"/>
            <a:ext cx="6934200" cy="885288"/>
          </a:xfrm>
          <a:solidFill>
            <a:schemeClr val="bg1">
              <a:lumMod val="95000"/>
            </a:schemeClr>
          </a:solidFill>
          <a:ln w="31750" cmpd="thickThin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C9,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4291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ol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14"/>
          <p:cNvSpPr>
            <a:spLocks noGrp="1"/>
          </p:cNvSpPr>
          <p:nvPr>
            <p:ph type="body" sz="quarter" idx="15"/>
          </p:nvPr>
        </p:nvSpPr>
        <p:spPr>
          <a:xfrm>
            <a:off x="1295400" y="1143000"/>
            <a:ext cx="6934200" cy="3200400"/>
          </a:xfrm>
          <a:solidFill>
            <a:schemeClr val="bg1">
              <a:lumMod val="95000"/>
            </a:schemeClr>
          </a:solidFill>
          <a:ln w="31750" cmpd="thickThin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C9,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09015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914400" y="1066800"/>
            <a:ext cx="7315200" cy="25146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insert image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838200" y="3733800"/>
            <a:ext cx="7391400" cy="2209799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sz="1800"/>
            </a:lvl1pPr>
          </a:lstStyle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algn="l">
              <a:defRPr sz="1400">
                <a:latin typeface="Times New Roman"/>
              </a:defRPr>
            </a:lvl1pPr>
          </a:lstStyle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C9,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12028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_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BA428B99-D0BB-4B7F-A30C-E347F02920DF}"/>
              </a:ext>
            </a:extLst>
          </p:cNvPr>
          <p:cNvSpPr>
            <a:spLocks noGrp="1"/>
          </p:cNvSpPr>
          <p:nvPr>
            <p:ph type="tbl" sz="quarter" idx="16" hasCustomPrompt="1"/>
          </p:nvPr>
        </p:nvSpPr>
        <p:spPr>
          <a:xfrm>
            <a:off x="914400" y="1143000"/>
            <a:ext cx="7315200" cy="2438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to insert table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838200" y="3733800"/>
            <a:ext cx="7391400" cy="2209799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sz="1800"/>
            </a:lvl1pPr>
          </a:lstStyle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algn="l">
              <a:defRPr sz="1400">
                <a:latin typeface="Times New Roman"/>
              </a:defRPr>
            </a:lvl1pPr>
          </a:lstStyle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C9,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93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Imag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914400" y="1066800"/>
            <a:ext cx="7315200" cy="25146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insert image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3730079"/>
            <a:ext cx="7391400" cy="457200"/>
          </a:xfrm>
        </p:spPr>
        <p:txBody>
          <a:bodyPr/>
          <a:lstStyle>
            <a:lvl1pPr marL="0" indent="0">
              <a:buNone/>
              <a:defRPr sz="2400" b="1">
                <a:solidFill>
                  <a:srgbClr val="000099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heading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5" hasCustomPrompt="1"/>
          </p:nvPr>
        </p:nvSpPr>
        <p:spPr>
          <a:xfrm>
            <a:off x="914400" y="4267200"/>
            <a:ext cx="7315200" cy="1676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insert image</a:t>
            </a:r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sz="1800"/>
            </a:lvl1pPr>
          </a:lstStyle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algn="l">
              <a:defRPr sz="1400">
                <a:latin typeface="Times New Roman"/>
              </a:defRPr>
            </a:lvl1pPr>
          </a:lstStyle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C9,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81478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Image_Text_Imag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914400" y="1752600"/>
            <a:ext cx="7315200" cy="1524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insert image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3352800"/>
            <a:ext cx="7391400" cy="457200"/>
          </a:xfrm>
        </p:spPr>
        <p:txBody>
          <a:bodyPr/>
          <a:lstStyle>
            <a:lvl1pPr marL="0" indent="0">
              <a:buNone/>
              <a:defRPr sz="2400" b="1">
                <a:solidFill>
                  <a:srgbClr val="000099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heading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5" hasCustomPrompt="1"/>
          </p:nvPr>
        </p:nvSpPr>
        <p:spPr>
          <a:xfrm>
            <a:off x="914400" y="3886200"/>
            <a:ext cx="7315200" cy="1676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insert image</a:t>
            </a:r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sz="1800"/>
            </a:lvl1pPr>
          </a:lstStyle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algn="l">
              <a:defRPr sz="1400">
                <a:latin typeface="Times New Roman"/>
              </a:defRPr>
            </a:lvl1pPr>
          </a:lstStyle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C9,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E3D78B2-A2B3-4F14-970F-D4E0D43533E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2800" y="1062758"/>
            <a:ext cx="7391400" cy="6062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761027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Imag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812800" y="1062758"/>
            <a:ext cx="7391400" cy="2213842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812800" y="3319598"/>
            <a:ext cx="7315200" cy="2438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insert image</a:t>
            </a:r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sz="1800"/>
            </a:lvl1pPr>
          </a:lstStyle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algn="l">
              <a:defRPr sz="1400">
                <a:latin typeface="Times New Roman"/>
              </a:defRPr>
            </a:lvl1pPr>
          </a:lstStyle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C9,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40972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Image_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812800" y="1062758"/>
            <a:ext cx="7391400" cy="1756642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812800" y="2895600"/>
            <a:ext cx="7315200" cy="163340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insert image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6"/>
          </p:nvPr>
        </p:nvSpPr>
        <p:spPr>
          <a:xfrm>
            <a:off x="812800" y="4605202"/>
            <a:ext cx="7391400" cy="1414598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sz="1800"/>
            </a:lvl1pPr>
          </a:lstStyle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algn="l">
              <a:defRPr sz="1400">
                <a:latin typeface="Times New Roman"/>
              </a:defRPr>
            </a:lvl1pPr>
          </a:lstStyle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C9,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2246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Rectangle 1"/>
          <p:cNvSpPr/>
          <p:nvPr/>
        </p:nvSpPr>
        <p:spPr bwMode="auto">
          <a:xfrm>
            <a:off x="0" y="6172200"/>
            <a:ext cx="9144000" cy="685800"/>
          </a:xfrm>
          <a:prstGeom prst="rect">
            <a:avLst/>
          </a:prstGeom>
          <a:solidFill>
            <a:srgbClr val="20396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" name="Date Placeholder 1"/>
          <p:cNvSpPr>
            <a:spLocks noGrp="1"/>
          </p:cNvSpPr>
          <p:nvPr>
            <p:ph type="dt" sz="half" idx="2"/>
          </p:nvPr>
        </p:nvSpPr>
        <p:spPr bwMode="auto">
          <a:xfrm>
            <a:off x="2743200" y="6248400"/>
            <a:ext cx="3657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800" b="1" i="1">
                <a:solidFill>
                  <a:schemeClr val="bg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3"/>
          </p:nvPr>
        </p:nvSpPr>
        <p:spPr bwMode="auto">
          <a:xfrm>
            <a:off x="76200" y="6248400"/>
            <a:ext cx="27432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500">
                <a:solidFill>
                  <a:schemeClr val="bg1"/>
                </a:solidFill>
                <a:latin typeface="Arial Narrow" pitchFamily="34" charset="0"/>
              </a:defRPr>
            </a:lvl1pPr>
          </a:lstStyle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9" name="Slide Number Placeholder 3"/>
          <p:cNvSpPr>
            <a:spLocks noGrp="1"/>
          </p:cNvSpPr>
          <p:nvPr>
            <p:ph type="sldNum" sz="quarter" idx="4"/>
          </p:nvPr>
        </p:nvSpPr>
        <p:spPr bwMode="auto">
          <a:xfrm>
            <a:off x="6629400" y="6248400"/>
            <a:ext cx="19050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900">
                <a:latin typeface="Arial Narrow" pitchFamily="34" charset="0"/>
              </a:defRPr>
            </a:lvl1pPr>
          </a:lstStyle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C9,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830" y="6397412"/>
            <a:ext cx="1228170" cy="23198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85" r:id="rId3"/>
    <p:sldLayoutId id="2147483679" r:id="rId4"/>
    <p:sldLayoutId id="2147483686" r:id="rId5"/>
    <p:sldLayoutId id="2147483688" r:id="rId6"/>
    <p:sldLayoutId id="2147483689" r:id="rId7"/>
    <p:sldLayoutId id="2147483690" r:id="rId8"/>
    <p:sldLayoutId id="2147483680" r:id="rId9"/>
    <p:sldLayoutId id="2147483683" r:id="rId10"/>
    <p:sldLayoutId id="2147483681" r:id="rId11"/>
    <p:sldLayoutId id="2147483674" r:id="rId12"/>
    <p:sldLayoutId id="2147483687" r:id="rId13"/>
    <p:sldLayoutId id="2147483676" r:id="rId14"/>
    <p:sldLayoutId id="2147483691" r:id="rId15"/>
    <p:sldLayoutId id="2147483675" r:id="rId16"/>
    <p:sldLayoutId id="2147483684" r:id="rId17"/>
  </p:sldLayoutIdLst>
  <p:hf hdr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9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1828800" y="2209800"/>
            <a:ext cx="5486400" cy="2971800"/>
          </a:xfrm>
        </p:spPr>
        <p:txBody>
          <a:bodyPr/>
          <a:lstStyle/>
          <a:p>
            <a:r>
              <a:rPr lang="en-US" dirty="0"/>
              <a:t>How to analyze time-series data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743200" y="6248400"/>
            <a:ext cx="4038600" cy="457200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 (2</a:t>
            </a:r>
            <a:r>
              <a:rPr lang="en-US" baseline="30000" dirty="0"/>
              <a:t>nd</a:t>
            </a:r>
            <a:r>
              <a:rPr lang="en-US" dirty="0"/>
              <a:t> Ed)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2024, Mike Murach &amp; Associates,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FC50B9-DF0E-4649-98E3-BC0A95CC2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C9,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1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226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338EE-2B03-43AD-A32E-CBCA466F3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30202D-4017-480F-A3D4-F511DEAF17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0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Applied</a:t>
            </a:r>
          </a:p>
          <a:p>
            <a:pPr marL="342900" marR="2286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Generate date ranges at different time intervals.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2286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Reindex a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DataFrame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with a generated date range.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2286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Downsample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data to a less frequent interval.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2286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Create and plot rolling windows.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0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Knowledge</a:t>
            </a:r>
          </a:p>
          <a:p>
            <a:pPr marL="342900" marR="2286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Explain how reindexing time-series data can improve plots, but also how it can lead to missing values in the data.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2286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Describe how to apply a function to fix missing values in data that’s indexed by dates.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2286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Distinguish between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downsampling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and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upsampling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2286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Explain the use of the label and closed parameters in the resample() method.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0EE5D2-AF37-45DD-95D3-722BA028C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E42832-913D-4A43-9E73-3C3939954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11DFC0-7EE6-4DA6-86D0-03C353928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C9,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2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3045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B558C-D5C8-4B9C-8C05-10592B35C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 (continued)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C38271-41EE-495A-9C0C-20B88937C97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4488" marR="228600" lvl="0" indent="-344488">
              <a:spcBef>
                <a:spcPts val="0"/>
              </a:spcBef>
              <a:spcAft>
                <a:spcPts val="600"/>
              </a:spcAft>
              <a:buFont typeface="+mj-lt"/>
              <a:buAutoNum type="arabicPeriod" startAt="5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Explain how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downsampling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can improve plots.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2286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 startAt="5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Describe the use of running totals.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BC2A29-EE9C-4DB8-BFAA-A1B7B4B73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F87C8A-6ADB-4561-B1B2-6D4362627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925DCD-943B-4E12-84A8-341C7F0FC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C9,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3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92875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DF9D833-DD88-47B8-A469-0BADAB2A1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date_range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 method</a:t>
            </a:r>
            <a:endParaRPr lang="en-US" dirty="0"/>
          </a:p>
        </p:txBody>
      </p:sp>
      <p:graphicFrame>
        <p:nvGraphicFramePr>
          <p:cNvPr id="11" name="Table Placeholder 10">
            <a:extLst>
              <a:ext uri="{FF2B5EF4-FFF2-40B4-BE49-F238E27FC236}">
                <a16:creationId xmlns:a16="http://schemas.microsoft.com/office/drawing/2014/main" id="{EFB0500A-771C-4897-B989-987BEA362FDC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1580911786"/>
              </p:ext>
            </p:extLst>
          </p:nvPr>
        </p:nvGraphicFramePr>
        <p:xfrm>
          <a:off x="914400" y="1078427"/>
          <a:ext cx="7155180" cy="1097280"/>
        </p:xfrm>
        <a:graphic>
          <a:graphicData uri="http://schemas.openxmlformats.org/drawingml/2006/table">
            <a:tbl>
              <a:tblPr firstRow="1"/>
              <a:tblGrid>
                <a:gridCol w="2411730">
                  <a:extLst>
                    <a:ext uri="{9D8B030D-6E8A-4147-A177-3AD203B41FA5}">
                      <a16:colId xmlns:a16="http://schemas.microsoft.com/office/drawing/2014/main" val="2236712519"/>
                    </a:ext>
                  </a:extLst>
                </a:gridCol>
                <a:gridCol w="4743450">
                  <a:extLst>
                    <a:ext uri="{9D8B030D-6E8A-4147-A177-3AD203B41FA5}">
                      <a16:colId xmlns:a16="http://schemas.microsoft.com/office/drawing/2014/main" val="10585678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51443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date_range</a:t>
                      </a: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(params)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Generates a list of datetime periods and returns a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DatetimeIndex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that contains them.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9086421"/>
                  </a:ext>
                </a:extLst>
              </a:tr>
            </a:tbl>
          </a:graphicData>
        </a:graphic>
      </p:graphicFrame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60E8874-3279-4169-A7B1-88E185D4530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38200" y="2286000"/>
            <a:ext cx="7391400" cy="457200"/>
          </a:xfrm>
        </p:spPr>
        <p:txBody>
          <a:bodyPr/>
          <a:lstStyle/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Parameters of the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date_range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 method</a:t>
            </a:r>
            <a:endParaRPr lang="en-US" sz="2400" dirty="0"/>
          </a:p>
        </p:txBody>
      </p:sp>
      <p:graphicFrame>
        <p:nvGraphicFramePr>
          <p:cNvPr id="12" name="Table Placeholder 11">
            <a:extLst>
              <a:ext uri="{FF2B5EF4-FFF2-40B4-BE49-F238E27FC236}">
                <a16:creationId xmlns:a16="http://schemas.microsoft.com/office/drawing/2014/main" id="{31A88536-5AE2-484E-B6E2-8183CAD81304}"/>
              </a:ext>
            </a:extLst>
          </p:cNvPr>
          <p:cNvGraphicFramePr>
            <a:graphicFrameLocks noGrp="1"/>
          </p:cNvGraphicFramePr>
          <p:nvPr>
            <p:ph type="tbl" sz="quarter" idx="14"/>
            <p:extLst>
              <p:ext uri="{D42A27DB-BD31-4B8C-83A1-F6EECF244321}">
                <p14:modId xmlns:p14="http://schemas.microsoft.com/office/powerpoint/2010/main" val="1322859611"/>
              </p:ext>
            </p:extLst>
          </p:nvPr>
        </p:nvGraphicFramePr>
        <p:xfrm>
          <a:off x="914400" y="2776168"/>
          <a:ext cx="7155180" cy="1567232"/>
        </p:xfrm>
        <a:graphic>
          <a:graphicData uri="http://schemas.openxmlformats.org/drawingml/2006/table">
            <a:tbl>
              <a:tblPr firstRow="1"/>
              <a:tblGrid>
                <a:gridCol w="1828800">
                  <a:extLst>
                    <a:ext uri="{9D8B030D-6E8A-4147-A177-3AD203B41FA5}">
                      <a16:colId xmlns:a16="http://schemas.microsoft.com/office/drawing/2014/main" val="1123594973"/>
                    </a:ext>
                  </a:extLst>
                </a:gridCol>
                <a:gridCol w="5326380">
                  <a:extLst>
                    <a:ext uri="{9D8B030D-6E8A-4147-A177-3AD203B41FA5}">
                      <a16:colId xmlns:a16="http://schemas.microsoft.com/office/drawing/2014/main" val="1852707330"/>
                    </a:ext>
                  </a:extLst>
                </a:gridCol>
              </a:tblGrid>
              <a:tr h="377031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</a:t>
                      </a:r>
                    </a:p>
                  </a:txBody>
                  <a:tcPr marL="73152" marR="73152" marT="43504" marB="4350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marL="73152" marR="73152" marT="43504" marB="4350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1030947"/>
                  </a:ext>
                </a:extLst>
              </a:tr>
              <a:tr h="377031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start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 marT="43504" marB="43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The start of the generated datetime values.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 marT="43504" marB="43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4264552"/>
                  </a:ext>
                </a:extLst>
              </a:tr>
              <a:tr h="377031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end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 marT="43504" marB="43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The end of the generated datetime values.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 marT="43504" marB="43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6021913"/>
                  </a:ext>
                </a:extLst>
              </a:tr>
              <a:tr h="377031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freq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 marT="43504" marB="43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The frequency of the generated datetime values.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 marT="43504" marB="43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090893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7E2E6F-51C9-4148-A097-129CD3ACD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464C46-8BD7-4C21-ACCF-5EF77ECF7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769F2F-A475-48CD-91B0-F265EBF9A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C9,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4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51332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06CC97A1-AC55-41B6-A90F-AE303AFFB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Some of the aliases for the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freq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parameter</a:t>
            </a:r>
            <a:endParaRPr lang="en-US" dirty="0"/>
          </a:p>
        </p:txBody>
      </p:sp>
      <p:graphicFrame>
        <p:nvGraphicFramePr>
          <p:cNvPr id="11" name="Table Placeholder 10">
            <a:extLst>
              <a:ext uri="{FF2B5EF4-FFF2-40B4-BE49-F238E27FC236}">
                <a16:creationId xmlns:a16="http://schemas.microsoft.com/office/drawing/2014/main" id="{B008E975-070F-4A11-8256-3B9876D063D2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2239568378"/>
              </p:ext>
            </p:extLst>
          </p:nvPr>
        </p:nvGraphicFramePr>
        <p:xfrm>
          <a:off x="914400" y="1097280"/>
          <a:ext cx="6526530" cy="3779520"/>
        </p:xfrm>
        <a:graphic>
          <a:graphicData uri="http://schemas.openxmlformats.org/drawingml/2006/table">
            <a:tbl>
              <a:tblPr firstRow="1"/>
              <a:tblGrid>
                <a:gridCol w="1040130">
                  <a:extLst>
                    <a:ext uri="{9D8B030D-6E8A-4147-A177-3AD203B41FA5}">
                      <a16:colId xmlns:a16="http://schemas.microsoft.com/office/drawing/2014/main" val="36955959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3265265873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734546494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4025121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Alias</a:t>
                      </a: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Frequency</a:t>
                      </a: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Alias</a:t>
                      </a: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Frequency</a:t>
                      </a: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69123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B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business day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QE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quarter end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11892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D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calendar day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QS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quarter start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85483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W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weekly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YE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year end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85367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ME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month end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YS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year start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22243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SME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semi-month end </a:t>
                      </a:r>
                      <a:b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</a:b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(15th and last day)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h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hourly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80837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MS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month start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min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minutely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13870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SMS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semi-month start </a:t>
                      </a:r>
                      <a:b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</a:b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(1st and 15th)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s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secondly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994273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69DFBF-CAEC-48A5-BBE2-6E3D0FF3D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C85C8B-11ED-4014-B718-96F377684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F10A74-22B7-463E-A259-95A9B7D6B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C9,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5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11224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7D11855-925A-45EF-8B20-A5781CA36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generate a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DatetimeIndex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 the first date of each month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2B721C-1AE8-44F1-B4F9-4AEC8CBC1F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371600"/>
            <a:ext cx="7543800" cy="44958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pd.date_range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('01/01/2020', '12/31/2020',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freq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='MS')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======================================================================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DatetimeIndex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(['2020-01-01', '2020-02-01', '2020-03-01', '2020-04-01',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'2020-05-01', '2020-06-01', '2020-07-01', '2020-08-01',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'2020-09-01', '2020-10-01', '2020-11-01', '2020-12-01'],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dtype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='datetime64[ns]',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freq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='MS')</a:t>
            </a:r>
          </a:p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generate a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DatetimeIndex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 all Monday-Friday dates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pd.date_range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('01/01/2020', '01/31/2020',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freq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='B')</a:t>
            </a:r>
          </a:p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generate a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DatetimeIndex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for all Mondays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pd.date_range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('12/01/2020', '12/31/2020',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freq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='W-MON')</a:t>
            </a:r>
          </a:p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generate a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DatetimeIndex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 every 12 hours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pd.date_range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('01/01/2020', '01/31/2020',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freq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='12h')</a:t>
            </a:r>
          </a:p>
          <a:p>
            <a:endParaRPr lang="en-US" sz="1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3F9D26-568E-43EF-B198-0D867C768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CD9A27-06F8-422A-A95C-23EDC1347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8FC8AA-44BB-4513-A11B-59D9263CD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C9,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6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54562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741D321-C72E-4B48-A354-000314B9C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reindex() method</a:t>
            </a:r>
            <a:endParaRPr lang="en-US" dirty="0"/>
          </a:p>
        </p:txBody>
      </p:sp>
      <p:graphicFrame>
        <p:nvGraphicFramePr>
          <p:cNvPr id="11" name="Table Placeholder 10">
            <a:extLst>
              <a:ext uri="{FF2B5EF4-FFF2-40B4-BE49-F238E27FC236}">
                <a16:creationId xmlns:a16="http://schemas.microsoft.com/office/drawing/2014/main" id="{DC9D035D-6C03-4D86-A5BB-053D8890A9F3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1793058905"/>
              </p:ext>
            </p:extLst>
          </p:nvPr>
        </p:nvGraphicFramePr>
        <p:xfrm>
          <a:off x="914400" y="1112520"/>
          <a:ext cx="6983730" cy="1097280"/>
        </p:xfrm>
        <a:graphic>
          <a:graphicData uri="http://schemas.openxmlformats.org/drawingml/2006/table">
            <a:tbl>
              <a:tblPr firstRow="1"/>
              <a:tblGrid>
                <a:gridCol w="2125980">
                  <a:extLst>
                    <a:ext uri="{9D8B030D-6E8A-4147-A177-3AD203B41FA5}">
                      <a16:colId xmlns:a16="http://schemas.microsoft.com/office/drawing/2014/main" val="2098750914"/>
                    </a:ext>
                  </a:extLst>
                </a:gridCol>
                <a:gridCol w="4857750">
                  <a:extLst>
                    <a:ext uri="{9D8B030D-6E8A-4147-A177-3AD203B41FA5}">
                      <a16:colId xmlns:a16="http://schemas.microsoft.com/office/drawing/2014/main" val="42499724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8002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reindex(params)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Replaces the old index with a new one, keeping the rows where the indexes match.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189773"/>
                  </a:ext>
                </a:extLst>
              </a:tr>
            </a:tbl>
          </a:graphicData>
        </a:graphic>
      </p:graphicFrame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A8AC150-DEF3-4EAF-9AD3-45D840EE2FB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38200" y="2373868"/>
            <a:ext cx="7391400" cy="369332"/>
          </a:xfrm>
        </p:spPr>
        <p:txBody>
          <a:bodyPr/>
          <a:lstStyle/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Parameters of the reindex() method</a:t>
            </a:r>
          </a:p>
          <a:p>
            <a:endParaRPr lang="en-US" sz="2400" dirty="0"/>
          </a:p>
        </p:txBody>
      </p:sp>
      <p:graphicFrame>
        <p:nvGraphicFramePr>
          <p:cNvPr id="12" name="Table Placeholder 11">
            <a:extLst>
              <a:ext uri="{FF2B5EF4-FFF2-40B4-BE49-F238E27FC236}">
                <a16:creationId xmlns:a16="http://schemas.microsoft.com/office/drawing/2014/main" id="{54E82AF0-B50B-4DD0-8235-264A2336A67B}"/>
              </a:ext>
            </a:extLst>
          </p:cNvPr>
          <p:cNvGraphicFramePr>
            <a:graphicFrameLocks noGrp="1"/>
          </p:cNvGraphicFramePr>
          <p:nvPr>
            <p:ph type="tbl" sz="quarter" idx="14"/>
            <p:extLst>
              <p:ext uri="{D42A27DB-BD31-4B8C-83A1-F6EECF244321}">
                <p14:modId xmlns:p14="http://schemas.microsoft.com/office/powerpoint/2010/main" val="372982482"/>
              </p:ext>
            </p:extLst>
          </p:nvPr>
        </p:nvGraphicFramePr>
        <p:xfrm>
          <a:off x="914400" y="2895600"/>
          <a:ext cx="6983730" cy="2194560"/>
        </p:xfrm>
        <a:graphic>
          <a:graphicData uri="http://schemas.openxmlformats.org/drawingml/2006/table">
            <a:tbl>
              <a:tblPr firstRow="1"/>
              <a:tblGrid>
                <a:gridCol w="1666053">
                  <a:extLst>
                    <a:ext uri="{9D8B030D-6E8A-4147-A177-3AD203B41FA5}">
                      <a16:colId xmlns:a16="http://schemas.microsoft.com/office/drawing/2014/main" val="2757125494"/>
                    </a:ext>
                  </a:extLst>
                </a:gridCol>
                <a:gridCol w="5317677">
                  <a:extLst>
                    <a:ext uri="{9D8B030D-6E8A-4147-A177-3AD203B41FA5}">
                      <a16:colId xmlns:a16="http://schemas.microsoft.com/office/drawing/2014/main" val="2432392962"/>
                    </a:ext>
                  </a:extLst>
                </a:gridCol>
              </a:tblGrid>
              <a:tr h="272300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</a:t>
                      </a: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6661234"/>
                  </a:ext>
                </a:extLst>
              </a:tr>
              <a:tr h="27230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index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The new index.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0045232"/>
                  </a:ext>
                </a:extLst>
              </a:tr>
              <a:tr h="481762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fill_value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The value that’s used for missing values in the index. The default is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NaN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.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8494971"/>
                  </a:ext>
                </a:extLst>
              </a:tr>
              <a:tr h="481762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method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 method that determines how gaps in an index with increasing or decreasing values are filled.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281239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E2D11D-FE32-4744-B6FE-CA76F6CB2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D5156D-C5D5-46D8-88B5-6F2D8A9F7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0C87BD-D1FE-47E9-9475-6C4DBA474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C9,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7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0342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8B6465EC-E25E-4A4F-A0F6-94A7FB367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stock market data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DC58E3D-DF59-4CD3-AB07-35F392C004B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stockData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stockData.set_index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('Date')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stockData.head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</a:p>
          <a:p>
            <a:endParaRPr lang="en-US" sz="1600" dirty="0"/>
          </a:p>
        </p:txBody>
      </p:sp>
      <p:pic>
        <p:nvPicPr>
          <p:cNvPr id="12" name="Content Placeholder 11" descr="Refer to page 309 in textbook">
            <a:extLst>
              <a:ext uri="{FF2B5EF4-FFF2-40B4-BE49-F238E27FC236}">
                <a16:creationId xmlns:a16="http://schemas.microsoft.com/office/drawing/2014/main" id="{F55CC165-222D-4EF1-A7DC-773A33A2534B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47900" y="1744973"/>
            <a:ext cx="5076700" cy="1836427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B5206F-2B38-402A-9222-B1A07C59E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0884C2-C72C-4EBE-95FB-D14E24EF3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78C8F3-7415-404A-8FBB-FE83CB393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C9, Slide </a:t>
            </a:r>
            <a:fld id="{BF5C1183-B085-4070-A402-C03A3F977D3D}" type="slidenum">
              <a:rPr lang="en-US" sz="900" smtClean="0">
                <a:solidFill>
                  <a:schemeClr val="bg1"/>
                </a:solidFill>
                <a:latin typeface="Arial Narrow" panose="020B0606020202030204" pitchFamily="34" charset="0"/>
              </a:rPr>
              <a:pPr algn="r">
                <a:defRPr/>
              </a:pPr>
              <a:t>8</a:t>
            </a:fld>
            <a:endParaRPr lang="en-US" sz="9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17413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4AC5853-75F9-48E2-9298-C3CBA09A6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generate a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DataTimeIndex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 all Fridays in a year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F0A1F7-0524-4378-9D6B-A0B87852991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463040"/>
            <a:ext cx="7543800" cy="44958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fridays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pd.date_range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('01/01/2020', '12/31/2020',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freq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='W-FRI')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fridays</a:t>
            </a:r>
            <a:endParaRPr lang="en-US" sz="1400" b="1" dirty="0"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=================================================================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DatetimeIndex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(['2020-01-03', '2020-01-10', '2020-01-17', '2020-01-24',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'2020-01-31', '2020-02-07', '2020-02-14', '2020-02-21',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...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'2020-11-06', '2020-11-13', '2020-11-20', '2020-11-27',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'2020-12-04', '2020-12-11', '2020-12-18', '2020-12-25'],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dtype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='datetime64[ns]',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freq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='W-FRI')</a:t>
            </a:r>
          </a:p>
          <a:p>
            <a:endParaRPr lang="en-US" sz="140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61341A-D236-4605-AB88-D775D1445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A8DFBF-CF32-4DD4-86F3-FDEF29062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F2DD6-3E11-4891-A260-F90B4C4C0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C9,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9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07683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84703D69-90AF-4E7D-8803-FC65392FC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reindex the data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653971E-E3D4-40C9-802A-1AB1E02A2FB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stockData.reindex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fridays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).head(3)</a:t>
            </a:r>
          </a:p>
          <a:p>
            <a:endParaRPr lang="en-US" sz="1600" dirty="0"/>
          </a:p>
        </p:txBody>
      </p:sp>
      <p:pic>
        <p:nvPicPr>
          <p:cNvPr id="11" name="Content Placeholder 10" descr="Refer to page 309 in textbook">
            <a:extLst>
              <a:ext uri="{FF2B5EF4-FFF2-40B4-BE49-F238E27FC236}">
                <a16:creationId xmlns:a16="http://schemas.microsoft.com/office/drawing/2014/main" id="{20530C16-5ADC-457A-827C-8BEEC4D8C8C1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59775" y="1496453"/>
            <a:ext cx="4657200" cy="1475347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8BBF1A-52A4-4CBE-9C99-81132CC2E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9EE88D-3A0F-4D71-B915-B46A72D51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150BD3-9F82-48E5-A4DA-12B62543A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C9,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10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36758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FD08D3B-FCE2-4F9F-9CB4-DC731B8B9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generate all the semi-month dates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a year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A7E55E3-F482-4340-A079-89D41053EC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463040"/>
            <a:ext cx="7543800" cy="44958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semiMonths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pd.date_range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('01/01/2020', '12/31/2020',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freq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='SMS')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semiMonths</a:t>
            </a:r>
            <a:endParaRPr lang="en-US" sz="1400" b="1" dirty="0"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==================================================================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DatetimeIndex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(['2020-01-01', '2020-01-15', '2020-02-01', '2020-02-15',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'2020-03-01', '2020-03-15', '2020-04-01', '2020-04-15',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'2020-05-01', '2020-05-15', '2020-06-01', '2020-06-15',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'2020-07-01', '2020-07-15', '2020-08-01', '2020-08-15',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'2020-09-01', '2020-09-15', '2020-10-01', '2020-10-15',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'2020-11-01', '2020-11-15', '2020-12-01', '2020-12-15'],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dtype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='datetime64[ns]',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freq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='SMS-15')</a:t>
            </a:r>
          </a:p>
          <a:p>
            <a:endParaRPr lang="en-US" sz="140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00B108-D054-4694-BE84-75FDBE473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2F67A6-E445-4714-9DD7-BE817E203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4D4F8D-60F5-4F9B-9B8F-70E0B42F8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C9,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11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29294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10B1DDC-A903-45E0-B410-080455884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reindex the stock data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 the semi-month index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B14CD7D-CB1A-4329-B4D2-4D471F2B6DE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00" y="1215158"/>
            <a:ext cx="7391400" cy="2213842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stockData.reindex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semiMonths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).head()</a:t>
            </a:r>
          </a:p>
          <a:p>
            <a:endParaRPr lang="en-US" sz="1600" dirty="0"/>
          </a:p>
        </p:txBody>
      </p:sp>
      <p:pic>
        <p:nvPicPr>
          <p:cNvPr id="11" name="Content Placeholder 10" descr="Refer to page 311 in textbook">
            <a:extLst>
              <a:ext uri="{FF2B5EF4-FFF2-40B4-BE49-F238E27FC236}">
                <a16:creationId xmlns:a16="http://schemas.microsoft.com/office/drawing/2014/main" id="{D3F67FBA-047F-43F7-9A84-51C64D4D1C3D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59775" y="1609193"/>
            <a:ext cx="4249214" cy="2124607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657E59-CA30-4DF7-BEA3-A9E70CE9F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88F607-4336-4FD3-959C-AEB08BF11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EC6ED7-4A43-40D5-A17B-C7BE0DE0F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C9,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12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31956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78431EC-8E48-47BE-8DB2-F59FC47AC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plot the semi-month data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27A258-64BE-423C-A009-7FF35E43CE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stockData.reindex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semiMonths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).plot()</a:t>
            </a:r>
          </a:p>
          <a:p>
            <a:endParaRPr lang="en-US" sz="1600" dirty="0"/>
          </a:p>
        </p:txBody>
      </p:sp>
      <p:pic>
        <p:nvPicPr>
          <p:cNvPr id="11" name="Content Placeholder 10" descr="Refer to page 311 in textbook">
            <a:extLst>
              <a:ext uri="{FF2B5EF4-FFF2-40B4-BE49-F238E27FC236}">
                <a16:creationId xmlns:a16="http://schemas.microsoft.com/office/drawing/2014/main" id="{CD8CA970-268D-4A45-8FE9-70F27C9AA28D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47900" y="1447799"/>
            <a:ext cx="5152900" cy="3212985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03CC1D-4C54-4206-BA86-5B39D7B7A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B71F59-C874-42FB-BA20-1488AA30D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7E2ABB-3D5F-4BBD-BF32-3B3C5540C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C9,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13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87839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EF9A33F0-6A62-4B75-A504-64949AE20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user-defined function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that converts weekend dates to weekdays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2F276C56-AF7E-4217-9A5D-4C710DF547A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 datetime as dt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 </a:t>
            </a:r>
            <a:r>
              <a:rPr lang="en-US" sz="1600" b="1" dirty="0" err="1"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adjustDate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(date):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if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date.weekday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 &lt; 5: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return date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elif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date.weekday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 == 5: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return date -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dt.timedelta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(days=1)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else: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return date +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dt.timedelta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(days=1)</a:t>
            </a:r>
          </a:p>
          <a:p>
            <a:endParaRPr lang="en-US" sz="160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3EBC5B-3ADE-456D-B870-D99C4276F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ADF535-6497-4F7A-A076-A208D40B9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944960-21E0-41B1-A417-B2542BF81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C9,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14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35725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8608BEF5-3E84-407A-99C0-E1D9A11ED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apply the user-defined function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AF41D9C-3F2E-41A3-9115-DDA231FAA3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semiMonths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pd.date_range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('01/01/2020', '12/31/2020',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freq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='SMS')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semiMonthsAdjusted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semiMonths</a:t>
            </a:r>
            <a:r>
              <a:rPr lang="en-US" sz="1400" b="1" dirty="0" err="1"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.to_series</a:t>
            </a:r>
            <a:r>
              <a:rPr lang="en-US" sz="1400" b="1" dirty="0"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().apply(</a:t>
            </a:r>
            <a:r>
              <a:rPr lang="en-US" sz="1400" b="1" dirty="0" err="1"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adjustDate</a:t>
            </a:r>
            <a:r>
              <a:rPr lang="en-US" sz="1400" b="1" dirty="0"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400" b="1" dirty="0"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semiMonthsAdjusted.head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=============================================================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2020-01-01   2020-01-01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2020-01-15   2020-01-15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2020-02-01   </a:t>
            </a:r>
            <a:r>
              <a:rPr lang="en-US" sz="1400" b="1" dirty="0"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2020-01-31</a:t>
            </a:r>
            <a:endParaRPr lang="en-US" sz="1400" b="1" dirty="0"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2020-02-15   </a:t>
            </a:r>
            <a:r>
              <a:rPr lang="en-US" sz="1400" b="1" dirty="0"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2020-02-14</a:t>
            </a:r>
            <a:endParaRPr lang="en-US" sz="1400" b="1" dirty="0"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2020-03-01   </a:t>
            </a:r>
            <a:r>
              <a:rPr lang="en-US" sz="1400" b="1" dirty="0"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2020-03-02</a:t>
            </a:r>
            <a:endParaRPr lang="en-US" sz="1400" b="1" dirty="0"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62406E-5F5F-4B21-91D7-40DFBF4D3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E56704-5887-4CB8-A344-F18B46993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46DFED-A2FC-477C-951B-EBF3AF089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C9,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15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56367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AC1E8804-A360-4C8C-80B9-A59D5CFDE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reindex on the adjusted dates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69234A3-08BA-4DF4-9026-3434C094CA7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stockData.reindex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semiMonthsAdjusted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).head()</a:t>
            </a:r>
          </a:p>
          <a:p>
            <a:endParaRPr lang="en-US" sz="1600" dirty="0"/>
          </a:p>
        </p:txBody>
      </p:sp>
      <p:pic>
        <p:nvPicPr>
          <p:cNvPr id="11" name="Content Placeholder 10" descr="Refer to page 313 in textbook">
            <a:extLst>
              <a:ext uri="{FF2B5EF4-FFF2-40B4-BE49-F238E27FC236}">
                <a16:creationId xmlns:a16="http://schemas.microsoft.com/office/drawing/2014/main" id="{309311DE-A4BD-4B89-9FD5-ED4B8947747D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59774" y="1459821"/>
            <a:ext cx="5153237" cy="2426379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C5DF44-BDFE-4AE5-8A04-CBEEEE423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349DA1-F1E9-4235-8DB9-E6260A470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2F3374-FB39-41CC-8DE7-CB1D05183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C9,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16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98937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FAC3E08C-3EB8-48E8-8BCD-6BB91450C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semiMonths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data before adjustment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B1D5A48-B819-4374-AB07-E510FDFB82E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stockData.reindex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semiMonths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).head()</a:t>
            </a:r>
          </a:p>
          <a:p>
            <a:endParaRPr lang="en-US" sz="1600" dirty="0"/>
          </a:p>
        </p:txBody>
      </p:sp>
      <p:pic>
        <p:nvPicPr>
          <p:cNvPr id="11" name="Content Placeholder 10" descr="Refer to page 315 in textbook">
            <a:extLst>
              <a:ext uri="{FF2B5EF4-FFF2-40B4-BE49-F238E27FC236}">
                <a16:creationId xmlns:a16="http://schemas.microsoft.com/office/drawing/2014/main" id="{6F08289A-2811-43C6-8C2F-16D5DBA2E1D5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59775" y="1487262"/>
            <a:ext cx="4630294" cy="2322738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F3C4DF-CDA0-4C69-8B5C-9C30F89AB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A8E00A-927A-4595-B270-65A30F625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C3D8D2-B601-4855-BA89-159D02C63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C9,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17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55495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0E06D-CA44-4EBE-8CD5-45D2A5951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semiMonthsAdjusted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data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27727E-00CB-4FC1-8293-E41E29F2FE3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stockData.reindex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semiMonthsAdjusted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).head()</a:t>
            </a:r>
          </a:p>
          <a:p>
            <a:endParaRPr lang="en-US" sz="1600" dirty="0"/>
          </a:p>
        </p:txBody>
      </p:sp>
      <p:pic>
        <p:nvPicPr>
          <p:cNvPr id="8" name="Content Placeholder 7" descr="Refer to page 315 in textbook">
            <a:extLst>
              <a:ext uri="{FF2B5EF4-FFF2-40B4-BE49-F238E27FC236}">
                <a16:creationId xmlns:a16="http://schemas.microsoft.com/office/drawing/2014/main" id="{5A456A65-B2C8-48EF-A90F-4999B34EA357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59775" y="1484207"/>
            <a:ext cx="5082586" cy="2401993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559FB9-AB7C-4D92-8956-81C616E68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E84A5C-A8DC-416D-8E95-8E8EBBA4E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47D72F-4EF0-4921-B036-78EF16434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C9,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18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09407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A4977-F261-48DE-A63C-82A43B8C2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plotted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semiMonthsAdjusted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data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64ED47-888F-4EB2-BCF3-DCC7A70D20F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stockData.reindex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semiMonthsAdjusted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).plot()</a:t>
            </a:r>
          </a:p>
          <a:p>
            <a:endParaRPr lang="en-US" sz="1600" dirty="0"/>
          </a:p>
        </p:txBody>
      </p:sp>
      <p:pic>
        <p:nvPicPr>
          <p:cNvPr id="8" name="Content Placeholder 7" descr="Refer to page 315 in textbook">
            <a:extLst>
              <a:ext uri="{FF2B5EF4-FFF2-40B4-BE49-F238E27FC236}">
                <a16:creationId xmlns:a16="http://schemas.microsoft.com/office/drawing/2014/main" id="{D41F1C78-2165-47C7-90D6-E4ED2A4F1A9E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59774" y="1447800"/>
            <a:ext cx="5616115" cy="3581400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0D6B79-8FD4-4E49-A99C-09F2F4CD1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11F861-5BF9-4BB3-8DD1-FC1C75378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975B6D-80DD-4806-A6E9-A72BBF65A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C9,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19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22718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AEAA851-7B19-45F6-A781-79A49B263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resample() method</a:t>
            </a:r>
            <a:endParaRPr lang="en-US" dirty="0"/>
          </a:p>
        </p:txBody>
      </p:sp>
      <p:graphicFrame>
        <p:nvGraphicFramePr>
          <p:cNvPr id="12" name="Table Placeholder 11">
            <a:extLst>
              <a:ext uri="{FF2B5EF4-FFF2-40B4-BE49-F238E27FC236}">
                <a16:creationId xmlns:a16="http://schemas.microsoft.com/office/drawing/2014/main" id="{41F207D1-B9E0-40FC-87DB-CF01954108F3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744800128"/>
              </p:ext>
            </p:extLst>
          </p:nvPr>
        </p:nvGraphicFramePr>
        <p:xfrm>
          <a:off x="914400" y="1074420"/>
          <a:ext cx="5612130" cy="1097280"/>
        </p:xfrm>
        <a:graphic>
          <a:graphicData uri="http://schemas.openxmlformats.org/drawingml/2006/table">
            <a:tbl>
              <a:tblPr firstRow="1"/>
              <a:tblGrid>
                <a:gridCol w="2183130">
                  <a:extLst>
                    <a:ext uri="{9D8B030D-6E8A-4147-A177-3AD203B41FA5}">
                      <a16:colId xmlns:a16="http://schemas.microsoft.com/office/drawing/2014/main" val="503624467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19445305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23527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resample(params)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Converts time-series data from one frequency to another.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6349408"/>
                  </a:ext>
                </a:extLst>
              </a:tr>
            </a:tbl>
          </a:graphicData>
        </a:graphic>
      </p:graphicFrame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33481D0-4B19-458A-BE20-D064689326E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38200" y="2286000"/>
            <a:ext cx="7391400" cy="457200"/>
          </a:xfrm>
        </p:spPr>
        <p:txBody>
          <a:bodyPr/>
          <a:lstStyle/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One parameter of the resample() method</a:t>
            </a:r>
          </a:p>
          <a:p>
            <a:endParaRPr lang="en-US" sz="2400" dirty="0"/>
          </a:p>
        </p:txBody>
      </p:sp>
      <p:graphicFrame>
        <p:nvGraphicFramePr>
          <p:cNvPr id="13" name="Table Placeholder 12">
            <a:extLst>
              <a:ext uri="{FF2B5EF4-FFF2-40B4-BE49-F238E27FC236}">
                <a16:creationId xmlns:a16="http://schemas.microsoft.com/office/drawing/2014/main" id="{77DD6F28-8160-47CB-9B7A-367A826FDB06}"/>
              </a:ext>
            </a:extLst>
          </p:cNvPr>
          <p:cNvGraphicFramePr>
            <a:graphicFrameLocks noGrp="1"/>
          </p:cNvGraphicFramePr>
          <p:nvPr>
            <p:ph type="tbl" sz="quarter" idx="14"/>
            <p:extLst>
              <p:ext uri="{D42A27DB-BD31-4B8C-83A1-F6EECF244321}">
                <p14:modId xmlns:p14="http://schemas.microsoft.com/office/powerpoint/2010/main" val="2993985408"/>
              </p:ext>
            </p:extLst>
          </p:nvPr>
        </p:nvGraphicFramePr>
        <p:xfrm>
          <a:off x="908462" y="2788920"/>
          <a:ext cx="6412230" cy="1097280"/>
        </p:xfrm>
        <a:graphic>
          <a:graphicData uri="http://schemas.openxmlformats.org/drawingml/2006/table">
            <a:tbl>
              <a:tblPr firstRow="1"/>
              <a:tblGrid>
                <a:gridCol w="1828800">
                  <a:extLst>
                    <a:ext uri="{9D8B030D-6E8A-4147-A177-3AD203B41FA5}">
                      <a16:colId xmlns:a16="http://schemas.microsoft.com/office/drawing/2014/main" val="104492564"/>
                    </a:ext>
                  </a:extLst>
                </a:gridCol>
                <a:gridCol w="4583430">
                  <a:extLst>
                    <a:ext uri="{9D8B030D-6E8A-4147-A177-3AD203B41FA5}">
                      <a16:colId xmlns:a16="http://schemas.microsoft.com/office/drawing/2014/main" val="11563403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</a:t>
                      </a: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09814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rule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The new frequency. Uses the same values as the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freq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parameter in figure 9-1.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786397"/>
                  </a:ext>
                </a:extLst>
              </a:tr>
            </a:tbl>
          </a:graphicData>
        </a:graphic>
      </p:graphicFrame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01491C-B9C9-49FE-B020-164904B08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716139-CCC8-46C5-80F0-5FB67BD20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4E479E-4554-4732-BD0E-872E281D2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C9,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20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30712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56F12D38-7EB5-4FAA-BD7B-89CABA0AF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acresBurned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data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3E2721C-CF6B-4EA0-A538-7A5064C897B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acresBurned.head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</a:p>
          <a:p>
            <a:endParaRPr lang="en-US" sz="1600" dirty="0"/>
          </a:p>
        </p:txBody>
      </p:sp>
      <p:pic>
        <p:nvPicPr>
          <p:cNvPr id="12" name="Content Placeholder 11" descr="Refer to page 317 in textbook">
            <a:extLst>
              <a:ext uri="{FF2B5EF4-FFF2-40B4-BE49-F238E27FC236}">
                <a16:creationId xmlns:a16="http://schemas.microsoft.com/office/drawing/2014/main" id="{960E84BB-5A62-437A-B6B9-42CC0C4EBC94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59774" y="1438503"/>
            <a:ext cx="2743199" cy="1901162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3F8ECA-7495-42D6-A65E-D75883DF9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D43D18-9060-4C7B-BB9E-A0F16A44E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004749-008D-4AF4-8389-03FA62FE2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C9, Slide </a:t>
            </a:r>
            <a:fld id="{BF5C1183-B085-4070-A402-C03A3F977D3D}" type="slidenum">
              <a:rPr lang="en-US" sz="900" smtClean="0">
                <a:solidFill>
                  <a:schemeClr val="bg1"/>
                </a:solidFill>
                <a:latin typeface="Arial Narrow" panose="020B0606020202030204" pitchFamily="34" charset="0"/>
              </a:rPr>
              <a:pPr algn="r">
                <a:defRPr/>
              </a:pPr>
              <a:t>21</a:t>
            </a:fld>
            <a:endParaRPr lang="en-US" sz="9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82274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38D01-9EF9-48F5-BA89-0002837B6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downsample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the data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7A1653-6469-4378-8928-930FF9C1FD4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acresBurned.resample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(rule='ME').sum().head(3)</a:t>
            </a:r>
          </a:p>
          <a:p>
            <a:endParaRPr lang="en-US" sz="1600" dirty="0"/>
          </a:p>
        </p:txBody>
      </p:sp>
      <p:pic>
        <p:nvPicPr>
          <p:cNvPr id="9" name="Content Placeholder 8" descr="Refer to page 317 in textbook">
            <a:extLst>
              <a:ext uri="{FF2B5EF4-FFF2-40B4-BE49-F238E27FC236}">
                <a16:creationId xmlns:a16="http://schemas.microsoft.com/office/drawing/2014/main" id="{DD3052D0-0B3E-4C7B-A5AB-79AACFE2ED30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53466" y="1447799"/>
            <a:ext cx="2678845" cy="1897237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21FFD6-27E6-4393-8006-CA9047F97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E1FFEE-6C8E-4A34-A83F-52CB93936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28ADF2-832F-4284-A5CD-538E1DB1C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C9,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22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44259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178E6-8CBE-4417-B96B-F7797B197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upsample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the data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B6E47F-FFEA-4AF8-948D-14B63497464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acresBurned.resample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(rule='12h').sum().head(4)</a:t>
            </a:r>
          </a:p>
          <a:p>
            <a:endParaRPr lang="en-US" sz="1600" dirty="0"/>
          </a:p>
        </p:txBody>
      </p:sp>
      <p:pic>
        <p:nvPicPr>
          <p:cNvPr id="8" name="Content Placeholder 7" descr="Refer to page 317 in textbook">
            <a:extLst>
              <a:ext uri="{FF2B5EF4-FFF2-40B4-BE49-F238E27FC236}">
                <a16:creationId xmlns:a16="http://schemas.microsoft.com/office/drawing/2014/main" id="{C5B11DA0-E9FB-4A96-AF51-D4E9FCD7B354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63651" y="1447800"/>
            <a:ext cx="3267475" cy="2362200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E096EB-AB0F-4A86-AEB6-14AC8EBD6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2E6EBA-4926-4CE8-9712-F858055E9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AE4212-80DD-462A-814B-0F3DAC07B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C9,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23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02024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F46B692-9FAD-4C11-86FE-E052838C7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label and closed parameters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 the resample() method</a:t>
            </a:r>
            <a:endParaRPr lang="en-US" dirty="0"/>
          </a:p>
        </p:txBody>
      </p:sp>
      <p:graphicFrame>
        <p:nvGraphicFramePr>
          <p:cNvPr id="10" name="Table Placeholder 9">
            <a:extLst>
              <a:ext uri="{FF2B5EF4-FFF2-40B4-BE49-F238E27FC236}">
                <a16:creationId xmlns:a16="http://schemas.microsoft.com/office/drawing/2014/main" id="{0633FE50-DA50-4E55-B3F6-B7088D90634F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3850837130"/>
              </p:ext>
            </p:extLst>
          </p:nvPr>
        </p:nvGraphicFramePr>
        <p:xfrm>
          <a:off x="914400" y="1249680"/>
          <a:ext cx="6926580" cy="1798320"/>
        </p:xfrm>
        <a:graphic>
          <a:graphicData uri="http://schemas.openxmlformats.org/drawingml/2006/table">
            <a:tbl>
              <a:tblPr firstRow="1"/>
              <a:tblGrid>
                <a:gridCol w="1611630">
                  <a:extLst>
                    <a:ext uri="{9D8B030D-6E8A-4147-A177-3AD203B41FA5}">
                      <a16:colId xmlns:a16="http://schemas.microsoft.com/office/drawing/2014/main" val="3000233141"/>
                    </a:ext>
                  </a:extLst>
                </a:gridCol>
                <a:gridCol w="5314950">
                  <a:extLst>
                    <a:ext uri="{9D8B030D-6E8A-4147-A177-3AD203B41FA5}">
                      <a16:colId xmlns:a16="http://schemas.microsoft.com/office/drawing/2014/main" val="613720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</a:t>
                      </a: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63578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label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Which bin edge will be used as the label: right or left. The default depends on the rule parameter.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67166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closed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Which bin edge will be closed: right or left. The closed edge is included in the aggregated data.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3902247"/>
                  </a:ext>
                </a:extLst>
              </a:tr>
            </a:tbl>
          </a:graphicData>
        </a:graphic>
      </p:graphicFrame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C550B5-8322-4E0B-A388-77342D0CB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AC4062-561F-43FC-AB3B-CE69734E3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4CDC96-9B2B-43F3-A78D-07BB19500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C9,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24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56472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23BF8-031C-4D1E-8A52-F921169E0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downsample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with right labels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 a closed right edge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031C1D-D6E8-4BCF-9A59-F28DC1CDF37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00" y="1215158"/>
            <a:ext cx="7391400" cy="2213842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acresBurned.resample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(rule='QE', label='right',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closed='right').sum().head()</a:t>
            </a:r>
          </a:p>
          <a:p>
            <a:endParaRPr lang="en-US" sz="1600" dirty="0"/>
          </a:p>
        </p:txBody>
      </p:sp>
      <p:pic>
        <p:nvPicPr>
          <p:cNvPr id="8" name="Content Placeholder 7" descr="Refer to page 319 in textbook">
            <a:extLst>
              <a:ext uri="{FF2B5EF4-FFF2-40B4-BE49-F238E27FC236}">
                <a16:creationId xmlns:a16="http://schemas.microsoft.com/office/drawing/2014/main" id="{17A573DC-A075-4636-9592-613F879996D7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59775" y="1892337"/>
            <a:ext cx="2855025" cy="2832063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4BBC37-53AB-4CAC-94D4-7D7E504C0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6DA2F4-7EBA-4E39-93A2-F9587E830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534EF8-2C48-4B73-A044-F571D34BD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C9,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25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82300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90136-AD90-4463-BCDC-55222470A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downsample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with left labels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 a closed left edge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105F19-A649-409F-A998-985271D84EB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00" y="1215158"/>
            <a:ext cx="7391400" cy="2213842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acresBurned.resample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(rule='QE', label='left',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closed='left').sum().head()</a:t>
            </a:r>
          </a:p>
          <a:p>
            <a:endParaRPr lang="en-US" sz="1600" dirty="0"/>
          </a:p>
        </p:txBody>
      </p:sp>
      <p:pic>
        <p:nvPicPr>
          <p:cNvPr id="8" name="Content Placeholder 7" descr="Refer to page 319 in textbook">
            <a:extLst>
              <a:ext uri="{FF2B5EF4-FFF2-40B4-BE49-F238E27FC236}">
                <a16:creationId xmlns:a16="http://schemas.microsoft.com/office/drawing/2014/main" id="{8CE40FAB-A93C-4A4C-8934-D8D20E0FBF0C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59774" y="1869375"/>
            <a:ext cx="2855025" cy="2855025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C12AA4-32E4-4A3E-85C3-A7413929A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BE8BBE-C41E-4F78-B030-AFFA28E5B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0F12D5-30D1-481B-8786-1882F36A8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C9,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26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0849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B9070-3DB5-420B-A9A5-E404DD0D7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data before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downsampling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CEE312-654A-4F5E-AA37-F6F9A2A1D99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stockData.head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</a:p>
          <a:p>
            <a:endParaRPr lang="en-US" sz="1600" dirty="0"/>
          </a:p>
        </p:txBody>
      </p:sp>
      <p:pic>
        <p:nvPicPr>
          <p:cNvPr id="8" name="Content Placeholder 7" descr="Refer to page 321 in textbook">
            <a:extLst>
              <a:ext uri="{FF2B5EF4-FFF2-40B4-BE49-F238E27FC236}">
                <a16:creationId xmlns:a16="http://schemas.microsoft.com/office/drawing/2014/main" id="{3F56CDD9-0B8E-4B7F-81CA-AB5AFC31D9BE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59775" y="1447800"/>
            <a:ext cx="5036487" cy="1676400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060B94-BCD3-47DA-B5BA-966C883A5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3C2C34-3A8A-4957-8F1C-5E7E3E8FB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810CF8-4FF6-4B7C-8F3E-B6574E9B1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C9,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27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00699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963B5-CB48-496F-9E2C-339F0B983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line plot before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downsampling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167B44-BE10-4CF8-B774-1F34A3C57F3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stockData.plot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(y='Close')</a:t>
            </a:r>
          </a:p>
          <a:p>
            <a:endParaRPr lang="en-US" sz="1600" dirty="0"/>
          </a:p>
        </p:txBody>
      </p:sp>
      <p:pic>
        <p:nvPicPr>
          <p:cNvPr id="8" name="Content Placeholder 7" descr="Refer to page 321 in textbook">
            <a:extLst>
              <a:ext uri="{FF2B5EF4-FFF2-40B4-BE49-F238E27FC236}">
                <a16:creationId xmlns:a16="http://schemas.microsoft.com/office/drawing/2014/main" id="{C661B22D-F5F2-4199-8884-332007740256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59774" y="1447800"/>
            <a:ext cx="4876047" cy="3352800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65BB73-70D3-4900-9B8C-DB0184870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3E574A-BDA9-4C87-88C8-A54EFC56F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21B8DC-7055-40A9-B90C-380127A50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C9,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28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72584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34DFE-AB46-4C2E-B734-FA97CBC09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line plot after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downsampling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8FF2B5-BBF5-44C0-8440-C917E2F321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stockData.resample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(rule='W').mean().plot(y='Close')</a:t>
            </a:r>
          </a:p>
          <a:p>
            <a:endParaRPr lang="en-US" sz="1600" dirty="0"/>
          </a:p>
        </p:txBody>
      </p:sp>
      <p:pic>
        <p:nvPicPr>
          <p:cNvPr id="8" name="Content Placeholder 7" descr="Refer to page 321 in textbook">
            <a:extLst>
              <a:ext uri="{FF2B5EF4-FFF2-40B4-BE49-F238E27FC236}">
                <a16:creationId xmlns:a16="http://schemas.microsoft.com/office/drawing/2014/main" id="{94D01992-9078-4122-BDDD-4DF6A0BBD14A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59775" y="1447799"/>
            <a:ext cx="5293426" cy="3762521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0831FC-64C0-432D-965C-23F2FFC84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C57E30-34B4-4444-82B3-35F4F8F3B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B3CAD6-1BA1-475F-9ADF-DEA5BECCC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C9,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29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85332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639CC3F-52C8-4FE8-9119-943C4222D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highs and lows for the stock data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without rolling windows</a:t>
            </a:r>
            <a:endParaRPr lang="en-US" dirty="0"/>
          </a:p>
        </p:txBody>
      </p:sp>
      <p:pic>
        <p:nvPicPr>
          <p:cNvPr id="10" name="Content Placeholder 9" descr="Refer to page 323 in textbook">
            <a:extLst>
              <a:ext uri="{FF2B5EF4-FFF2-40B4-BE49-F238E27FC236}">
                <a16:creationId xmlns:a16="http://schemas.microsoft.com/office/drawing/2014/main" id="{6BDE2AA0-F433-4ADB-B9D7-393C4A2BCC8C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19200" y="1295400"/>
            <a:ext cx="4800600" cy="4515274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9E3437-5756-425F-9701-F9C835581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80E7C9-7249-44BD-B3C2-A36E91142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EE0E2B-CF81-43FF-8F75-2940936BD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C9,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30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08525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6D6B5-8A81-4562-B41E-69E2734D5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highs and lows for the stock data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 rolling windows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3A47A4-56EB-4D9E-A5BB-41AD1FF5F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F07407-1FBC-4BDE-BB5E-26547EAD4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CC40BC-71B7-4541-B9D0-0CE8A9A80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C9,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31</a:t>
            </a:fld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8" name="Content Placeholder 7" descr="Refer to page 323 in textbook">
            <a:extLst>
              <a:ext uri="{FF2B5EF4-FFF2-40B4-BE49-F238E27FC236}">
                <a16:creationId xmlns:a16="http://schemas.microsoft.com/office/drawing/2014/main" id="{25DC1A53-1120-414E-9F08-71CAA1A78F7F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920496" y="1376934"/>
            <a:ext cx="7697314" cy="4566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9619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ECF48F3-45DA-438A-85CE-0E3FF6EC1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rolling() method</a:t>
            </a:r>
            <a:endParaRPr lang="en-US" dirty="0"/>
          </a:p>
        </p:txBody>
      </p:sp>
      <p:graphicFrame>
        <p:nvGraphicFramePr>
          <p:cNvPr id="11" name="Table Placeholder 10">
            <a:extLst>
              <a:ext uri="{FF2B5EF4-FFF2-40B4-BE49-F238E27FC236}">
                <a16:creationId xmlns:a16="http://schemas.microsoft.com/office/drawing/2014/main" id="{10F2D542-AF0B-4DDC-88FF-45E0443A3D6B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4157777958"/>
              </p:ext>
            </p:extLst>
          </p:nvPr>
        </p:nvGraphicFramePr>
        <p:xfrm>
          <a:off x="914400" y="1112520"/>
          <a:ext cx="6755130" cy="1097280"/>
        </p:xfrm>
        <a:graphic>
          <a:graphicData uri="http://schemas.openxmlformats.org/drawingml/2006/table">
            <a:tbl>
              <a:tblPr firstRow="1"/>
              <a:tblGrid>
                <a:gridCol w="2068830">
                  <a:extLst>
                    <a:ext uri="{9D8B030D-6E8A-4147-A177-3AD203B41FA5}">
                      <a16:colId xmlns:a16="http://schemas.microsoft.com/office/drawing/2014/main" val="2254619381"/>
                    </a:ext>
                  </a:extLst>
                </a:gridCol>
                <a:gridCol w="4686300">
                  <a:extLst>
                    <a:ext uri="{9D8B030D-6E8A-4147-A177-3AD203B41FA5}">
                      <a16:colId xmlns:a16="http://schemas.microsoft.com/office/drawing/2014/main" val="22413792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8246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rolling(params)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Creates a moving window (bin) that can be used for performing aggregations.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4321177"/>
                  </a:ext>
                </a:extLst>
              </a:tr>
            </a:tbl>
          </a:graphicData>
        </a:graphic>
      </p:graphicFrame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24F5851-802C-48AA-A139-1B284F2ED8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38200" y="2286000"/>
            <a:ext cx="7391400" cy="457200"/>
          </a:xfrm>
        </p:spPr>
        <p:txBody>
          <a:bodyPr/>
          <a:lstStyle/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Parameters of the rolling() method</a:t>
            </a:r>
          </a:p>
          <a:p>
            <a:endParaRPr lang="en-US" sz="2400" dirty="0"/>
          </a:p>
        </p:txBody>
      </p:sp>
      <p:graphicFrame>
        <p:nvGraphicFramePr>
          <p:cNvPr id="12" name="Table Placeholder 11">
            <a:extLst>
              <a:ext uri="{FF2B5EF4-FFF2-40B4-BE49-F238E27FC236}">
                <a16:creationId xmlns:a16="http://schemas.microsoft.com/office/drawing/2014/main" id="{D6D7C345-D649-4C19-A047-2599EDD0C477}"/>
              </a:ext>
            </a:extLst>
          </p:cNvPr>
          <p:cNvGraphicFramePr>
            <a:graphicFrameLocks noGrp="1"/>
          </p:cNvGraphicFramePr>
          <p:nvPr>
            <p:ph type="tbl" sz="quarter" idx="14"/>
            <p:extLst>
              <p:ext uri="{D42A27DB-BD31-4B8C-83A1-F6EECF244321}">
                <p14:modId xmlns:p14="http://schemas.microsoft.com/office/powerpoint/2010/main" val="3625027929"/>
              </p:ext>
            </p:extLst>
          </p:nvPr>
        </p:nvGraphicFramePr>
        <p:xfrm>
          <a:off x="914400" y="2775090"/>
          <a:ext cx="6755130" cy="2103120"/>
        </p:xfrm>
        <a:graphic>
          <a:graphicData uri="http://schemas.openxmlformats.org/drawingml/2006/table">
            <a:tbl>
              <a:tblPr firstRow="1"/>
              <a:tblGrid>
                <a:gridCol w="1783079">
                  <a:extLst>
                    <a:ext uri="{9D8B030D-6E8A-4147-A177-3AD203B41FA5}">
                      <a16:colId xmlns:a16="http://schemas.microsoft.com/office/drawing/2014/main" val="1609132774"/>
                    </a:ext>
                  </a:extLst>
                </a:gridCol>
                <a:gridCol w="4972051">
                  <a:extLst>
                    <a:ext uri="{9D8B030D-6E8A-4147-A177-3AD203B41FA5}">
                      <a16:colId xmlns:a16="http://schemas.microsoft.com/office/drawing/2014/main" val="491722425"/>
                    </a:ext>
                  </a:extLst>
                </a:gridCol>
              </a:tblGrid>
              <a:tr h="284139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</a:t>
                      </a: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3445213"/>
                  </a:ext>
                </a:extLst>
              </a:tr>
              <a:tr h="502708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window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The size in number of rows or columns of the window.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6316477"/>
                  </a:ext>
                </a:extLst>
              </a:tr>
              <a:tr h="721277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min_periods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The minimum number of consecutive values required for a window value. The default is the size of the window.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319172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F5E71-D92D-48E1-8DA0-D51D673C4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FF2338-91DB-44C1-8C7F-78D4CF5D6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8C8C15-089B-46FD-865D-C0056CF44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C9,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32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76602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0DFB60D-3F58-44AA-8014-1889BD87C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use the rolling() method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AFF1212-1929-4FAC-8EFB-A40C26CCA8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df =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stockData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[['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High','Low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']]. \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query('Date &lt;= "01/31/2020"').rolling(window=7).mean()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df.head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(8)</a:t>
            </a:r>
          </a:p>
          <a:p>
            <a:endParaRPr lang="en-US" sz="1600" dirty="0"/>
          </a:p>
        </p:txBody>
      </p:sp>
      <p:pic>
        <p:nvPicPr>
          <p:cNvPr id="12" name="Content Placeholder 11" descr="Refer to page 325 in textbook">
            <a:extLst>
              <a:ext uri="{FF2B5EF4-FFF2-40B4-BE49-F238E27FC236}">
                <a16:creationId xmlns:a16="http://schemas.microsoft.com/office/drawing/2014/main" id="{FB1998CD-2FDE-4CC9-B60F-A71FB3409134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54621" y="1956288"/>
            <a:ext cx="2981047" cy="3758712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852947-B488-4626-96BD-91A9B650A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D91859-81D0-4C02-9A61-5DA45D4A5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E29371-E44F-4DAB-B5C9-8E49C202D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C9, Slide </a:t>
            </a:r>
            <a:fld id="{BF5C1183-B085-4070-A402-C03A3F977D3D}" type="slidenum">
              <a:rPr lang="en-US" sz="900" smtClean="0">
                <a:solidFill>
                  <a:schemeClr val="bg1"/>
                </a:solidFill>
                <a:latin typeface="Arial Narrow" panose="020B0606020202030204" pitchFamily="34" charset="0"/>
              </a:rPr>
              <a:pPr algn="r">
                <a:defRPr/>
              </a:pPr>
              <a:t>33</a:t>
            </a:fld>
            <a:endParaRPr lang="en-US" sz="9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165532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6DDE4-814B-45F9-A5B2-635612D6A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Another example of the rolling() method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3609BB-78A5-49F9-B658-461A422A9B2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df =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stockData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[['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High','Low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']]. \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query('Date &lt;= "01/31/2020"').rolling(window=7,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min_periods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=1).mean()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df.head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(8)</a:t>
            </a:r>
          </a:p>
          <a:p>
            <a:endParaRPr lang="en-US" sz="1600" dirty="0"/>
          </a:p>
        </p:txBody>
      </p:sp>
      <p:pic>
        <p:nvPicPr>
          <p:cNvPr id="8" name="Content Placeholder 7" descr="Refer to page 325 in textbook">
            <a:extLst>
              <a:ext uri="{FF2B5EF4-FFF2-40B4-BE49-F238E27FC236}">
                <a16:creationId xmlns:a16="http://schemas.microsoft.com/office/drawing/2014/main" id="{4EE51739-F374-4F8E-BEDA-3FD932F3CF5D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59774" y="2209799"/>
            <a:ext cx="2855026" cy="3621846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E58064-312E-4D1D-B254-6DD484C4E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149DC3-A9AC-4270-9C4D-4495B1C25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5BBEAA-6A65-4606-AA13-23F8DF94C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C9,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34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353539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A207035-3B42-470C-ABFF-FA65C5956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plot rolling windows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A99E08A-DD78-4C5A-B803-19D4E3F57F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df =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stockData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[['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High','Low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']]. \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query('Date &lt;= "01/31/2020"').rolling(window=7).mean()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 =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sns.relplot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(data=df, kind='line', markers=True)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 ax in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g.axes.flat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ax.tick_params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('x',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labelrotation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=90)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ax.set_xticks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pd.date_range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(start='01/10/2020', end='01/31/2020',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freq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='B'))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ax.set_xticklabels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pd.date_range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(start='01/10/2020',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end='01/31/2020',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freq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='B').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strftime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('%Y-%m-%d'))</a:t>
            </a:r>
          </a:p>
          <a:p>
            <a:endParaRPr lang="en-US" sz="140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44CA82-DE17-45B1-9B34-3CF09350D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DABD6D-5B0C-43C4-A791-9C5D27975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101D73-E9B1-4068-9A6F-C18BEFCC5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C9,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35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65621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50AF3AB-C866-4128-A864-70986490F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plot rolling windows (continued)</a:t>
            </a:r>
            <a:endParaRPr lang="en-US" dirty="0"/>
          </a:p>
        </p:txBody>
      </p:sp>
      <p:pic>
        <p:nvPicPr>
          <p:cNvPr id="9" name="Content Placeholder 8" descr="Refer to page 327 in textbook">
            <a:extLst>
              <a:ext uri="{FF2B5EF4-FFF2-40B4-BE49-F238E27FC236}">
                <a16:creationId xmlns:a16="http://schemas.microsoft.com/office/drawing/2014/main" id="{693BF321-580A-49A7-BD66-65B7E2017AB1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95399" y="1115367"/>
            <a:ext cx="4670641" cy="4752033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749D07-1020-437F-8F34-BFA4BE1AE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A5502A-F089-420C-AE4A-BDAAF846F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87C4B8-2BAA-4AE0-A8D9-FCC1A496D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C9,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36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75289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2C7EF0F-3859-4E9C-AAA7-17600DD2B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expanding() method</a:t>
            </a:r>
          </a:p>
        </p:txBody>
      </p:sp>
      <p:graphicFrame>
        <p:nvGraphicFramePr>
          <p:cNvPr id="11" name="Table Placeholder 10">
            <a:extLst>
              <a:ext uri="{FF2B5EF4-FFF2-40B4-BE49-F238E27FC236}">
                <a16:creationId xmlns:a16="http://schemas.microsoft.com/office/drawing/2014/main" id="{B4CA3561-E2ED-42E6-BD95-DE3D576E37EB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2593480679"/>
              </p:ext>
            </p:extLst>
          </p:nvPr>
        </p:nvGraphicFramePr>
        <p:xfrm>
          <a:off x="914400" y="1116980"/>
          <a:ext cx="7315200" cy="1092820"/>
        </p:xfrm>
        <a:graphic>
          <a:graphicData uri="http://schemas.openxmlformats.org/drawingml/2006/table">
            <a:tbl>
              <a:tblPr firstRow="1"/>
              <a:tblGrid>
                <a:gridCol w="2185639">
                  <a:extLst>
                    <a:ext uri="{9D8B030D-6E8A-4147-A177-3AD203B41FA5}">
                      <a16:colId xmlns:a16="http://schemas.microsoft.com/office/drawing/2014/main" val="4043335814"/>
                    </a:ext>
                  </a:extLst>
                </a:gridCol>
                <a:gridCol w="5129561">
                  <a:extLst>
                    <a:ext uri="{9D8B030D-6E8A-4147-A177-3AD203B41FA5}">
                      <a16:colId xmlns:a16="http://schemas.microsoft.com/office/drawing/2014/main" val="632341290"/>
                    </a:ext>
                  </a:extLst>
                </a:gridCol>
              </a:tblGrid>
              <a:tr h="386576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</a:p>
                  </a:txBody>
                  <a:tcPr marL="66907" marR="66907" marT="44605" marB="4460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marL="66907" marR="66907" marT="44605" marB="4460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8391372"/>
                  </a:ext>
                </a:extLst>
              </a:tr>
              <a:tr h="386576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expanding(params)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6907" marR="66907" marT="44605" marB="4460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Creates a running aggregation for the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DataFrame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.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6907" marR="66907" marT="44605" marB="4460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960386"/>
                  </a:ext>
                </a:extLst>
              </a:tr>
            </a:tbl>
          </a:graphicData>
        </a:graphic>
      </p:graphicFrame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19BA993-1351-42AD-856A-2E0AF1647D9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38200" y="2362200"/>
            <a:ext cx="7391400" cy="457200"/>
          </a:xfrm>
        </p:spPr>
        <p:txBody>
          <a:bodyPr/>
          <a:lstStyle/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parameter of the expanding() method</a:t>
            </a:r>
          </a:p>
          <a:p>
            <a:endParaRPr lang="en-US" sz="2400" dirty="0"/>
          </a:p>
        </p:txBody>
      </p:sp>
      <p:graphicFrame>
        <p:nvGraphicFramePr>
          <p:cNvPr id="12" name="Table Placeholder 11">
            <a:extLst>
              <a:ext uri="{FF2B5EF4-FFF2-40B4-BE49-F238E27FC236}">
                <a16:creationId xmlns:a16="http://schemas.microsoft.com/office/drawing/2014/main" id="{3350E67E-42EA-43F3-BD25-CCE37A2ABEBF}"/>
              </a:ext>
            </a:extLst>
          </p:cNvPr>
          <p:cNvGraphicFramePr>
            <a:graphicFrameLocks noGrp="1"/>
          </p:cNvGraphicFramePr>
          <p:nvPr>
            <p:ph type="tbl" sz="quarter" idx="14"/>
            <p:extLst>
              <p:ext uri="{D42A27DB-BD31-4B8C-83A1-F6EECF244321}">
                <p14:modId xmlns:p14="http://schemas.microsoft.com/office/powerpoint/2010/main" val="4116075328"/>
              </p:ext>
            </p:extLst>
          </p:nvPr>
        </p:nvGraphicFramePr>
        <p:xfrm>
          <a:off x="914400" y="2865120"/>
          <a:ext cx="6406515" cy="1097280"/>
        </p:xfrm>
        <a:graphic>
          <a:graphicData uri="http://schemas.openxmlformats.org/drawingml/2006/table">
            <a:tbl>
              <a:tblPr firstRow="1"/>
              <a:tblGrid>
                <a:gridCol w="2011193">
                  <a:extLst>
                    <a:ext uri="{9D8B030D-6E8A-4147-A177-3AD203B41FA5}">
                      <a16:colId xmlns:a16="http://schemas.microsoft.com/office/drawing/2014/main" val="1302143569"/>
                    </a:ext>
                  </a:extLst>
                </a:gridCol>
                <a:gridCol w="4395322">
                  <a:extLst>
                    <a:ext uri="{9D8B030D-6E8A-4147-A177-3AD203B41FA5}">
                      <a16:colId xmlns:a16="http://schemas.microsoft.com/office/drawing/2014/main" val="20102971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</a:t>
                      </a: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29275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min_periods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Minimum number of observations required to have a value.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6843759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BAF7DF-E2FB-45C4-A919-DB753F5C5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EDC80F-1E70-4A38-AE1B-E2AF79D1E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FC72BE-F793-4CF9-A2E0-FC44C2AC2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C9,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37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255935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86B8EB39-9335-4C5D-849D-9F64E039F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acresBurned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AA2F4DE-FCD1-418E-AB3D-FA2A979215A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acresBurned.head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endParaRPr lang="en-US" sz="1600" dirty="0"/>
          </a:p>
        </p:txBody>
      </p:sp>
      <p:pic>
        <p:nvPicPr>
          <p:cNvPr id="12" name="Content Placeholder 11" descr="Refer to page 329 in textbook">
            <a:extLst>
              <a:ext uri="{FF2B5EF4-FFF2-40B4-BE49-F238E27FC236}">
                <a16:creationId xmlns:a16="http://schemas.microsoft.com/office/drawing/2014/main" id="{0DE4F0A5-A000-4B70-A1ED-4FACF99173CE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59774" y="1440550"/>
            <a:ext cx="2397825" cy="252185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BCC842-C1B5-427D-9B4B-401DA6B0A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0A4442-8347-4D97-B1B2-51626EF87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A47A8A-F22A-4150-83E4-112A90438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C9, Slide </a:t>
            </a:r>
            <a:fld id="{BF5C1183-B085-4070-A402-C03A3F977D3D}" type="slidenum">
              <a:rPr lang="en-US" sz="900" smtClean="0">
                <a:solidFill>
                  <a:schemeClr val="bg1"/>
                </a:solidFill>
                <a:latin typeface="Arial Narrow" panose="020B0606020202030204" pitchFamily="34" charset="0"/>
              </a:rPr>
              <a:pPr algn="r">
                <a:defRPr/>
              </a:pPr>
              <a:t>38</a:t>
            </a:fld>
            <a:endParaRPr lang="en-US" sz="9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979092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B1FF9-2041-4548-A82F-CE4B15C3F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use the expanding() method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4A4339-A8EF-44AA-A4CC-7E894D77930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acresBurned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running_total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'] =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acresBurned.expanding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().sum()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acresBurned.head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endParaRPr lang="en-US" sz="1600" dirty="0"/>
          </a:p>
        </p:txBody>
      </p:sp>
      <p:pic>
        <p:nvPicPr>
          <p:cNvPr id="8" name="Content Placeholder 7" descr="Refer to page 329 in textbook">
            <a:extLst>
              <a:ext uri="{FF2B5EF4-FFF2-40B4-BE49-F238E27FC236}">
                <a16:creationId xmlns:a16="http://schemas.microsoft.com/office/drawing/2014/main" id="{06AC55EC-3C17-487C-8131-CF08F78234EB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59775" y="1752600"/>
            <a:ext cx="3969885" cy="2819400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871DB9-576D-453E-A891-5A41DDC9C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09F180-F1B9-4AB3-A8D7-2CB2169AB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137BC-18BF-4664-9479-9AA74310D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C9,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39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901810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F1EE4-45FE-4213-A4D0-AB768C2D7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acresBurned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data for the first 10 days of 1992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6E1A9D-C744-41F6-B1AF-D7DAF3CB991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acresBurned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acresBurned.reset_index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acresBurned.head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</a:p>
          <a:p>
            <a:endParaRPr lang="en-US" sz="1600" dirty="0"/>
          </a:p>
        </p:txBody>
      </p:sp>
      <p:pic>
        <p:nvPicPr>
          <p:cNvPr id="8" name="Content Placeholder 7" descr="Refer to page 331 in textbook">
            <a:extLst>
              <a:ext uri="{FF2B5EF4-FFF2-40B4-BE49-F238E27FC236}">
                <a16:creationId xmlns:a16="http://schemas.microsoft.com/office/drawing/2014/main" id="{2B2405B4-CFA2-426E-8D9E-2F808BE1E588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59774" y="1743330"/>
            <a:ext cx="4491701" cy="1609470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CE329D-1640-4B45-8BB2-6E982F818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4E9E27-1C9C-4DAA-AAF5-F61066C3B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52460E-6C60-4CA3-93DD-EE6FBBFCD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C9,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40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124222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1A59D-74B2-49A6-9965-B840D3A13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prepared data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DF1E87-D109-41F8-943C-9A5B61627B2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acresMelted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pd.melt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acresBurned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id_vars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discovery_date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 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value_vars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=['acres_burned','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running_total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'],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var_name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value_type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')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acresMelted.head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</a:p>
          <a:p>
            <a:endParaRPr lang="en-US" sz="1600" dirty="0"/>
          </a:p>
        </p:txBody>
      </p:sp>
      <p:pic>
        <p:nvPicPr>
          <p:cNvPr id="8" name="Content Placeholder 7" descr="Refer to page 331 in textbook">
            <a:extLst>
              <a:ext uri="{FF2B5EF4-FFF2-40B4-BE49-F238E27FC236}">
                <a16:creationId xmlns:a16="http://schemas.microsoft.com/office/drawing/2014/main" id="{088FA893-E764-4C57-A005-2194382D26B8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59775" y="2227957"/>
            <a:ext cx="3998025" cy="1634955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9D0D72-7D08-4A87-94E4-2478A1DBB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B1D7F6-0FE8-43EF-BC3A-6407F7397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B482F9-E6A5-4A54-B97E-ABD5F1EF0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C9,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41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410419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6CAA7-27CF-4E08-9A99-87603E6DF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plot the running totals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C0FA5E-C6FF-4B4D-81F2-79D9FF3652E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 =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sns.catplot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(data=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acresMelted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kind='bar', 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x='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discovery_date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 y='value', hue='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value_type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 aspect=1.5)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 ax in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g.axes.flat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ax.tick_params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('x',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labelrotation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=90)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  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ax.set_xticks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      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acresMelted.discovery_date.drop_duplicates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().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astype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(str))</a:t>
            </a:r>
            <a:endParaRPr lang="en-US" sz="1400" b="1" dirty="0"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ax.set_xticklabels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acresMelted.discovery_date.drop_duplicates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().</a:t>
            </a:r>
            <a:r>
              <a:rPr lang="en-US" sz="14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astype</a:t>
            </a: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(str))</a:t>
            </a:r>
          </a:p>
          <a:p>
            <a:endParaRPr lang="en-US" sz="140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4149DC-42D1-4722-9867-BE4CD65B5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EEF2C4-2958-4304-8208-C7567DC14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470121-4805-43BC-84B3-930EE87EE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C9,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42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141236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987F3-2412-45E8-A893-DD7CCD8C2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plot the running totals (continued)</a:t>
            </a:r>
            <a:endParaRPr lang="en-US" dirty="0"/>
          </a:p>
        </p:txBody>
      </p:sp>
      <p:pic>
        <p:nvPicPr>
          <p:cNvPr id="7" name="Content Placeholder 6" descr="Refer to page 331 in textbook">
            <a:extLst>
              <a:ext uri="{FF2B5EF4-FFF2-40B4-BE49-F238E27FC236}">
                <a16:creationId xmlns:a16="http://schemas.microsoft.com/office/drawing/2014/main" id="{F002A234-23F6-4E37-AC3F-1A62A3BD38F9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914400" y="1143000"/>
            <a:ext cx="6929120" cy="47244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4D20E-6D9A-4301-8724-B69F545AC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Science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A71D18-0F95-4A89-8323-39649F9DC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1E882D-91A6-4C42-8FEF-3C08F7626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C9,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43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0951495"/>
      </p:ext>
    </p:extLst>
  </p:cSld>
  <p:clrMapOvr>
    <a:masterClrMapping/>
  </p:clrMapOvr>
</p:sld>
</file>

<file path=ppt/theme/theme1.xml><?xml version="1.0" encoding="utf-8"?>
<a:theme xmlns:a="http://schemas.openxmlformats.org/drawingml/2006/main" name="Master slides_with_titles_logo">
  <a:themeElements>
    <a:clrScheme name="Master slides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Master slid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aster slides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MMA accessible slides.potx" id="{611E833D-05D0-4A5D-A09D-85733BEA6AAA}" vid="{7CAD4F6C-8ECE-45F7-A39E-93FAD23107B7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MMA accessible slides</Template>
  <TotalTime>3981</TotalTime>
  <Words>2526</Words>
  <Application>Microsoft Office PowerPoint</Application>
  <PresentationFormat>On-screen Show (4:3)</PresentationFormat>
  <Paragraphs>422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8" baseType="lpstr">
      <vt:lpstr>Arial</vt:lpstr>
      <vt:lpstr>Arial Narrow</vt:lpstr>
      <vt:lpstr>Consolas</vt:lpstr>
      <vt:lpstr>Times New Roman</vt:lpstr>
      <vt:lpstr>Master slides_with_titles_logo</vt:lpstr>
      <vt:lpstr>Chapter 9</vt:lpstr>
      <vt:lpstr>Objectives</vt:lpstr>
      <vt:lpstr>Objectives (continued)</vt:lpstr>
      <vt:lpstr>The date_range() method</vt:lpstr>
      <vt:lpstr>Some of the aliases for the freq parameter</vt:lpstr>
      <vt:lpstr>How to generate a DatetimeIndex  for the first date of each month</vt:lpstr>
      <vt:lpstr>The reindex() method</vt:lpstr>
      <vt:lpstr>The stock market data</vt:lpstr>
      <vt:lpstr>How to generate a DataTimeIndex  for all Fridays in a year</vt:lpstr>
      <vt:lpstr>How to reindex the data</vt:lpstr>
      <vt:lpstr>How to generate all the semi-month dates  in a year</vt:lpstr>
      <vt:lpstr>How to reindex the stock data  with the semi-month index</vt:lpstr>
      <vt:lpstr>How to plot the semi-month data</vt:lpstr>
      <vt:lpstr>A user-defined function  that converts weekend dates to weekdays</vt:lpstr>
      <vt:lpstr>How to apply the user-defined function</vt:lpstr>
      <vt:lpstr>How to reindex on the adjusted dates</vt:lpstr>
      <vt:lpstr>The semiMonths data before adjustment</vt:lpstr>
      <vt:lpstr>The semiMonthsAdjusted data</vt:lpstr>
      <vt:lpstr>The plotted semiMonthsAdjusted data</vt:lpstr>
      <vt:lpstr>The resample() method</vt:lpstr>
      <vt:lpstr>The acresBurned data</vt:lpstr>
      <vt:lpstr>How to downsample the data</vt:lpstr>
      <vt:lpstr>How to upsample the data</vt:lpstr>
      <vt:lpstr>The label and closed parameters  of the resample() method</vt:lpstr>
      <vt:lpstr>How to downsample with right labels  and a closed right edge</vt:lpstr>
      <vt:lpstr>How to downsample with left labels  and a closed left edge</vt:lpstr>
      <vt:lpstr>The data before downsampling</vt:lpstr>
      <vt:lpstr>A line plot before downsampling</vt:lpstr>
      <vt:lpstr>A line plot after downsampling</vt:lpstr>
      <vt:lpstr>The highs and lows for the stock data  without rolling windows</vt:lpstr>
      <vt:lpstr>The highs and lows for the stock data  with rolling windows</vt:lpstr>
      <vt:lpstr>The rolling() method</vt:lpstr>
      <vt:lpstr>How to use the rolling() method</vt:lpstr>
      <vt:lpstr>Another example of the rolling() method</vt:lpstr>
      <vt:lpstr>How to plot rolling windows</vt:lpstr>
      <vt:lpstr>How to plot rolling windows (continued)</vt:lpstr>
      <vt:lpstr>The expanding() method</vt:lpstr>
      <vt:lpstr>The acresBurned DataFrame</vt:lpstr>
      <vt:lpstr>How to use the expanding() method</vt:lpstr>
      <vt:lpstr>The acresBurned data for the first 10 days of 1992</vt:lpstr>
      <vt:lpstr>The prepared data</vt:lpstr>
      <vt:lpstr>How to plot the running totals</vt:lpstr>
      <vt:lpstr>How to plot the running totals (continued)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Bethany Cabrera</dc:creator>
  <cp:lastModifiedBy>Joel Murach</cp:lastModifiedBy>
  <cp:revision>111</cp:revision>
  <cp:lastPrinted>2016-01-14T23:03:16Z</cp:lastPrinted>
  <dcterms:created xsi:type="dcterms:W3CDTF">2021-06-22T20:59:38Z</dcterms:created>
  <dcterms:modified xsi:type="dcterms:W3CDTF">2024-04-15T20:46:18Z</dcterms:modified>
</cp:coreProperties>
</file>