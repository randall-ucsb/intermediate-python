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6">
  <p:sldMasterIdLst>
    <p:sldMasterId id="2147483669" r:id="rId1"/>
  </p:sldMasterIdLst>
  <p:notesMasterIdLst>
    <p:notesMasterId r:id="rId43"/>
  </p:notesMasterIdLst>
  <p:handoutMasterIdLst>
    <p:handoutMasterId r:id="rId44"/>
  </p:handoutMasterIdLst>
  <p:sldIdLst>
    <p:sldId id="256" r:id="rId2"/>
    <p:sldId id="257" r:id="rId3"/>
    <p:sldId id="328" r:id="rId4"/>
    <p:sldId id="258" r:id="rId5"/>
    <p:sldId id="259" r:id="rId6"/>
    <p:sldId id="260" r:id="rId7"/>
    <p:sldId id="261" r:id="rId8"/>
    <p:sldId id="262" r:id="rId9"/>
    <p:sldId id="263"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2" r:id="rId27"/>
    <p:sldId id="313" r:id="rId28"/>
    <p:sldId id="314" r:id="rId29"/>
    <p:sldId id="315" r:id="rId30"/>
    <p:sldId id="316" r:id="rId31"/>
    <p:sldId id="317" r:id="rId32"/>
    <p:sldId id="318" r:id="rId33"/>
    <p:sldId id="319" r:id="rId34"/>
    <p:sldId id="320" r:id="rId35"/>
    <p:sldId id="321" r:id="rId36"/>
    <p:sldId id="322" r:id="rId37"/>
    <p:sldId id="323" r:id="rId38"/>
    <p:sldId id="324" r:id="rId39"/>
    <p:sldId id="325" r:id="rId40"/>
    <p:sldId id="326" r:id="rId41"/>
    <p:sldId id="327" r:id="rId42"/>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a:ea typeface="+mn-ea"/>
        <a:cs typeface="+mn-cs"/>
      </a:defRPr>
    </a:lvl1pPr>
    <a:lvl2pPr marL="457200" algn="l" rtl="0" eaLnBrk="0" fontAlgn="base" hangingPunct="0">
      <a:spcBef>
        <a:spcPct val="0"/>
      </a:spcBef>
      <a:spcAft>
        <a:spcPct val="0"/>
      </a:spcAft>
      <a:defRPr sz="2400" kern="1200">
        <a:solidFill>
          <a:schemeClr val="tx1"/>
        </a:solidFill>
        <a:latin typeface="Times New Roman"/>
        <a:ea typeface="+mn-ea"/>
        <a:cs typeface="+mn-cs"/>
      </a:defRPr>
    </a:lvl2pPr>
    <a:lvl3pPr marL="914400" algn="l" rtl="0" eaLnBrk="0" fontAlgn="base" hangingPunct="0">
      <a:spcBef>
        <a:spcPct val="0"/>
      </a:spcBef>
      <a:spcAft>
        <a:spcPct val="0"/>
      </a:spcAft>
      <a:defRPr sz="2400" kern="1200">
        <a:solidFill>
          <a:schemeClr val="tx1"/>
        </a:solidFill>
        <a:latin typeface="Times New Roman"/>
        <a:ea typeface="+mn-ea"/>
        <a:cs typeface="+mn-cs"/>
      </a:defRPr>
    </a:lvl3pPr>
    <a:lvl4pPr marL="1371600" algn="l" rtl="0" eaLnBrk="0" fontAlgn="base" hangingPunct="0">
      <a:spcBef>
        <a:spcPct val="0"/>
      </a:spcBef>
      <a:spcAft>
        <a:spcPct val="0"/>
      </a:spcAft>
      <a:defRPr sz="2400" kern="1200">
        <a:solidFill>
          <a:schemeClr val="tx1"/>
        </a:solidFill>
        <a:latin typeface="Times New Roman"/>
        <a:ea typeface="+mn-ea"/>
        <a:cs typeface="+mn-cs"/>
      </a:defRPr>
    </a:lvl4pPr>
    <a:lvl5pPr marL="1828800" algn="l" rtl="0" eaLnBrk="0" fontAlgn="base" hangingPunct="0">
      <a:spcBef>
        <a:spcPct val="0"/>
      </a:spcBef>
      <a:spcAft>
        <a:spcPct val="0"/>
      </a:spcAft>
      <a:defRPr sz="2400" kern="1200">
        <a:solidFill>
          <a:schemeClr val="tx1"/>
        </a:solidFill>
        <a:latin typeface="Times New Roman"/>
        <a:ea typeface="+mn-ea"/>
        <a:cs typeface="+mn-cs"/>
      </a:defRPr>
    </a:lvl5pPr>
    <a:lvl6pPr marL="2286000" algn="l" defTabSz="914400" rtl="0" eaLnBrk="1" latinLnBrk="0" hangingPunct="1">
      <a:defRPr sz="2400" kern="1200">
        <a:solidFill>
          <a:schemeClr val="tx1"/>
        </a:solidFill>
        <a:latin typeface="Times New Roman"/>
        <a:ea typeface="+mn-ea"/>
        <a:cs typeface="+mn-cs"/>
      </a:defRPr>
    </a:lvl6pPr>
    <a:lvl7pPr marL="2743200" algn="l" defTabSz="914400" rtl="0" eaLnBrk="1" latinLnBrk="0" hangingPunct="1">
      <a:defRPr sz="2400" kern="1200">
        <a:solidFill>
          <a:schemeClr val="tx1"/>
        </a:solidFill>
        <a:latin typeface="Times New Roman"/>
        <a:ea typeface="+mn-ea"/>
        <a:cs typeface="+mn-cs"/>
      </a:defRPr>
    </a:lvl7pPr>
    <a:lvl8pPr marL="3200400" algn="l" defTabSz="914400" rtl="0" eaLnBrk="1" latinLnBrk="0" hangingPunct="1">
      <a:defRPr sz="2400" kern="1200">
        <a:solidFill>
          <a:schemeClr val="tx1"/>
        </a:solidFill>
        <a:latin typeface="Times New Roman"/>
        <a:ea typeface="+mn-ea"/>
        <a:cs typeface="+mn-cs"/>
      </a:defRPr>
    </a:lvl8pPr>
    <a:lvl9pPr marL="3657600" algn="l" defTabSz="914400" rtl="0" eaLnBrk="1" latinLnBrk="0" hangingPunct="1">
      <a:defRPr sz="2400" kern="1200">
        <a:solidFill>
          <a:schemeClr val="tx1"/>
        </a:solidFill>
        <a:latin typeface="Times New Roman"/>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20396D"/>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414" autoAdjust="0"/>
  </p:normalViewPr>
  <p:slideViewPr>
    <p:cSldViewPr>
      <p:cViewPr>
        <p:scale>
          <a:sx n="180" d="100"/>
          <a:sy n="180" d="100"/>
        </p:scale>
        <p:origin x="132" y="-39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lvl1pPr>
          </a:lstStyle>
          <a:p>
            <a:pPr>
              <a:defRPr/>
            </a:pPr>
            <a:endParaRPr lang="en-US"/>
          </a:p>
        </p:txBody>
      </p:sp>
      <p:sp>
        <p:nvSpPr>
          <p:cNvPr id="27651" name="Rectangle 3"/>
          <p:cNvSpPr>
            <a:spLocks noGrp="1" noChangeArrowheads="1"/>
          </p:cNvSpPr>
          <p:nvPr>
            <p:ph type="dt" sz="quarter" idx="1"/>
          </p:nvPr>
        </p:nvSpPr>
        <p:spPr bwMode="auto">
          <a:xfrm>
            <a:off x="3970938"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lvl1pPr>
          </a:lstStyle>
          <a:p>
            <a:pPr>
              <a:defRPr/>
            </a:pPr>
            <a:fld id="{94633A84-D730-4DB1-B585-7559B92CE5D8}" type="datetimeFigureOut">
              <a:rPr lang="en-US"/>
              <a:pPr>
                <a:defRPr/>
              </a:pPr>
              <a:t>4/15/2024</a:t>
            </a:fld>
            <a:endParaRPr lang="en-US"/>
          </a:p>
        </p:txBody>
      </p:sp>
      <p:sp>
        <p:nvSpPr>
          <p:cNvPr id="27652" name="Rectangle 4"/>
          <p:cNvSpPr>
            <a:spLocks noGrp="1" noChangeArrowheads="1"/>
          </p:cNvSpPr>
          <p:nvPr>
            <p:ph type="ftr" sz="quarter" idx="2"/>
          </p:nvPr>
        </p:nvSpPr>
        <p:spPr bwMode="auto">
          <a:xfrm>
            <a:off x="0"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lvl1pPr>
          </a:lstStyle>
          <a:p>
            <a:pPr>
              <a:defRPr/>
            </a:pPr>
            <a:endParaRPr lang="en-US"/>
          </a:p>
        </p:txBody>
      </p:sp>
      <p:sp>
        <p:nvSpPr>
          <p:cNvPr id="27653" name="Rectangle 5"/>
          <p:cNvSpPr>
            <a:spLocks noGrp="1" noChangeArrowheads="1"/>
          </p:cNvSpPr>
          <p:nvPr>
            <p:ph type="sldNum" sz="quarter" idx="3"/>
          </p:nvPr>
        </p:nvSpPr>
        <p:spPr bwMode="auto">
          <a:xfrm>
            <a:off x="3970938"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lvl1pPr>
          </a:lstStyle>
          <a:p>
            <a:pPr>
              <a:defRPr/>
            </a:pPr>
            <a:fld id="{1C669EC8-97E7-4C24-A864-1853E75085DC}" type="slidenum">
              <a:rPr lang="en-US"/>
              <a:pPr>
                <a:defRPr/>
              </a:pPr>
              <a:t>‹#›</a:t>
            </a:fld>
            <a:endParaRPr lang="en-US"/>
          </a:p>
        </p:txBody>
      </p:sp>
    </p:spTree>
    <p:extLst>
      <p:ext uri="{BB962C8B-B14F-4D97-AF65-F5344CB8AC3E}">
        <p14:creationId xmlns:p14="http://schemas.microsoft.com/office/powerpoint/2010/main" val="97898575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3251" name="Rectangle 3"/>
          <p:cNvSpPr>
            <a:spLocks noGrp="1" noChangeArrowheads="1"/>
          </p:cNvSpPr>
          <p:nvPr>
            <p:ph type="dt"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5300"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934720" y="4415790"/>
            <a:ext cx="514096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53255" name="Rectangle 7"/>
          <p:cNvSpPr>
            <a:spLocks noGrp="1" noChangeArrowheads="1"/>
          </p:cNvSpPr>
          <p:nvPr>
            <p:ph type="sldNum" sz="quarter" idx="5"/>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atin typeface="Times New Roman" pitchFamily="18" charset="0"/>
              </a:defRPr>
            </a:lvl1pPr>
          </a:lstStyle>
          <a:p>
            <a:pPr>
              <a:defRPr/>
            </a:pPr>
            <a:fld id="{82C5A2EE-74B4-4329-B2EC-6DFE0575EDC9}" type="slidenum">
              <a:rPr lang="en-US"/>
              <a:pPr>
                <a:defRPr/>
              </a:pPr>
              <a:t>‹#›</a:t>
            </a:fld>
            <a:endParaRPr lang="en-US"/>
          </a:p>
        </p:txBody>
      </p:sp>
    </p:spTree>
    <p:extLst>
      <p:ext uri="{BB962C8B-B14F-4D97-AF65-F5344CB8AC3E}">
        <p14:creationId xmlns:p14="http://schemas.microsoft.com/office/powerpoint/2010/main" val="239245560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_number_layou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85800" y="1143000"/>
            <a:ext cx="7772400" cy="553998"/>
          </a:xfrm>
        </p:spPr>
        <p:txBody>
          <a:bodyPr lIns="0" tIns="0" rIns="0" bIns="0" anchor="t" anchorCtr="0">
            <a:spAutoFit/>
          </a:bodyPr>
          <a:lstStyle>
            <a:lvl1pPr>
              <a:defRPr sz="3600" b="1" i="0" baseline="0">
                <a:solidFill>
                  <a:srgbClr val="000099"/>
                </a:solidFill>
              </a:defRPr>
            </a:lvl1pPr>
          </a:lstStyle>
          <a:p>
            <a:r>
              <a:rPr lang="en-US" dirty="0"/>
              <a:t>Chapter number</a:t>
            </a:r>
          </a:p>
        </p:txBody>
      </p:sp>
      <p:sp>
        <p:nvSpPr>
          <p:cNvPr id="7" name="Text Placeholder 7"/>
          <p:cNvSpPr>
            <a:spLocks noGrp="1"/>
          </p:cNvSpPr>
          <p:nvPr>
            <p:ph type="body" sz="quarter" idx="13" hasCustomPrompt="1"/>
          </p:nvPr>
        </p:nvSpPr>
        <p:spPr>
          <a:xfrm>
            <a:off x="1905000" y="2209800"/>
            <a:ext cx="5334000" cy="2971800"/>
          </a:xfrm>
        </p:spPr>
        <p:txBody>
          <a:bodyPr/>
          <a:lstStyle>
            <a:lvl1pPr marL="0" indent="0" algn="ctr">
              <a:buNone/>
              <a:defRPr sz="4800" b="1" baseline="0"/>
            </a:lvl1pPr>
          </a:lstStyle>
          <a:p>
            <a:pPr lvl="0"/>
            <a:r>
              <a:rPr lang="en-US" dirty="0"/>
              <a:t>Chapter title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903205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4876800"/>
          </a:xfr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5017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_layout_2-line_title">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74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463040"/>
            <a:ext cx="7391400" cy="4495800"/>
          </a:xfr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749648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143000"/>
            <a:ext cx="7315200" cy="4800600"/>
          </a:xfrm>
        </p:spPr>
        <p:txBody>
          <a:bodyPr/>
          <a:lstStyle>
            <a:lvl1pPr marL="0" indent="0">
              <a:buNone/>
              <a:defRPr/>
            </a:lvl1pPr>
          </a:lstStyle>
          <a:p>
            <a:pPr lvl="0"/>
            <a:r>
              <a:rPr lang="en-US" dirty="0"/>
              <a:t>Click to insert image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575222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4495800"/>
          </a:xfrm>
        </p:spPr>
        <p:txBody>
          <a:bodyPr/>
          <a:lstStyle>
            <a:lvl1pPr marL="0" indent="0">
              <a:buNone/>
              <a:defRPr/>
            </a:lvl1pPr>
          </a:lstStyle>
          <a:p>
            <a:r>
              <a:rPr lang="en-US" dirty="0"/>
              <a:t>Click to insert table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95467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_Tab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4495800"/>
          </a:xfrm>
        </p:spPr>
        <p:txBody>
          <a:bodyPr/>
          <a:lstStyle>
            <a:lvl1pPr marL="0" indent="0">
              <a:buNone/>
              <a:defRPr/>
            </a:lvl1pPr>
          </a:lstStyle>
          <a:p>
            <a:r>
              <a:rPr lang="en-US" dirty="0"/>
              <a:t>Click to insert table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
        <p:nvSpPr>
          <p:cNvPr id="7" name="Table Placeholder 7">
            <a:extLst>
              <a:ext uri="{FF2B5EF4-FFF2-40B4-BE49-F238E27FC236}">
                <a16:creationId xmlns:a16="http://schemas.microsoft.com/office/drawing/2014/main" id="{1BAA420C-3471-4D6A-BE62-30BE07634CDD}"/>
              </a:ext>
            </a:extLst>
          </p:cNvPr>
          <p:cNvSpPr>
            <a:spLocks noGrp="1"/>
          </p:cNvSpPr>
          <p:nvPr>
            <p:ph type="tbl" sz="quarter" idx="14" hasCustomPrompt="1"/>
          </p:nvPr>
        </p:nvSpPr>
        <p:spPr>
          <a:xfrm>
            <a:off x="1066800" y="1295400"/>
            <a:ext cx="7315200" cy="4495800"/>
          </a:xfrm>
        </p:spPr>
        <p:txBody>
          <a:bodyPr/>
          <a:lstStyle>
            <a:lvl1pPr marL="0" indent="0">
              <a:buNone/>
              <a:defRPr/>
            </a:lvl1pPr>
          </a:lstStyle>
          <a:p>
            <a:r>
              <a:rPr lang="en-US" dirty="0"/>
              <a:t>Click to insert table</a:t>
            </a:r>
          </a:p>
        </p:txBody>
      </p:sp>
    </p:spTree>
    <p:extLst>
      <p:ext uri="{BB962C8B-B14F-4D97-AF65-F5344CB8AC3E}">
        <p14:creationId xmlns:p14="http://schemas.microsoft.com/office/powerpoint/2010/main" val="4213631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_Text_Tab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1496734"/>
          </a:xfrm>
        </p:spPr>
        <p:txBody>
          <a:bodyPr/>
          <a:lstStyle>
            <a:lvl1pPr marL="0" indent="0">
              <a:buNone/>
              <a:defRPr/>
            </a:lvl1pPr>
          </a:lstStyle>
          <a:p>
            <a:r>
              <a:rPr lang="en-US" dirty="0"/>
              <a:t>Click to insert table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
        <p:nvSpPr>
          <p:cNvPr id="7" name="Table Placeholder 7">
            <a:extLst>
              <a:ext uri="{FF2B5EF4-FFF2-40B4-BE49-F238E27FC236}">
                <a16:creationId xmlns:a16="http://schemas.microsoft.com/office/drawing/2014/main" id="{1BAA420C-3471-4D6A-BE62-30BE07634CDD}"/>
              </a:ext>
            </a:extLst>
          </p:cNvPr>
          <p:cNvSpPr>
            <a:spLocks noGrp="1"/>
          </p:cNvSpPr>
          <p:nvPr>
            <p:ph type="tbl" sz="quarter" idx="14" hasCustomPrompt="1"/>
          </p:nvPr>
        </p:nvSpPr>
        <p:spPr>
          <a:xfrm>
            <a:off x="914400" y="3597780"/>
            <a:ext cx="7315200" cy="1507620"/>
          </a:xfrm>
        </p:spPr>
        <p:txBody>
          <a:bodyPr/>
          <a:lstStyle>
            <a:lvl1pPr marL="0" indent="0">
              <a:buNone/>
              <a:defRPr/>
            </a:lvl1pPr>
          </a:lstStyle>
          <a:p>
            <a:r>
              <a:rPr lang="en-US" dirty="0"/>
              <a:t>Click to insert table</a:t>
            </a:r>
          </a:p>
        </p:txBody>
      </p:sp>
      <p:sp>
        <p:nvSpPr>
          <p:cNvPr id="9" name="Text Placeholder 6">
            <a:extLst>
              <a:ext uri="{FF2B5EF4-FFF2-40B4-BE49-F238E27FC236}">
                <a16:creationId xmlns:a16="http://schemas.microsoft.com/office/drawing/2014/main" id="{343F8196-C45E-4101-8642-53DC9DFF59B8}"/>
              </a:ext>
            </a:extLst>
          </p:cNvPr>
          <p:cNvSpPr>
            <a:spLocks noGrp="1"/>
          </p:cNvSpPr>
          <p:nvPr>
            <p:ph type="body" sz="quarter" idx="17"/>
          </p:nvPr>
        </p:nvSpPr>
        <p:spPr>
          <a:xfrm>
            <a:off x="838200" y="2743200"/>
            <a:ext cx="7391400" cy="6858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450841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_Text_Imag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1496734"/>
          </a:xfrm>
        </p:spPr>
        <p:txBody>
          <a:bodyPr/>
          <a:lstStyle>
            <a:lvl1pPr marL="0" indent="0">
              <a:buNone/>
              <a:defRPr/>
            </a:lvl1pPr>
          </a:lstStyle>
          <a:p>
            <a:r>
              <a:rPr lang="en-US" dirty="0"/>
              <a:t>Click to insert table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
        <p:nvSpPr>
          <p:cNvPr id="9" name="Text Placeholder 6">
            <a:extLst>
              <a:ext uri="{FF2B5EF4-FFF2-40B4-BE49-F238E27FC236}">
                <a16:creationId xmlns:a16="http://schemas.microsoft.com/office/drawing/2014/main" id="{343F8196-C45E-4101-8642-53DC9DFF59B8}"/>
              </a:ext>
            </a:extLst>
          </p:cNvPr>
          <p:cNvSpPr>
            <a:spLocks noGrp="1"/>
          </p:cNvSpPr>
          <p:nvPr>
            <p:ph type="body" sz="quarter" idx="17"/>
          </p:nvPr>
        </p:nvSpPr>
        <p:spPr>
          <a:xfrm>
            <a:off x="838200" y="2743200"/>
            <a:ext cx="7391400" cy="6858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0" name="Content Placeholder 6">
            <a:extLst>
              <a:ext uri="{FF2B5EF4-FFF2-40B4-BE49-F238E27FC236}">
                <a16:creationId xmlns:a16="http://schemas.microsoft.com/office/drawing/2014/main" id="{B39D1673-5FDF-4D83-ADBE-97ACF8D227BA}"/>
              </a:ext>
            </a:extLst>
          </p:cNvPr>
          <p:cNvSpPr>
            <a:spLocks noGrp="1"/>
          </p:cNvSpPr>
          <p:nvPr>
            <p:ph sz="quarter" idx="18" hasCustomPrompt="1"/>
          </p:nvPr>
        </p:nvSpPr>
        <p:spPr>
          <a:xfrm>
            <a:off x="876300" y="3532466"/>
            <a:ext cx="7315200" cy="2514600"/>
          </a:xfrm>
        </p:spPr>
        <p:txBody>
          <a:bodyPr/>
          <a:lstStyle>
            <a:lvl1pPr marL="0" indent="0">
              <a:buNone/>
              <a:defRPr/>
            </a:lvl1pPr>
          </a:lstStyle>
          <a:p>
            <a:pPr lvl="0"/>
            <a:r>
              <a:rPr lang="en-US" dirty="0"/>
              <a:t>Click to insert image</a:t>
            </a:r>
          </a:p>
        </p:txBody>
      </p:sp>
    </p:spTree>
    <p:extLst>
      <p:ext uri="{BB962C8B-B14F-4D97-AF65-F5344CB8AC3E}">
        <p14:creationId xmlns:p14="http://schemas.microsoft.com/office/powerpoint/2010/main" val="3368246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_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27432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Text Placeholder 14"/>
          <p:cNvSpPr>
            <a:spLocks noGrp="1"/>
          </p:cNvSpPr>
          <p:nvPr>
            <p:ph type="body" sz="quarter" idx="15"/>
          </p:nvPr>
        </p:nvSpPr>
        <p:spPr>
          <a:xfrm>
            <a:off x="1295400" y="3892100"/>
            <a:ext cx="6934200" cy="2049956"/>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4273112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_Console_Text_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9906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0" name="Text Placeholder 14"/>
          <p:cNvSpPr>
            <a:spLocks noGrp="1"/>
          </p:cNvSpPr>
          <p:nvPr>
            <p:ph type="body" sz="quarter" idx="16"/>
          </p:nvPr>
        </p:nvSpPr>
        <p:spPr>
          <a:xfrm>
            <a:off x="1295400" y="2150899"/>
            <a:ext cx="6934200" cy="815635"/>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11" name="Text Placeholder 6"/>
          <p:cNvSpPr>
            <a:spLocks noGrp="1"/>
          </p:cNvSpPr>
          <p:nvPr>
            <p:ph type="body" sz="quarter" idx="17"/>
          </p:nvPr>
        </p:nvSpPr>
        <p:spPr>
          <a:xfrm>
            <a:off x="838200" y="3347534"/>
            <a:ext cx="7391400" cy="1496734"/>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Text Placeholder 14"/>
          <p:cNvSpPr>
            <a:spLocks noGrp="1"/>
          </p:cNvSpPr>
          <p:nvPr>
            <p:ph type="body" sz="quarter" idx="15"/>
          </p:nvPr>
        </p:nvSpPr>
        <p:spPr>
          <a:xfrm>
            <a:off x="1295400" y="4982112"/>
            <a:ext cx="6934200" cy="885288"/>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2704291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14"/>
          <p:cNvSpPr>
            <a:spLocks noGrp="1"/>
          </p:cNvSpPr>
          <p:nvPr>
            <p:ph type="body" sz="quarter" idx="15"/>
          </p:nvPr>
        </p:nvSpPr>
        <p:spPr>
          <a:xfrm>
            <a:off x="1295400" y="1143000"/>
            <a:ext cx="6934200" cy="3200400"/>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6109015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066800"/>
            <a:ext cx="7315200" cy="2514600"/>
          </a:xfrm>
        </p:spPr>
        <p:txBody>
          <a:bodyPr/>
          <a:lstStyle>
            <a:lvl1pPr marL="0" indent="0">
              <a:buNone/>
              <a:defRPr/>
            </a:lvl1pPr>
          </a:lstStyle>
          <a:p>
            <a:pPr lvl="0"/>
            <a:r>
              <a:rPr lang="en-US" dirty="0"/>
              <a:t>Click to insert image</a:t>
            </a:r>
          </a:p>
        </p:txBody>
      </p:sp>
      <p:sp>
        <p:nvSpPr>
          <p:cNvPr id="10" name="Text Placeholder 9"/>
          <p:cNvSpPr>
            <a:spLocks noGrp="1"/>
          </p:cNvSpPr>
          <p:nvPr>
            <p:ph type="body" sz="quarter" idx="15"/>
          </p:nvPr>
        </p:nvSpPr>
        <p:spPr>
          <a:xfrm>
            <a:off x="838200" y="3733800"/>
            <a:ext cx="7391400" cy="2209799"/>
          </a:xfrm>
        </p:spPr>
        <p:txBody>
          <a:bodyPr/>
          <a:lstStyle>
            <a:lvl1pPr marL="0" indent="0">
              <a:buNone/>
              <a:defRPr sz="2000"/>
            </a:lvl1pPr>
          </a:lstStyle>
          <a:p>
            <a:pPr lvl="0"/>
            <a:r>
              <a:rPr lang="en-US"/>
              <a:t>Click to edit Master text styles</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541202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A428B99-D0BB-4B7F-A30C-E347F02920DF}"/>
              </a:ext>
            </a:extLst>
          </p:cNvPr>
          <p:cNvSpPr>
            <a:spLocks noGrp="1"/>
          </p:cNvSpPr>
          <p:nvPr>
            <p:ph type="tbl" sz="quarter" idx="16" hasCustomPrompt="1"/>
          </p:nvPr>
        </p:nvSpPr>
        <p:spPr>
          <a:xfrm>
            <a:off x="914400" y="1143000"/>
            <a:ext cx="7315200" cy="2438400"/>
          </a:xfrm>
        </p:spPr>
        <p:txBody>
          <a:bodyPr/>
          <a:lstStyle>
            <a:lvl1pPr marL="0" indent="0">
              <a:buNone/>
              <a:defRPr/>
            </a:lvl1pPr>
          </a:lstStyle>
          <a:p>
            <a:r>
              <a:rPr lang="en-US" dirty="0"/>
              <a:t>Click to insert table</a:t>
            </a:r>
          </a:p>
        </p:txBody>
      </p:sp>
      <p:sp>
        <p:nvSpPr>
          <p:cNvPr id="10" name="Text Placeholder 9"/>
          <p:cNvSpPr>
            <a:spLocks noGrp="1"/>
          </p:cNvSpPr>
          <p:nvPr>
            <p:ph type="body" sz="quarter" idx="15"/>
          </p:nvPr>
        </p:nvSpPr>
        <p:spPr>
          <a:xfrm>
            <a:off x="838200" y="3733800"/>
            <a:ext cx="7391400" cy="2209799"/>
          </a:xfrm>
        </p:spPr>
        <p:txBody>
          <a:bodyPr/>
          <a:lstStyle>
            <a:lvl1pPr marL="0" indent="0">
              <a:buNone/>
              <a:defRPr sz="2000"/>
            </a:lvl1pPr>
          </a:lstStyle>
          <a:p>
            <a:pPr lvl="0"/>
            <a:r>
              <a:rPr lang="en-US"/>
              <a:t>Click to edit Master text styles</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709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_Imag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066800"/>
            <a:ext cx="7315200" cy="2514600"/>
          </a:xfrm>
        </p:spPr>
        <p:txBody>
          <a:bodyPr/>
          <a:lstStyle>
            <a:lvl1pPr marL="0" indent="0">
              <a:buNone/>
              <a:defRPr/>
            </a:lvl1pPr>
          </a:lstStyle>
          <a:p>
            <a:pPr lvl="0"/>
            <a:r>
              <a:rPr lang="en-US" dirty="0"/>
              <a:t>Click to insert image</a:t>
            </a:r>
          </a:p>
        </p:txBody>
      </p:sp>
      <p:sp>
        <p:nvSpPr>
          <p:cNvPr id="8" name="Text Placeholder 7"/>
          <p:cNvSpPr>
            <a:spLocks noGrp="1"/>
          </p:cNvSpPr>
          <p:nvPr>
            <p:ph type="body" sz="quarter" idx="14" hasCustomPrompt="1"/>
          </p:nvPr>
        </p:nvSpPr>
        <p:spPr>
          <a:xfrm>
            <a:off x="838200" y="3730079"/>
            <a:ext cx="7391400" cy="457200"/>
          </a:xfrm>
        </p:spPr>
        <p:txBody>
          <a:bodyPr/>
          <a:lstStyle>
            <a:lvl1pPr marL="0" indent="0">
              <a:buNone/>
              <a:defRPr sz="2400" b="1">
                <a:solidFill>
                  <a:srgbClr val="000099"/>
                </a:solidFill>
                <a:latin typeface="+mj-lt"/>
              </a:defRPr>
            </a:lvl1pPr>
          </a:lstStyle>
          <a:p>
            <a:pPr lvl="0"/>
            <a:r>
              <a:rPr lang="en-US" dirty="0"/>
              <a:t>Click to edit Master heading style</a:t>
            </a:r>
          </a:p>
        </p:txBody>
      </p:sp>
      <p:sp>
        <p:nvSpPr>
          <p:cNvPr id="9" name="Content Placeholder 8"/>
          <p:cNvSpPr>
            <a:spLocks noGrp="1"/>
          </p:cNvSpPr>
          <p:nvPr>
            <p:ph sz="quarter" idx="15" hasCustomPrompt="1"/>
          </p:nvPr>
        </p:nvSpPr>
        <p:spPr>
          <a:xfrm>
            <a:off x="914400" y="4267200"/>
            <a:ext cx="7315200" cy="1676400"/>
          </a:xfrm>
        </p:spPr>
        <p:txBody>
          <a:bodyPr/>
          <a:lstStyle>
            <a:lvl1pPr marL="0" indent="0">
              <a:buNone/>
              <a:defRPr/>
            </a:lvl1pPr>
          </a:lstStyle>
          <a:p>
            <a:pPr lvl="0"/>
            <a:r>
              <a:rPr lang="en-US" dirty="0"/>
              <a:t>Click to insert image</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068147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_Image_Text_Imag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752600"/>
            <a:ext cx="7315200" cy="1524000"/>
          </a:xfrm>
        </p:spPr>
        <p:txBody>
          <a:bodyPr/>
          <a:lstStyle>
            <a:lvl1pPr marL="0" indent="0">
              <a:buNone/>
              <a:defRPr/>
            </a:lvl1pPr>
          </a:lstStyle>
          <a:p>
            <a:pPr lvl="0"/>
            <a:r>
              <a:rPr lang="en-US" dirty="0"/>
              <a:t>Click to insert image</a:t>
            </a:r>
          </a:p>
        </p:txBody>
      </p:sp>
      <p:sp>
        <p:nvSpPr>
          <p:cNvPr id="8" name="Text Placeholder 7"/>
          <p:cNvSpPr>
            <a:spLocks noGrp="1"/>
          </p:cNvSpPr>
          <p:nvPr>
            <p:ph type="body" sz="quarter" idx="14" hasCustomPrompt="1"/>
          </p:nvPr>
        </p:nvSpPr>
        <p:spPr>
          <a:xfrm>
            <a:off x="838200" y="3352800"/>
            <a:ext cx="7391400" cy="457200"/>
          </a:xfrm>
        </p:spPr>
        <p:txBody>
          <a:bodyPr/>
          <a:lstStyle>
            <a:lvl1pPr marL="0" indent="0">
              <a:buNone/>
              <a:defRPr sz="2400" b="1">
                <a:solidFill>
                  <a:srgbClr val="000099"/>
                </a:solidFill>
                <a:latin typeface="+mj-lt"/>
              </a:defRPr>
            </a:lvl1pPr>
          </a:lstStyle>
          <a:p>
            <a:pPr lvl="0"/>
            <a:r>
              <a:rPr lang="en-US" dirty="0"/>
              <a:t>Click to edit Master heading style</a:t>
            </a:r>
          </a:p>
        </p:txBody>
      </p:sp>
      <p:sp>
        <p:nvSpPr>
          <p:cNvPr id="9" name="Content Placeholder 8"/>
          <p:cNvSpPr>
            <a:spLocks noGrp="1"/>
          </p:cNvSpPr>
          <p:nvPr>
            <p:ph sz="quarter" idx="15" hasCustomPrompt="1"/>
          </p:nvPr>
        </p:nvSpPr>
        <p:spPr>
          <a:xfrm>
            <a:off x="914400" y="3886200"/>
            <a:ext cx="7315200" cy="1676400"/>
          </a:xfrm>
        </p:spPr>
        <p:txBody>
          <a:bodyPr/>
          <a:lstStyle>
            <a:lvl1pPr marL="0" indent="0">
              <a:buNone/>
              <a:defRPr/>
            </a:lvl1pPr>
          </a:lstStyle>
          <a:p>
            <a:pPr lvl="0"/>
            <a:r>
              <a:rPr lang="en-US" dirty="0"/>
              <a:t>Click to insert image</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
        <p:nvSpPr>
          <p:cNvPr id="10" name="Text Placeholder 9">
            <a:extLst>
              <a:ext uri="{FF2B5EF4-FFF2-40B4-BE49-F238E27FC236}">
                <a16:creationId xmlns:a16="http://schemas.microsoft.com/office/drawing/2014/main" id="{6E3D78B2-A2B3-4F14-970F-D4E0D43533E5}"/>
              </a:ext>
            </a:extLst>
          </p:cNvPr>
          <p:cNvSpPr>
            <a:spLocks noGrp="1"/>
          </p:cNvSpPr>
          <p:nvPr>
            <p:ph type="body" sz="quarter" idx="16"/>
          </p:nvPr>
        </p:nvSpPr>
        <p:spPr>
          <a:xfrm>
            <a:off x="812800" y="1062758"/>
            <a:ext cx="7391400" cy="60620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1276102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_Imag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10" name="Text Placeholder 9"/>
          <p:cNvSpPr>
            <a:spLocks noGrp="1"/>
          </p:cNvSpPr>
          <p:nvPr>
            <p:ph type="body" sz="quarter" idx="15"/>
          </p:nvPr>
        </p:nvSpPr>
        <p:spPr>
          <a:xfrm>
            <a:off x="812800" y="1062758"/>
            <a:ext cx="7391400" cy="2213842"/>
          </a:xfrm>
        </p:spPr>
        <p:txBody>
          <a:bodyPr/>
          <a:lstStyle>
            <a:lvl1pPr marL="0" indent="0">
              <a:buNone/>
              <a:defRPr sz="2000"/>
            </a:lvl1pPr>
          </a:lstStyle>
          <a:p>
            <a:pPr lvl="0"/>
            <a:r>
              <a:rPr lang="en-US"/>
              <a:t>Click to edit Master text styles</a:t>
            </a:r>
          </a:p>
        </p:txBody>
      </p:sp>
      <p:sp>
        <p:nvSpPr>
          <p:cNvPr id="7" name="Content Placeholder 6"/>
          <p:cNvSpPr>
            <a:spLocks noGrp="1"/>
          </p:cNvSpPr>
          <p:nvPr>
            <p:ph sz="quarter" idx="13" hasCustomPrompt="1"/>
          </p:nvPr>
        </p:nvSpPr>
        <p:spPr>
          <a:xfrm>
            <a:off x="812800" y="3319598"/>
            <a:ext cx="7315200" cy="2438400"/>
          </a:xfrm>
        </p:spPr>
        <p:txBody>
          <a:bodyPr/>
          <a:lstStyle>
            <a:lvl1pPr marL="0" indent="0">
              <a:buNone/>
              <a:defRPr/>
            </a:lvl1pPr>
          </a:lstStyle>
          <a:p>
            <a:pPr lvl="0"/>
            <a:r>
              <a:rPr lang="en-US" dirty="0"/>
              <a:t>Click to insert image</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5140972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_Imag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10" name="Text Placeholder 9"/>
          <p:cNvSpPr>
            <a:spLocks noGrp="1"/>
          </p:cNvSpPr>
          <p:nvPr>
            <p:ph type="body" sz="quarter" idx="15"/>
          </p:nvPr>
        </p:nvSpPr>
        <p:spPr>
          <a:xfrm>
            <a:off x="812800" y="1062758"/>
            <a:ext cx="7391400" cy="1756642"/>
          </a:xfrm>
        </p:spPr>
        <p:txBody>
          <a:bodyPr/>
          <a:lstStyle>
            <a:lvl1pPr marL="0" indent="0">
              <a:buNone/>
              <a:defRPr sz="2000"/>
            </a:lvl1pPr>
          </a:lstStyle>
          <a:p>
            <a:pPr lvl="0"/>
            <a:r>
              <a:rPr lang="en-US"/>
              <a:t>Click to edit Master text styles</a:t>
            </a:r>
          </a:p>
        </p:txBody>
      </p:sp>
      <p:sp>
        <p:nvSpPr>
          <p:cNvPr id="7" name="Content Placeholder 6"/>
          <p:cNvSpPr>
            <a:spLocks noGrp="1"/>
          </p:cNvSpPr>
          <p:nvPr>
            <p:ph sz="quarter" idx="13" hasCustomPrompt="1"/>
          </p:nvPr>
        </p:nvSpPr>
        <p:spPr>
          <a:xfrm>
            <a:off x="812800" y="2895600"/>
            <a:ext cx="7315200" cy="1633402"/>
          </a:xfrm>
        </p:spPr>
        <p:txBody>
          <a:bodyPr/>
          <a:lstStyle>
            <a:lvl1pPr marL="0" indent="0">
              <a:buNone/>
              <a:defRPr/>
            </a:lvl1pPr>
          </a:lstStyle>
          <a:p>
            <a:pPr lvl="0"/>
            <a:r>
              <a:rPr lang="en-US" dirty="0"/>
              <a:t>Click to insert image</a:t>
            </a:r>
          </a:p>
        </p:txBody>
      </p:sp>
      <p:sp>
        <p:nvSpPr>
          <p:cNvPr id="9" name="Text Placeholder 9"/>
          <p:cNvSpPr>
            <a:spLocks noGrp="1"/>
          </p:cNvSpPr>
          <p:nvPr>
            <p:ph type="body" sz="quarter" idx="16"/>
          </p:nvPr>
        </p:nvSpPr>
        <p:spPr>
          <a:xfrm>
            <a:off x="812800" y="4605202"/>
            <a:ext cx="7391400" cy="1414598"/>
          </a:xfrm>
        </p:spPr>
        <p:txBody>
          <a:bodyPr/>
          <a:lstStyle>
            <a:lvl1pPr marL="0" indent="0">
              <a:buNone/>
              <a:defRPr sz="2000"/>
            </a:lvl1pPr>
          </a:lstStyle>
          <a:p>
            <a:pPr lvl="0"/>
            <a:r>
              <a:rPr lang="en-US"/>
              <a:t>Click to edit Master text styles</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602246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p:nvSpPr>
        <p:spPr bwMode="auto">
          <a:xfrm>
            <a:off x="0" y="6172200"/>
            <a:ext cx="9144000" cy="685800"/>
          </a:xfrm>
          <a:prstGeom prst="rect">
            <a:avLst/>
          </a:prstGeom>
          <a:solidFill>
            <a:srgbClr val="20396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7" name="Date Placeholder 1"/>
          <p:cNvSpPr>
            <a:spLocks noGrp="1"/>
          </p:cNvSpPr>
          <p:nvPr>
            <p:ph type="dt" sz="half" idx="2"/>
          </p:nvPr>
        </p:nvSpPr>
        <p:spPr bwMode="auto">
          <a:xfrm>
            <a:off x="2743200" y="6248400"/>
            <a:ext cx="36576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ctr">
              <a:defRPr sz="1800" b="1" i="1">
                <a:solidFill>
                  <a:schemeClr val="bg1"/>
                </a:solidFill>
                <a:latin typeface="Arial Narrow" panose="020B0606020202030204" pitchFamily="34" charset="0"/>
                <a:cs typeface="Arial" panose="020B0604020202020204" pitchFamily="34" charset="0"/>
              </a:defRPr>
            </a:lvl1pPr>
          </a:lstStyle>
          <a:p>
            <a:pPr>
              <a:defRPr/>
            </a:pPr>
            <a:r>
              <a:rPr lang="en-US" dirty="0" err="1"/>
              <a:t>Murach's</a:t>
            </a:r>
            <a:r>
              <a:rPr lang="en-US" dirty="0"/>
              <a:t> Python for Data Science</a:t>
            </a:r>
          </a:p>
        </p:txBody>
      </p:sp>
      <p:sp>
        <p:nvSpPr>
          <p:cNvPr id="8" name="Footer Placeholder 2"/>
          <p:cNvSpPr>
            <a:spLocks noGrp="1"/>
          </p:cNvSpPr>
          <p:nvPr>
            <p:ph type="ftr" sz="quarter" idx="3"/>
          </p:nvPr>
        </p:nvSpPr>
        <p:spPr bwMode="auto">
          <a:xfrm>
            <a:off x="76200" y="6248400"/>
            <a:ext cx="27432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ctr">
              <a:defRPr sz="500">
                <a:solidFill>
                  <a:schemeClr val="bg1"/>
                </a:solidFill>
                <a:latin typeface="Arial Narrow" pitchFamily="34" charset="0"/>
              </a:defRPr>
            </a:lvl1pPr>
          </a:lstStyle>
          <a:p>
            <a:pPr>
              <a:defRPr/>
            </a:pPr>
            <a:r>
              <a:rPr lang="en-US"/>
              <a:t>© 2021, Mike Murach &amp; Associates, Inc.</a:t>
            </a:r>
            <a:endParaRPr lang="en-US" dirty="0"/>
          </a:p>
        </p:txBody>
      </p:sp>
      <p:sp>
        <p:nvSpPr>
          <p:cNvPr id="9" name="Slide Number Placeholder 3"/>
          <p:cNvSpPr>
            <a:spLocks noGrp="1"/>
          </p:cNvSpPr>
          <p:nvPr>
            <p:ph type="sldNum" sz="quarter" idx="4"/>
          </p:nvPr>
        </p:nvSpPr>
        <p:spPr bwMode="auto">
          <a:xfrm>
            <a:off x="6629400" y="6248400"/>
            <a:ext cx="19050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r">
              <a:defRPr sz="900">
                <a:latin typeface="Arial Narrow" pitchFamily="34" charset="0"/>
              </a:defRPr>
            </a:lvl1p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a:t>
            </a:fld>
            <a:endParaRPr lang="en-US" dirty="0">
              <a:solidFill>
                <a:schemeClr val="bg1"/>
              </a:solidFill>
            </a:endParaRPr>
          </a:p>
        </p:txBody>
      </p:sp>
      <p:pic>
        <p:nvPicPr>
          <p:cNvPr id="3" name="Picture 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76830" y="6397412"/>
            <a:ext cx="1228170" cy="231988"/>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85" r:id="rId3"/>
    <p:sldLayoutId id="2147483679" r:id="rId4"/>
    <p:sldLayoutId id="2147483686" r:id="rId5"/>
    <p:sldLayoutId id="2147483688" r:id="rId6"/>
    <p:sldLayoutId id="2147483689" r:id="rId7"/>
    <p:sldLayoutId id="2147483690" r:id="rId8"/>
    <p:sldLayoutId id="2147483680" r:id="rId9"/>
    <p:sldLayoutId id="2147483683" r:id="rId10"/>
    <p:sldLayoutId id="2147483681" r:id="rId11"/>
    <p:sldLayoutId id="2147483674" r:id="rId12"/>
    <p:sldLayoutId id="2147483687" r:id="rId13"/>
    <p:sldLayoutId id="2147483676" r:id="rId14"/>
    <p:sldLayoutId id="2147483691" r:id="rId15"/>
    <p:sldLayoutId id="2147483675" r:id="rId16"/>
    <p:sldLayoutId id="2147483684" r:id="rId17"/>
  </p:sldLayoutIdLst>
  <p:hf hdr="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Chapter 10</a:t>
            </a:r>
          </a:p>
        </p:txBody>
      </p:sp>
      <p:sp>
        <p:nvSpPr>
          <p:cNvPr id="6" name="Text Placeholder 5"/>
          <p:cNvSpPr>
            <a:spLocks noGrp="1"/>
          </p:cNvSpPr>
          <p:nvPr>
            <p:ph type="body" sz="quarter" idx="13"/>
          </p:nvPr>
        </p:nvSpPr>
        <p:spPr>
          <a:xfrm>
            <a:off x="685800" y="2209800"/>
            <a:ext cx="7772400" cy="2971800"/>
          </a:xfrm>
        </p:spPr>
        <p:txBody>
          <a:bodyPr/>
          <a:lstStyle/>
          <a:p>
            <a:r>
              <a:rPr lang="en-US" dirty="0"/>
              <a:t>How to make predictions with a linear regression model </a:t>
            </a:r>
          </a:p>
        </p:txBody>
      </p:sp>
      <p:sp>
        <p:nvSpPr>
          <p:cNvPr id="2" name="Date Placeholder 1"/>
          <p:cNvSpPr>
            <a:spLocks noGrp="1"/>
          </p:cNvSpPr>
          <p:nvPr>
            <p:ph type="dt" sz="half" idx="10"/>
          </p:nvPr>
        </p:nvSpPr>
        <p:spPr>
          <a:xfrm>
            <a:off x="2743200" y="6248400"/>
            <a:ext cx="4114800" cy="457200"/>
          </a:xfrm>
        </p:spPr>
        <p:txBody>
          <a:bodyPr/>
          <a:lstStyle/>
          <a:p>
            <a:pPr>
              <a:defRPr/>
            </a:pPr>
            <a:r>
              <a:rPr lang="en-US" dirty="0" err="1"/>
              <a:t>Murach's</a:t>
            </a:r>
            <a:r>
              <a:rPr lang="en-US" dirty="0"/>
              <a:t> Python for Data Science  (2</a:t>
            </a:r>
            <a:r>
              <a:rPr lang="en-US" baseline="30000" dirty="0"/>
              <a:t>nd</a:t>
            </a:r>
            <a:r>
              <a:rPr lang="en-US" dirty="0"/>
              <a:t> Ed)</a:t>
            </a:r>
          </a:p>
        </p:txBody>
      </p:sp>
      <p:sp>
        <p:nvSpPr>
          <p:cNvPr id="3" name="Footer Placeholder 2"/>
          <p:cNvSpPr>
            <a:spLocks noGrp="1"/>
          </p:cNvSpPr>
          <p:nvPr>
            <p:ph type="ftr" sz="quarter" idx="11"/>
          </p:nvPr>
        </p:nvSpPr>
        <p:spPr/>
        <p:txBody>
          <a:bodyPr/>
          <a:lstStyle/>
          <a:p>
            <a:pPr>
              <a:defRPr/>
            </a:pPr>
            <a:r>
              <a:rPr lang="en-US" dirty="0"/>
              <a:t>© 2024, Mike Murach &amp; Associates, Inc.</a:t>
            </a:r>
          </a:p>
        </p:txBody>
      </p:sp>
      <p:sp>
        <p:nvSpPr>
          <p:cNvPr id="7" name="Slide Number Placeholder 6">
            <a:extLst>
              <a:ext uri="{FF2B5EF4-FFF2-40B4-BE49-F238E27FC236}">
                <a16:creationId xmlns:a16="http://schemas.microsoft.com/office/drawing/2014/main" id="{D8FC50B9-DF0E-4649-98E3-BC0A95CC2635}"/>
              </a:ext>
            </a:extLst>
          </p:cNvPr>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1</a:t>
            </a:fld>
            <a:endParaRPr lang="en-US" dirty="0">
              <a:solidFill>
                <a:schemeClr val="bg1"/>
              </a:solidFill>
            </a:endParaRPr>
          </a:p>
        </p:txBody>
      </p:sp>
    </p:spTree>
    <p:extLst>
      <p:ext uri="{BB962C8B-B14F-4D97-AF65-F5344CB8AC3E}">
        <p14:creationId xmlns:p14="http://schemas.microsoft.com/office/powerpoint/2010/main" val="68226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338EE-2B03-43AD-A32E-CBCA466F3090}"/>
              </a:ext>
            </a:extLst>
          </p:cNvPr>
          <p:cNvSpPr>
            <a:spLocks noGrp="1"/>
          </p:cNvSpPr>
          <p:nvPr>
            <p:ph type="title"/>
          </p:nvPr>
        </p:nvSpPr>
        <p:spPr/>
        <p:txBody>
          <a:bodyPr/>
          <a:lstStyle/>
          <a:p>
            <a:r>
              <a:rPr lang="en-US" dirty="0"/>
              <a:t>Objectives</a:t>
            </a:r>
          </a:p>
        </p:txBody>
      </p:sp>
      <p:sp>
        <p:nvSpPr>
          <p:cNvPr id="3" name="Text Placeholder 2">
            <a:extLst>
              <a:ext uri="{FF2B5EF4-FFF2-40B4-BE49-F238E27FC236}">
                <a16:creationId xmlns:a16="http://schemas.microsoft.com/office/drawing/2014/main" id="{4130202D-4017-480F-A3D4-F511DEAF1762}"/>
              </a:ext>
            </a:extLst>
          </p:cNvPr>
          <p:cNvSpPr>
            <a:spLocks noGrp="1"/>
          </p:cNvSpPr>
          <p:nvPr>
            <p:ph type="body" sz="quarter" idx="13"/>
          </p:nvPr>
        </p:nvSpPr>
        <p:spPr/>
        <p:txBody>
          <a:bodyPr/>
          <a:lstStyle/>
          <a:p>
            <a:pPr marL="0" marR="0">
              <a:spcBef>
                <a:spcPts val="1500"/>
              </a:spcBef>
              <a:spcAft>
                <a:spcPts val="600"/>
              </a:spcAft>
              <a:tabLst>
                <a:tab pos="1371600" algn="l"/>
              </a:tabLst>
            </a:pPr>
            <a:r>
              <a:rPr lang="en-US" sz="2000" b="1" dirty="0">
                <a:effectLst/>
                <a:latin typeface="Arial" panose="020B0604020202020204" pitchFamily="34" charset="0"/>
                <a:ea typeface="Times New Roman" panose="02020603050405020304" pitchFamily="18" charset="0"/>
                <a:cs typeface="Times New Roman" panose="02020603050405020304" pitchFamily="18" charset="0"/>
              </a:rPr>
              <a:t>Applied</a:t>
            </a: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Use scatter plots or heatmaps to identify correlations.</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Use the </a:t>
            </a:r>
            <a:r>
              <a:rPr lang="en-US" sz="2000" dirty="0" err="1">
                <a:effectLst/>
                <a:latin typeface="Times New Roman" panose="02020603050405020304" pitchFamily="18" charset="0"/>
                <a:ea typeface="Times New Roman" panose="02020603050405020304" pitchFamily="18" charset="0"/>
              </a:rPr>
              <a:t>corr</a:t>
            </a:r>
            <a:r>
              <a:rPr lang="en-US" sz="2000" dirty="0">
                <a:effectLst/>
                <a:latin typeface="Times New Roman" panose="02020603050405020304" pitchFamily="18" charset="0"/>
                <a:ea typeface="Times New Roman" panose="02020603050405020304" pitchFamily="18" charset="0"/>
              </a:rPr>
              <a:t>() method to identify correlations.</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Use Scikit-learn to create and validate a linear regression model and to use the model to make predictions. </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Use Seaborn to plot the predicted values and the residuals of a linear regression model.</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Use the Seaborn </a:t>
            </a:r>
            <a:r>
              <a:rPr lang="en-US" sz="2000" dirty="0" err="1">
                <a:effectLst/>
                <a:latin typeface="Times New Roman" panose="02020603050405020304" pitchFamily="18" charset="0"/>
                <a:ea typeface="Times New Roman" panose="02020603050405020304" pitchFamily="18" charset="0"/>
              </a:rPr>
              <a:t>lmplot</a:t>
            </a:r>
            <a:r>
              <a:rPr lang="en-US" sz="2000" dirty="0">
                <a:effectLst/>
                <a:latin typeface="Times New Roman" panose="02020603050405020304" pitchFamily="18" charset="0"/>
                <a:ea typeface="Times New Roman" panose="02020603050405020304" pitchFamily="18" charset="0"/>
              </a:rPr>
              <a:t>() method to create and plot these types of linear regression models: simple, logistic, polynomial, and </a:t>
            </a:r>
            <a:r>
              <a:rPr lang="en-US" sz="2000" dirty="0" err="1">
                <a:effectLst/>
                <a:latin typeface="Times New Roman" panose="02020603050405020304" pitchFamily="18" charset="0"/>
                <a:ea typeface="Times New Roman" panose="02020603050405020304" pitchFamily="18" charset="0"/>
              </a:rPr>
              <a:t>lowess</a:t>
            </a:r>
            <a:r>
              <a:rPr lang="en-US" sz="2000" dirty="0">
                <a:effectLst/>
                <a:latin typeface="Times New Roman" panose="02020603050405020304" pitchFamily="18" charset="0"/>
                <a:ea typeface="Times New Roman" panose="02020603050405020304" pitchFamily="18" charset="0"/>
              </a:rPr>
              <a:t>.</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Use the Seaborn </a:t>
            </a:r>
            <a:r>
              <a:rPr lang="en-US" sz="2000" dirty="0" err="1">
                <a:effectLst/>
                <a:latin typeface="Times New Roman" panose="02020603050405020304" pitchFamily="18" charset="0"/>
                <a:ea typeface="Times New Roman" panose="02020603050405020304" pitchFamily="18" charset="0"/>
              </a:rPr>
              <a:t>residplot</a:t>
            </a:r>
            <a:r>
              <a:rPr lang="en-US" sz="2000" dirty="0">
                <a:effectLst/>
                <a:latin typeface="Times New Roman" panose="02020603050405020304" pitchFamily="18" charset="0"/>
                <a:ea typeface="Times New Roman" panose="02020603050405020304" pitchFamily="18" charset="0"/>
              </a:rPr>
              <a:t>() method to plot the residuals for linear regression models.</a:t>
            </a:r>
            <a:endParaRPr lang="en-US" sz="1100" dirty="0">
              <a:effectLst/>
              <a:latin typeface="Times New Roman" panose="02020603050405020304" pitchFamily="18" charset="0"/>
              <a:ea typeface="Times New Roman" panose="02020603050405020304" pitchFamily="18" charset="0"/>
            </a:endParaRPr>
          </a:p>
          <a:p>
            <a:endParaRPr lang="en-US" dirty="0"/>
          </a:p>
        </p:txBody>
      </p:sp>
      <p:sp>
        <p:nvSpPr>
          <p:cNvPr id="4" name="Date Placeholder 3">
            <a:extLst>
              <a:ext uri="{FF2B5EF4-FFF2-40B4-BE49-F238E27FC236}">
                <a16:creationId xmlns:a16="http://schemas.microsoft.com/office/drawing/2014/main" id="{5B0EE5D2-AF37-45DD-95D3-722BA028C27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AE42832-913D-4A43-9E73-3C3939954AA2}"/>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FA11DFC0-7EE6-4DA6-86D0-03C3539283A1}"/>
              </a:ext>
            </a:extLst>
          </p:cNvPr>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C10, Slide </a:t>
            </a:r>
            <a:fld id="{BF5C1183-B085-4070-A402-C03A3F977D3D}" type="slidenum">
              <a:rPr lang="en-US" smtClean="0">
                <a:solidFill>
                  <a:schemeClr val="bg1"/>
                </a:solidFill>
              </a:rPr>
              <a:pPr>
                <a:defRPr/>
              </a:pPr>
              <a:t>2</a:t>
            </a:fld>
            <a:endParaRPr lang="en-US" dirty="0">
              <a:solidFill>
                <a:schemeClr val="bg1"/>
              </a:solidFill>
            </a:endParaRPr>
          </a:p>
        </p:txBody>
      </p:sp>
    </p:spTree>
    <p:extLst>
      <p:ext uri="{BB962C8B-B14F-4D97-AF65-F5344CB8AC3E}">
        <p14:creationId xmlns:p14="http://schemas.microsoft.com/office/powerpoint/2010/main" val="72304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9A60A-0E06-45E9-8BE5-F1976F004A5D}"/>
              </a:ext>
            </a:extLst>
          </p:cNvPr>
          <p:cNvSpPr>
            <a:spLocks noGrp="1"/>
          </p:cNvSpPr>
          <p:nvPr>
            <p:ph type="title"/>
          </p:nvPr>
        </p:nvSpPr>
        <p:spPr/>
        <p:txBody>
          <a:bodyPr/>
          <a:lstStyle/>
          <a:p>
            <a:r>
              <a:rPr lang="en-US" dirty="0"/>
              <a:t>Objectives (continued)</a:t>
            </a:r>
          </a:p>
        </p:txBody>
      </p:sp>
      <p:sp>
        <p:nvSpPr>
          <p:cNvPr id="3" name="Text Placeholder 2">
            <a:extLst>
              <a:ext uri="{FF2B5EF4-FFF2-40B4-BE49-F238E27FC236}">
                <a16:creationId xmlns:a16="http://schemas.microsoft.com/office/drawing/2014/main" id="{788CF7C2-105F-41A0-87E0-DD40B74DF24C}"/>
              </a:ext>
            </a:extLst>
          </p:cNvPr>
          <p:cNvSpPr>
            <a:spLocks noGrp="1"/>
          </p:cNvSpPr>
          <p:nvPr>
            <p:ph type="body" sz="quarter" idx="13"/>
          </p:nvPr>
        </p:nvSpPr>
        <p:spPr/>
        <p:txBody>
          <a:bodyPr/>
          <a:lstStyle/>
          <a:p>
            <a:pPr marL="0" marR="0">
              <a:spcBef>
                <a:spcPts val="1500"/>
              </a:spcBef>
              <a:spcAft>
                <a:spcPts val="600"/>
              </a:spcAft>
              <a:tabLst>
                <a:tab pos="1371600" algn="l"/>
              </a:tabLst>
            </a:pPr>
            <a:r>
              <a:rPr lang="en-US" sz="2000" b="1" dirty="0">
                <a:effectLst/>
                <a:latin typeface="Arial" panose="020B0604020202020204" pitchFamily="34" charset="0"/>
                <a:ea typeface="Times New Roman" panose="02020603050405020304" pitchFamily="18" charset="0"/>
                <a:cs typeface="Times New Roman" panose="02020603050405020304" pitchFamily="18" charset="0"/>
              </a:rPr>
              <a:t>Knowledge</a:t>
            </a: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Describe a linear regression model.</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Distinguish between a simple linear regression and a multiple linear regression in terms of independent and dependent variables.</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Describe two ways to identify the correlations between the variables in a </a:t>
            </a:r>
            <a:r>
              <a:rPr lang="en-US" sz="2000" dirty="0" err="1">
                <a:effectLst/>
                <a:latin typeface="Times New Roman" panose="02020603050405020304" pitchFamily="18" charset="0"/>
                <a:ea typeface="Times New Roman" panose="02020603050405020304" pitchFamily="18" charset="0"/>
              </a:rPr>
              <a:t>DataFrame</a:t>
            </a:r>
            <a:r>
              <a:rPr lang="en-US" sz="2000" dirty="0">
                <a:effectLst/>
                <a:latin typeface="Times New Roman" panose="02020603050405020304" pitchFamily="18" charset="0"/>
                <a:ea typeface="Times New Roman" panose="02020603050405020304" pitchFamily="18" charset="0"/>
              </a:rPr>
              <a:t>.</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In general terms, describe the procedure for creating, validating, and using a regression model.</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a:effectLst/>
                <a:latin typeface="Times New Roman" panose="02020603050405020304" pitchFamily="18" charset="0"/>
                <a:ea typeface="Times New Roman" panose="02020603050405020304" pitchFamily="18" charset="0"/>
              </a:rPr>
              <a:t>Describe regression residuals.</a:t>
            </a:r>
            <a:endParaRPr lang="en-US" sz="1100">
              <a:effectLst/>
              <a:latin typeface="Times New Roman" panose="02020603050405020304" pitchFamily="18" charset="0"/>
              <a:ea typeface="Times New Roman" panose="02020603050405020304" pitchFamily="18" charset="0"/>
            </a:endParaRPr>
          </a:p>
          <a:p>
            <a:endParaRPr lang="en-US"/>
          </a:p>
        </p:txBody>
      </p:sp>
      <p:sp>
        <p:nvSpPr>
          <p:cNvPr id="4" name="Date Placeholder 3">
            <a:extLst>
              <a:ext uri="{FF2B5EF4-FFF2-40B4-BE49-F238E27FC236}">
                <a16:creationId xmlns:a16="http://schemas.microsoft.com/office/drawing/2014/main" id="{1D70FE2F-2AF5-4759-96B3-79E96962C799}"/>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91C95456-3259-4327-935D-62F1FDAB7D3C}"/>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4E9417C-4FEE-4965-BB76-5FDA8B005CC6}"/>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3</a:t>
            </a:fld>
            <a:endParaRPr lang="en-US" dirty="0">
              <a:solidFill>
                <a:schemeClr val="bg1"/>
              </a:solidFill>
            </a:endParaRPr>
          </a:p>
        </p:txBody>
      </p:sp>
    </p:spTree>
    <p:extLst>
      <p:ext uri="{BB962C8B-B14F-4D97-AF65-F5344CB8AC3E}">
        <p14:creationId xmlns:p14="http://schemas.microsoft.com/office/powerpoint/2010/main" val="1129423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61255BB-9C6F-4889-B2AC-AAD954777787}"/>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Types of predictive models</a:t>
            </a:r>
            <a:endParaRPr lang="en-US" dirty="0"/>
          </a:p>
        </p:txBody>
      </p:sp>
      <p:graphicFrame>
        <p:nvGraphicFramePr>
          <p:cNvPr id="11" name="Table Placeholder 10">
            <a:extLst>
              <a:ext uri="{FF2B5EF4-FFF2-40B4-BE49-F238E27FC236}">
                <a16:creationId xmlns:a16="http://schemas.microsoft.com/office/drawing/2014/main" id="{C7A30BDB-F096-41FF-8855-0E08E05C76BF}"/>
              </a:ext>
            </a:extLst>
          </p:cNvPr>
          <p:cNvGraphicFramePr>
            <a:graphicFrameLocks noGrp="1"/>
          </p:cNvGraphicFramePr>
          <p:nvPr>
            <p:ph type="tbl" sz="quarter" idx="13"/>
            <p:extLst>
              <p:ext uri="{D42A27DB-BD31-4B8C-83A1-F6EECF244321}">
                <p14:modId xmlns:p14="http://schemas.microsoft.com/office/powerpoint/2010/main" val="2793950456"/>
              </p:ext>
            </p:extLst>
          </p:nvPr>
        </p:nvGraphicFramePr>
        <p:xfrm>
          <a:off x="914400" y="1143000"/>
          <a:ext cx="7269480" cy="3596640"/>
        </p:xfrm>
        <a:graphic>
          <a:graphicData uri="http://schemas.openxmlformats.org/drawingml/2006/table">
            <a:tbl>
              <a:tblPr firstRow="1"/>
              <a:tblGrid>
                <a:gridCol w="2468880">
                  <a:extLst>
                    <a:ext uri="{9D8B030D-6E8A-4147-A177-3AD203B41FA5}">
                      <a16:colId xmlns:a16="http://schemas.microsoft.com/office/drawing/2014/main" val="828755171"/>
                    </a:ext>
                  </a:extLst>
                </a:gridCol>
                <a:gridCol w="4800600">
                  <a:extLst>
                    <a:ext uri="{9D8B030D-6E8A-4147-A177-3AD203B41FA5}">
                      <a16:colId xmlns:a16="http://schemas.microsoft.com/office/drawing/2014/main" val="91660150"/>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Model</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2260072463"/>
                  </a:ext>
                </a:extLst>
              </a:tr>
              <a:tr h="0">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Classification model</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Categorizes data into predefined groups based on historic data.</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567478500"/>
                  </a:ext>
                </a:extLst>
              </a:tr>
              <a:tr h="0">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Clustering model</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Identifies similarities in data and creates groups based on these similarities.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798491829"/>
                  </a:ext>
                </a:extLst>
              </a:tr>
              <a:tr h="0">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Outliers model</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Identifies anomalies relative to historic data.</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083515543"/>
                  </a:ext>
                </a:extLst>
              </a:tr>
              <a:tr h="0">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Forecast model</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Makes predictions about numeric data based on historic data.</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773187582"/>
                  </a:ext>
                </a:extLst>
              </a:tr>
              <a:tr h="0">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Time series model</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Makes predictions about numeric data based on historic data with time as a factor.</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659119470"/>
                  </a:ext>
                </a:extLst>
              </a:tr>
            </a:tbl>
          </a:graphicData>
        </a:graphic>
      </p:graphicFrame>
      <p:sp>
        <p:nvSpPr>
          <p:cNvPr id="4" name="Date Placeholder 3">
            <a:extLst>
              <a:ext uri="{FF2B5EF4-FFF2-40B4-BE49-F238E27FC236}">
                <a16:creationId xmlns:a16="http://schemas.microsoft.com/office/drawing/2014/main" id="{EF450AB4-7EA0-4FD8-81BD-0C4AF06DEEAA}"/>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B2C7153C-EFE8-47F1-B5A5-B9B231413CF8}"/>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1915541-F879-4711-8BFE-86F6D8598B1B}"/>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4</a:t>
            </a:fld>
            <a:endParaRPr lang="en-US" dirty="0">
              <a:solidFill>
                <a:schemeClr val="bg1"/>
              </a:solidFill>
            </a:endParaRPr>
          </a:p>
        </p:txBody>
      </p:sp>
    </p:spTree>
    <p:extLst>
      <p:ext uri="{BB962C8B-B14F-4D97-AF65-F5344CB8AC3E}">
        <p14:creationId xmlns:p14="http://schemas.microsoft.com/office/powerpoint/2010/main" val="1012847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264F6FC-B07B-4BE4-B280-0B8E5C477C11}"/>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Real-world applications of predictive analysis</a:t>
            </a:r>
            <a:endParaRPr lang="en-US" dirty="0"/>
          </a:p>
        </p:txBody>
      </p:sp>
      <p:graphicFrame>
        <p:nvGraphicFramePr>
          <p:cNvPr id="9" name="Table Placeholder 8">
            <a:extLst>
              <a:ext uri="{FF2B5EF4-FFF2-40B4-BE49-F238E27FC236}">
                <a16:creationId xmlns:a16="http://schemas.microsoft.com/office/drawing/2014/main" id="{10B9B45C-DFA1-4CAA-95AB-2EA5CAD158B2}"/>
              </a:ext>
            </a:extLst>
          </p:cNvPr>
          <p:cNvGraphicFramePr>
            <a:graphicFrameLocks noGrp="1"/>
          </p:cNvGraphicFramePr>
          <p:nvPr>
            <p:ph type="tbl" sz="quarter" idx="13"/>
            <p:extLst>
              <p:ext uri="{D42A27DB-BD31-4B8C-83A1-F6EECF244321}">
                <p14:modId xmlns:p14="http://schemas.microsoft.com/office/powerpoint/2010/main" val="1233923288"/>
              </p:ext>
            </p:extLst>
          </p:nvPr>
        </p:nvGraphicFramePr>
        <p:xfrm>
          <a:off x="887682" y="1143000"/>
          <a:ext cx="7315199" cy="3986930"/>
        </p:xfrm>
        <a:graphic>
          <a:graphicData uri="http://schemas.openxmlformats.org/drawingml/2006/table">
            <a:tbl>
              <a:tblPr firstRow="1"/>
              <a:tblGrid>
                <a:gridCol w="1936376">
                  <a:extLst>
                    <a:ext uri="{9D8B030D-6E8A-4147-A177-3AD203B41FA5}">
                      <a16:colId xmlns:a16="http://schemas.microsoft.com/office/drawing/2014/main" val="170196840"/>
                    </a:ext>
                  </a:extLst>
                </a:gridCol>
                <a:gridCol w="5378823">
                  <a:extLst>
                    <a:ext uri="{9D8B030D-6E8A-4147-A177-3AD203B41FA5}">
                      <a16:colId xmlns:a16="http://schemas.microsoft.com/office/drawing/2014/main" val="2363814932"/>
                    </a:ext>
                  </a:extLst>
                </a:gridCol>
              </a:tblGrid>
              <a:tr h="39256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Industry</a:t>
                      </a:r>
                    </a:p>
                  </a:txBody>
                  <a:tcPr marL="67943" marR="67943" marT="45295" marB="45295">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Usage</a:t>
                      </a:r>
                    </a:p>
                  </a:txBody>
                  <a:tcPr marL="67943" marR="67943" marT="45295" marB="45295">
                    <a:lnL>
                      <a:noFill/>
                    </a:lnL>
                    <a:lnR>
                      <a:noFill/>
                    </a:lnR>
                    <a:lnT>
                      <a:noFill/>
                    </a:lnT>
                    <a:lnB>
                      <a:noFill/>
                    </a:lnB>
                    <a:solidFill>
                      <a:srgbClr val="3D87B7"/>
                    </a:solidFill>
                  </a:tcPr>
                </a:tc>
                <a:extLst>
                  <a:ext uri="{0D108BD9-81ED-4DB2-BD59-A6C34878D82A}">
                    <a16:rowId xmlns:a16="http://schemas.microsoft.com/office/drawing/2014/main" val="2482252817"/>
                  </a:ext>
                </a:extLst>
              </a:tr>
              <a:tr h="694529">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Finance</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Credit scores, loan applications, risk analysis, fraud detection.</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extLst>
                  <a:ext uri="{0D108BD9-81ED-4DB2-BD59-A6C34878D82A}">
                    <a16:rowId xmlns:a16="http://schemas.microsoft.com/office/drawing/2014/main" val="1008224883"/>
                  </a:ext>
                </a:extLst>
              </a:tr>
              <a:tr h="694529">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Healthcare </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Personalized healthcare, patient deterioration detection, readmission prevention.</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extLst>
                  <a:ext uri="{0D108BD9-81ED-4DB2-BD59-A6C34878D82A}">
                    <a16:rowId xmlns:a16="http://schemas.microsoft.com/office/drawing/2014/main" val="1730475059"/>
                  </a:ext>
                </a:extLst>
              </a:tr>
              <a:tr h="392560">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Manufacturing</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Maintenance prediction, product quality prediction.</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extLst>
                  <a:ext uri="{0D108BD9-81ED-4DB2-BD59-A6C34878D82A}">
                    <a16:rowId xmlns:a16="http://schemas.microsoft.com/office/drawing/2014/main" val="489011633"/>
                  </a:ext>
                </a:extLst>
              </a:tr>
              <a:tr h="694529">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Marketing</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Product recommendation, customer satisfaction analysis.</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extLst>
                  <a:ext uri="{0D108BD9-81ED-4DB2-BD59-A6C34878D82A}">
                    <a16:rowId xmlns:a16="http://schemas.microsoft.com/office/drawing/2014/main" val="1347655229"/>
                  </a:ext>
                </a:extLst>
              </a:tr>
              <a:tr h="694529">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Sports</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Individual performance prediction, team performance prediction.</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extLst>
                  <a:ext uri="{0D108BD9-81ED-4DB2-BD59-A6C34878D82A}">
                    <a16:rowId xmlns:a16="http://schemas.microsoft.com/office/drawing/2014/main" val="2545537869"/>
                  </a:ext>
                </a:extLst>
              </a:tr>
              <a:tr h="392560">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Entertainment</a:t>
                      </a:r>
                      <a:endParaRPr lang="en-US" sz="200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Content curation, content adoption prediction.</a:t>
                      </a:r>
                      <a:endParaRPr lang="en-US" sz="2000" dirty="0">
                        <a:effectLst/>
                        <a:latin typeface="Times New Roman" panose="02020603050405020304" pitchFamily="18" charset="0"/>
                        <a:ea typeface="Times New Roman" panose="02020603050405020304" pitchFamily="18" charset="0"/>
                      </a:endParaRPr>
                    </a:p>
                  </a:txBody>
                  <a:tcPr marL="67943" marR="67943" marT="45295" marB="45295">
                    <a:lnL>
                      <a:noFill/>
                    </a:lnL>
                    <a:lnR>
                      <a:noFill/>
                    </a:lnR>
                    <a:lnT>
                      <a:noFill/>
                    </a:lnT>
                    <a:lnB>
                      <a:noFill/>
                    </a:lnB>
                    <a:solidFill>
                      <a:srgbClr val="DFECF5"/>
                    </a:solidFill>
                  </a:tcPr>
                </a:tc>
                <a:extLst>
                  <a:ext uri="{0D108BD9-81ED-4DB2-BD59-A6C34878D82A}">
                    <a16:rowId xmlns:a16="http://schemas.microsoft.com/office/drawing/2014/main" val="2197620607"/>
                  </a:ext>
                </a:extLst>
              </a:tr>
            </a:tbl>
          </a:graphicData>
        </a:graphic>
      </p:graphicFrame>
      <p:sp>
        <p:nvSpPr>
          <p:cNvPr id="4" name="Date Placeholder 3">
            <a:extLst>
              <a:ext uri="{FF2B5EF4-FFF2-40B4-BE49-F238E27FC236}">
                <a16:creationId xmlns:a16="http://schemas.microsoft.com/office/drawing/2014/main" id="{F14AC2D5-9079-4EE5-A152-387EA3ECE28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3FA0B0EB-DA90-4353-ACEA-A026FA6FF79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8A8A5495-49FA-4F89-BF29-3461D7435840}"/>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5</a:t>
            </a:fld>
            <a:endParaRPr lang="en-US" dirty="0">
              <a:solidFill>
                <a:schemeClr val="bg1"/>
              </a:solidFill>
            </a:endParaRPr>
          </a:p>
        </p:txBody>
      </p:sp>
    </p:spTree>
    <p:extLst>
      <p:ext uri="{BB962C8B-B14F-4D97-AF65-F5344CB8AC3E}">
        <p14:creationId xmlns:p14="http://schemas.microsoft.com/office/powerpoint/2010/main" val="1557808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9AE83-F60C-4AF7-939C-4CF23DD4B3D8}"/>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An introduction to regression analysis</a:t>
            </a:r>
            <a:endParaRPr lang="en-US" dirty="0"/>
          </a:p>
        </p:txBody>
      </p:sp>
      <p:sp>
        <p:nvSpPr>
          <p:cNvPr id="3" name="Text Placeholder 2">
            <a:extLst>
              <a:ext uri="{FF2B5EF4-FFF2-40B4-BE49-F238E27FC236}">
                <a16:creationId xmlns:a16="http://schemas.microsoft.com/office/drawing/2014/main" id="{332A5BB4-A844-4CC8-88C4-E54308001A5F}"/>
              </a:ext>
            </a:extLst>
          </p:cNvPr>
          <p:cNvSpPr>
            <a:spLocks noGrp="1"/>
          </p:cNvSpPr>
          <p:nvPr>
            <p:ph type="body" sz="quarter" idx="13"/>
          </p:nvPr>
        </p:nvSpPr>
        <p:spPr/>
        <p:txBody>
          <a:bodyPr/>
          <a:lstStyle/>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A </a:t>
            </a:r>
            <a:r>
              <a:rPr lang="en-US" sz="2000" i="1" spc="-10" dirty="0">
                <a:effectLst/>
                <a:latin typeface="Times New Roman" panose="02020603050405020304" pitchFamily="18" charset="0"/>
                <a:ea typeface="Times New Roman" panose="02020603050405020304" pitchFamily="18" charset="0"/>
              </a:rPr>
              <a:t>linear regression model</a:t>
            </a:r>
            <a:r>
              <a:rPr lang="en-US" sz="2000" spc="-10" dirty="0">
                <a:effectLst/>
                <a:latin typeface="Times New Roman" panose="02020603050405020304" pitchFamily="18" charset="0"/>
                <a:ea typeface="Times New Roman" panose="02020603050405020304" pitchFamily="18" charset="0"/>
              </a:rPr>
              <a:t> is a conceptual model that uses an equation to predict an unknown value called a </a:t>
            </a:r>
            <a:r>
              <a:rPr lang="en-US" sz="2000" i="1" spc="-10" dirty="0">
                <a:effectLst/>
                <a:latin typeface="Times New Roman" panose="02020603050405020304" pitchFamily="18" charset="0"/>
                <a:ea typeface="Times New Roman" panose="02020603050405020304" pitchFamily="18" charset="0"/>
              </a:rPr>
              <a:t>dependent variable</a:t>
            </a:r>
            <a:r>
              <a:rPr lang="en-US" sz="2000" spc="-10" dirty="0">
                <a:effectLst/>
                <a:latin typeface="Times New Roman" panose="02020603050405020304" pitchFamily="18" charset="0"/>
                <a:ea typeface="Times New Roman" panose="02020603050405020304" pitchFamily="18" charset="0"/>
              </a:rPr>
              <a:t> based on the values of one or more known values called </a:t>
            </a:r>
            <a:r>
              <a:rPr lang="en-US" sz="2000" i="1" spc="-10" dirty="0">
                <a:effectLst/>
                <a:latin typeface="Times New Roman" panose="02020603050405020304" pitchFamily="18" charset="0"/>
                <a:ea typeface="Times New Roman" panose="02020603050405020304" pitchFamily="18" charset="0"/>
              </a:rPr>
              <a:t>independent variables</a:t>
            </a:r>
            <a:r>
              <a:rPr lang="en-US" sz="2000" spc="-10" dirty="0">
                <a:effectLst/>
                <a:latin typeface="Times New Roman" panose="02020603050405020304" pitchFamily="18" charset="0"/>
                <a:ea typeface="Times New Roman" panose="02020603050405020304" pitchFamily="18" charset="0"/>
              </a:rPr>
              <a:t>.</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A</a:t>
            </a:r>
            <a:r>
              <a:rPr lang="en-US" sz="2000" i="1" spc="-10" dirty="0">
                <a:effectLst/>
                <a:latin typeface="Times New Roman" panose="02020603050405020304" pitchFamily="18" charset="0"/>
                <a:ea typeface="Times New Roman" panose="02020603050405020304" pitchFamily="18" charset="0"/>
              </a:rPr>
              <a:t> simple linear regression</a:t>
            </a:r>
            <a:r>
              <a:rPr lang="en-US" sz="2000" spc="-10" dirty="0">
                <a:effectLst/>
                <a:latin typeface="Times New Roman" panose="02020603050405020304" pitchFamily="18" charset="0"/>
                <a:ea typeface="Times New Roman" panose="02020603050405020304" pitchFamily="18" charset="0"/>
              </a:rPr>
              <a:t> uses only one independent variable, and a </a:t>
            </a:r>
            <a:r>
              <a:rPr lang="en-US" sz="2000" i="1" spc="-10" dirty="0">
                <a:effectLst/>
                <a:latin typeface="Times New Roman" panose="02020603050405020304" pitchFamily="18" charset="0"/>
                <a:ea typeface="Times New Roman" panose="02020603050405020304" pitchFamily="18" charset="0"/>
              </a:rPr>
              <a:t>multiple linear regression</a:t>
            </a:r>
            <a:r>
              <a:rPr lang="en-US" sz="2000" spc="-10" dirty="0">
                <a:effectLst/>
                <a:latin typeface="Times New Roman" panose="02020603050405020304" pitchFamily="18" charset="0"/>
                <a:ea typeface="Times New Roman" panose="02020603050405020304" pitchFamily="18" charset="0"/>
              </a:rPr>
              <a:t> uses two or more independent variables. </a:t>
            </a:r>
          </a:p>
          <a:p>
            <a:endParaRPr lang="en-US" dirty="0"/>
          </a:p>
        </p:txBody>
      </p:sp>
      <p:sp>
        <p:nvSpPr>
          <p:cNvPr id="4" name="Date Placeholder 3">
            <a:extLst>
              <a:ext uri="{FF2B5EF4-FFF2-40B4-BE49-F238E27FC236}">
                <a16:creationId xmlns:a16="http://schemas.microsoft.com/office/drawing/2014/main" id="{F53CEDBA-1912-45D9-A955-A6AE06739A75}"/>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F3A6B671-1949-4296-B5A4-A480E3EA8494}"/>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A807A5D0-CC04-4F90-9ED6-4637E37C5FFA}"/>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6</a:t>
            </a:fld>
            <a:endParaRPr lang="en-US" dirty="0">
              <a:solidFill>
                <a:schemeClr val="bg1"/>
              </a:solidFill>
            </a:endParaRPr>
          </a:p>
        </p:txBody>
      </p:sp>
    </p:spTree>
    <p:extLst>
      <p:ext uri="{BB962C8B-B14F-4D97-AF65-F5344CB8AC3E}">
        <p14:creationId xmlns:p14="http://schemas.microsoft.com/office/powerpoint/2010/main" val="2258524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596D9-8156-4D5D-8E00-798E89E6923A}"/>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Real-world linear regression examples</a:t>
            </a:r>
            <a:endParaRPr lang="en-US" dirty="0"/>
          </a:p>
        </p:txBody>
      </p:sp>
      <p:sp>
        <p:nvSpPr>
          <p:cNvPr id="3" name="Text Placeholder 2">
            <a:extLst>
              <a:ext uri="{FF2B5EF4-FFF2-40B4-BE49-F238E27FC236}">
                <a16:creationId xmlns:a16="http://schemas.microsoft.com/office/drawing/2014/main" id="{8437FF81-332E-4C7B-B90A-DF95F71767A2}"/>
              </a:ext>
            </a:extLst>
          </p:cNvPr>
          <p:cNvSpPr>
            <a:spLocks noGrp="1"/>
          </p:cNvSpPr>
          <p:nvPr>
            <p:ph type="body" sz="quarter" idx="13"/>
          </p:nvPr>
        </p:nvSpPr>
        <p:spPr/>
        <p:txBody>
          <a:bodyPr/>
          <a:lstStyle/>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Predict revenue (DV) based on advertising budget (IV).</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Predict patient readmission rate (DV) given factors like hemoglobin count (IV), prior admissions (IV), blood pressure (IV), current medications (IV), and age (IV).</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Predict household energy consumption (DV) given factors like the number of people living there (IV), the size of the house (IV), the energy consumption of surrounding houses (IV), and past energy consumption (IV).</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Predict the odds of a sports team winning a game (DV) given factors like who they are playing (IV), the current season record (IV), any injured players (IV), and where the game is played (IV).</a:t>
            </a:r>
          </a:p>
          <a:p>
            <a:endParaRPr lang="en-US" dirty="0"/>
          </a:p>
        </p:txBody>
      </p:sp>
      <p:sp>
        <p:nvSpPr>
          <p:cNvPr id="4" name="Date Placeholder 3">
            <a:extLst>
              <a:ext uri="{FF2B5EF4-FFF2-40B4-BE49-F238E27FC236}">
                <a16:creationId xmlns:a16="http://schemas.microsoft.com/office/drawing/2014/main" id="{A8AFF720-A6C3-4982-816F-299E02F2241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676A16B9-196A-471C-BDF8-AA12A115D31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21A5B13-C9DE-4847-891A-88C95CA3319E}"/>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7</a:t>
            </a:fld>
            <a:endParaRPr lang="en-US" dirty="0">
              <a:solidFill>
                <a:schemeClr val="bg1"/>
              </a:solidFill>
            </a:endParaRPr>
          </a:p>
        </p:txBody>
      </p:sp>
    </p:spTree>
    <p:extLst>
      <p:ext uri="{BB962C8B-B14F-4D97-AF65-F5344CB8AC3E}">
        <p14:creationId xmlns:p14="http://schemas.microsoft.com/office/powerpoint/2010/main" val="1729543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B26EA6F-FCB8-4B18-8BA4-4CDC427702A8}"/>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columns of the Housing dataset</a:t>
            </a:r>
            <a:endParaRPr lang="en-US" dirty="0"/>
          </a:p>
        </p:txBody>
      </p:sp>
      <p:sp>
        <p:nvSpPr>
          <p:cNvPr id="9" name="Text Placeholder 8">
            <a:extLst>
              <a:ext uri="{FF2B5EF4-FFF2-40B4-BE49-F238E27FC236}">
                <a16:creationId xmlns:a16="http://schemas.microsoft.com/office/drawing/2014/main" id="{327BB433-1642-40DF-BCC0-B715606D6367}"/>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housing.info()</a:t>
            </a:r>
          </a:p>
          <a:p>
            <a:endParaRPr lang="en-US" sz="1600" dirty="0"/>
          </a:p>
        </p:txBody>
      </p:sp>
      <p:pic>
        <p:nvPicPr>
          <p:cNvPr id="10" name="Content Placeholder 9" descr="Refer to page 341 in textbook">
            <a:extLst>
              <a:ext uri="{FF2B5EF4-FFF2-40B4-BE49-F238E27FC236}">
                <a16:creationId xmlns:a16="http://schemas.microsoft.com/office/drawing/2014/main" id="{4AF8EE86-935D-49E5-9709-CAC272E35C54}"/>
              </a:ext>
            </a:extLst>
          </p:cNvPr>
          <p:cNvPicPr>
            <a:picLocks noGrp="1" noChangeAspect="1"/>
          </p:cNvPicPr>
          <p:nvPr>
            <p:ph sz="quarter" idx="13"/>
          </p:nvPr>
        </p:nvPicPr>
        <p:blipFill>
          <a:blip r:embed="rId2"/>
          <a:stretch>
            <a:fillRect/>
          </a:stretch>
        </p:blipFill>
        <p:spPr>
          <a:xfrm>
            <a:off x="1271650" y="1447799"/>
            <a:ext cx="3986150" cy="3918205"/>
          </a:xfrm>
          <a:prstGeom prst="rect">
            <a:avLst/>
          </a:prstGeom>
        </p:spPr>
      </p:pic>
      <p:sp>
        <p:nvSpPr>
          <p:cNvPr id="4" name="Date Placeholder 3">
            <a:extLst>
              <a:ext uri="{FF2B5EF4-FFF2-40B4-BE49-F238E27FC236}">
                <a16:creationId xmlns:a16="http://schemas.microsoft.com/office/drawing/2014/main" id="{9E753680-F73C-4ECE-947A-885D42AAD5D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8A12D88D-B6FF-4D17-ABE5-038A79E66B9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CFD0EC7F-ECB9-4F2F-9A2E-345500EAEB33}"/>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C10, Slide </a:t>
            </a:r>
            <a:fld id="{BF5C1183-B085-4070-A402-C03A3F977D3D}" type="slidenum">
              <a:rPr lang="en-US" sz="900" smtClean="0">
                <a:solidFill>
                  <a:schemeClr val="bg1"/>
                </a:solidFill>
                <a:latin typeface="Arial Narrow" panose="020B0606020202030204" pitchFamily="34" charset="0"/>
              </a:rPr>
              <a:pPr algn="r">
                <a:defRPr/>
              </a:pPr>
              <a:t>8</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64455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604B194-C050-423C-BF1E-E2B7653B01E7}"/>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first five rows of the Housing dataset</a:t>
            </a:r>
            <a:endParaRPr lang="en-US" dirty="0"/>
          </a:p>
        </p:txBody>
      </p:sp>
      <p:sp>
        <p:nvSpPr>
          <p:cNvPr id="9" name="Text Placeholder 8">
            <a:extLst>
              <a:ext uri="{FF2B5EF4-FFF2-40B4-BE49-F238E27FC236}">
                <a16:creationId xmlns:a16="http://schemas.microsoft.com/office/drawing/2014/main" id="{63CE8F28-8D61-4DF7-BD4B-2EE7C4780E15}"/>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housing.head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10" name="Content Placeholder 9" descr="Refer to page 341 in textbook">
            <a:extLst>
              <a:ext uri="{FF2B5EF4-FFF2-40B4-BE49-F238E27FC236}">
                <a16:creationId xmlns:a16="http://schemas.microsoft.com/office/drawing/2014/main" id="{019B04CE-39B0-4172-A866-D589A11A4F42}"/>
              </a:ext>
            </a:extLst>
          </p:cNvPr>
          <p:cNvPicPr>
            <a:picLocks noGrp="1" noChangeAspect="1"/>
          </p:cNvPicPr>
          <p:nvPr>
            <p:ph sz="quarter" idx="13"/>
          </p:nvPr>
        </p:nvPicPr>
        <p:blipFill>
          <a:blip r:embed="rId2"/>
          <a:stretch>
            <a:fillRect/>
          </a:stretch>
        </p:blipFill>
        <p:spPr>
          <a:xfrm>
            <a:off x="1259775" y="1447668"/>
            <a:ext cx="6944425" cy="1551480"/>
          </a:xfrm>
          <a:prstGeom prst="rect">
            <a:avLst/>
          </a:prstGeom>
        </p:spPr>
      </p:pic>
      <p:sp>
        <p:nvSpPr>
          <p:cNvPr id="4" name="Date Placeholder 3">
            <a:extLst>
              <a:ext uri="{FF2B5EF4-FFF2-40B4-BE49-F238E27FC236}">
                <a16:creationId xmlns:a16="http://schemas.microsoft.com/office/drawing/2014/main" id="{1A6F20B3-8C10-4D6D-BBB5-E8337B254D6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F996A67-03D7-43E1-838B-FF9EDF9658C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95EDBC9-20A6-422F-9B38-32BB0310B335}"/>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C10, Slide </a:t>
            </a:r>
            <a:fld id="{BF5C1183-B085-4070-A402-C03A3F977D3D}" type="slidenum">
              <a:rPr lang="en-US" sz="900" smtClean="0">
                <a:solidFill>
                  <a:schemeClr val="bg1"/>
                </a:solidFill>
                <a:latin typeface="Arial Narrow" panose="020B0606020202030204" pitchFamily="34" charset="0"/>
              </a:rPr>
              <a:pPr algn="r">
                <a:defRPr/>
              </a:pPr>
              <a:t>9</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4019829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604B194-C050-423C-BF1E-E2B7653B01E7}"/>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scatter plot that shows two variables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that have a correlation</a:t>
            </a:r>
            <a:endParaRPr lang="en-US" dirty="0"/>
          </a:p>
        </p:txBody>
      </p:sp>
      <p:sp>
        <p:nvSpPr>
          <p:cNvPr id="9" name="Text Placeholder 8">
            <a:extLst>
              <a:ext uri="{FF2B5EF4-FFF2-40B4-BE49-F238E27FC236}">
                <a16:creationId xmlns:a16="http://schemas.microsoft.com/office/drawing/2014/main" id="{63CE8F28-8D61-4DF7-BD4B-2EE7C4780E15}"/>
              </a:ext>
            </a:extLst>
          </p:cNvPr>
          <p:cNvSpPr>
            <a:spLocks noGrp="1"/>
          </p:cNvSpPr>
          <p:nvPr>
            <p:ph type="body" sz="quarter" idx="15"/>
          </p:nvPr>
        </p:nvSpPr>
        <p:spPr>
          <a:xfrm>
            <a:off x="812800" y="1215158"/>
            <a:ext cx="7391400" cy="2213842"/>
          </a:xfrm>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sns.relplot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(data=housing, x='</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sqft_living</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y='price')</a:t>
            </a:r>
          </a:p>
          <a:p>
            <a:endParaRPr lang="en-US" sz="1600" dirty="0"/>
          </a:p>
        </p:txBody>
      </p:sp>
      <p:pic>
        <p:nvPicPr>
          <p:cNvPr id="2" name="Content Placeholder 1" descr="Refer to page 343 in textbook">
            <a:extLst>
              <a:ext uri="{FF2B5EF4-FFF2-40B4-BE49-F238E27FC236}">
                <a16:creationId xmlns:a16="http://schemas.microsoft.com/office/drawing/2014/main" id="{E632CDC1-C4E8-4DE2-B33D-4E88CE1936A5}"/>
              </a:ext>
            </a:extLst>
          </p:cNvPr>
          <p:cNvPicPr>
            <a:picLocks noGrp="1" noChangeAspect="1"/>
          </p:cNvPicPr>
          <p:nvPr>
            <p:ph sz="quarter" idx="13"/>
          </p:nvPr>
        </p:nvPicPr>
        <p:blipFill>
          <a:blip r:embed="rId2"/>
          <a:stretch>
            <a:fillRect/>
          </a:stretch>
        </p:blipFill>
        <p:spPr>
          <a:xfrm>
            <a:off x="1259775" y="1676399"/>
            <a:ext cx="4159536" cy="4191001"/>
          </a:xfrm>
          <a:prstGeom prst="rect">
            <a:avLst/>
          </a:prstGeom>
        </p:spPr>
      </p:pic>
      <p:sp>
        <p:nvSpPr>
          <p:cNvPr id="4" name="Date Placeholder 3">
            <a:extLst>
              <a:ext uri="{FF2B5EF4-FFF2-40B4-BE49-F238E27FC236}">
                <a16:creationId xmlns:a16="http://schemas.microsoft.com/office/drawing/2014/main" id="{1A6F20B3-8C10-4D6D-BBB5-E8337B254D6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F996A67-03D7-43E1-838B-FF9EDF9658C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95EDBC9-20A6-422F-9B38-32BB0310B335}"/>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C10, Slide </a:t>
            </a:r>
            <a:fld id="{BF5C1183-B085-4070-A402-C03A3F977D3D}" type="slidenum">
              <a:rPr lang="en-US" sz="900" smtClean="0">
                <a:solidFill>
                  <a:schemeClr val="bg1"/>
                </a:solidFill>
                <a:latin typeface="Arial Narrow" panose="020B0606020202030204" pitchFamily="34" charset="0"/>
              </a:rPr>
              <a:pPr algn="r">
                <a:defRPr/>
              </a:pPr>
              <a:t>10</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5177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604B194-C050-423C-BF1E-E2B7653B01E7}"/>
              </a:ext>
            </a:extLst>
          </p:cNvPr>
          <p:cNvSpPr>
            <a:spLocks noGrp="1"/>
          </p:cNvSpPr>
          <p:nvPr>
            <p:ph type="title"/>
          </p:nvPr>
        </p:nvSpPr>
        <p:spPr>
          <a:xfrm>
            <a:off x="914400" y="440323"/>
            <a:ext cx="7315200" cy="738664"/>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scatter plot that shows two variables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that don’t have a correlation</a:t>
            </a:r>
            <a:endParaRPr lang="en-US" dirty="0"/>
          </a:p>
        </p:txBody>
      </p:sp>
      <p:sp>
        <p:nvSpPr>
          <p:cNvPr id="9" name="Text Placeholder 8">
            <a:extLst>
              <a:ext uri="{FF2B5EF4-FFF2-40B4-BE49-F238E27FC236}">
                <a16:creationId xmlns:a16="http://schemas.microsoft.com/office/drawing/2014/main" id="{63CE8F28-8D61-4DF7-BD4B-2EE7C4780E15}"/>
              </a:ext>
            </a:extLst>
          </p:cNvPr>
          <p:cNvSpPr>
            <a:spLocks noGrp="1"/>
          </p:cNvSpPr>
          <p:nvPr>
            <p:ph type="body" sz="quarter" idx="15"/>
          </p:nvPr>
        </p:nvSpPr>
        <p:spPr>
          <a:xfrm>
            <a:off x="812800" y="1215158"/>
            <a:ext cx="7391400" cy="2213842"/>
          </a:xfrm>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sns.relplot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(data=housing, x='</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yr_built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y='price')</a:t>
            </a:r>
          </a:p>
          <a:p>
            <a:endParaRPr lang="en-US" sz="1600" dirty="0"/>
          </a:p>
        </p:txBody>
      </p:sp>
      <p:pic>
        <p:nvPicPr>
          <p:cNvPr id="2" name="Content Placeholder 1" descr="Refer to page 343 in textbook">
            <a:extLst>
              <a:ext uri="{FF2B5EF4-FFF2-40B4-BE49-F238E27FC236}">
                <a16:creationId xmlns:a16="http://schemas.microsoft.com/office/drawing/2014/main" id="{7F2B404A-F4B7-46D0-A4A3-3D93BAFB8C65}"/>
              </a:ext>
            </a:extLst>
          </p:cNvPr>
          <p:cNvPicPr>
            <a:picLocks noGrp="1" noChangeAspect="1"/>
          </p:cNvPicPr>
          <p:nvPr>
            <p:ph sz="quarter" idx="13"/>
          </p:nvPr>
        </p:nvPicPr>
        <p:blipFill>
          <a:blip r:embed="rId2"/>
          <a:stretch>
            <a:fillRect/>
          </a:stretch>
        </p:blipFill>
        <p:spPr>
          <a:xfrm>
            <a:off x="1259774" y="1600200"/>
            <a:ext cx="4455225" cy="4448548"/>
          </a:xfrm>
          <a:prstGeom prst="rect">
            <a:avLst/>
          </a:prstGeom>
        </p:spPr>
      </p:pic>
      <p:sp>
        <p:nvSpPr>
          <p:cNvPr id="4" name="Date Placeholder 3">
            <a:extLst>
              <a:ext uri="{FF2B5EF4-FFF2-40B4-BE49-F238E27FC236}">
                <a16:creationId xmlns:a16="http://schemas.microsoft.com/office/drawing/2014/main" id="{1A6F20B3-8C10-4D6D-BBB5-E8337B254D6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F996A67-03D7-43E1-838B-FF9EDF9658C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95EDBC9-20A6-422F-9B38-32BB0310B335}"/>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C10, Slide </a:t>
            </a:r>
            <a:fld id="{BF5C1183-B085-4070-A402-C03A3F977D3D}" type="slidenum">
              <a:rPr lang="en-US" sz="900" smtClean="0">
                <a:solidFill>
                  <a:schemeClr val="bg1"/>
                </a:solidFill>
                <a:latin typeface="Arial Narrow" panose="020B0606020202030204" pitchFamily="34" charset="0"/>
              </a:rPr>
              <a:pPr algn="r">
                <a:defRPr/>
              </a:pPr>
              <a:t>11</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238787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A3A0-A17D-4144-A97B-D1F189BB21EE}"/>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Seaborn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pairplot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12" name="Table Placeholder 11">
            <a:extLst>
              <a:ext uri="{FF2B5EF4-FFF2-40B4-BE49-F238E27FC236}">
                <a16:creationId xmlns:a16="http://schemas.microsoft.com/office/drawing/2014/main" id="{E22B88FD-29DC-4BDB-8BED-00D2642694D1}"/>
              </a:ext>
            </a:extLst>
          </p:cNvPr>
          <p:cNvGraphicFramePr>
            <a:graphicFrameLocks noGrp="1"/>
          </p:cNvGraphicFramePr>
          <p:nvPr>
            <p:ph type="tbl" sz="quarter" idx="13"/>
            <p:extLst>
              <p:ext uri="{D42A27DB-BD31-4B8C-83A1-F6EECF244321}">
                <p14:modId xmlns:p14="http://schemas.microsoft.com/office/powerpoint/2010/main" val="1474949153"/>
              </p:ext>
            </p:extLst>
          </p:nvPr>
        </p:nvGraphicFramePr>
        <p:xfrm>
          <a:off x="914400" y="1066800"/>
          <a:ext cx="6297930" cy="1097280"/>
        </p:xfrm>
        <a:graphic>
          <a:graphicData uri="http://schemas.openxmlformats.org/drawingml/2006/table">
            <a:tbl>
              <a:tblPr firstRow="1"/>
              <a:tblGrid>
                <a:gridCol w="2183130">
                  <a:extLst>
                    <a:ext uri="{9D8B030D-6E8A-4147-A177-3AD203B41FA5}">
                      <a16:colId xmlns:a16="http://schemas.microsoft.com/office/drawing/2014/main" val="4243799103"/>
                    </a:ext>
                  </a:extLst>
                </a:gridCol>
                <a:gridCol w="4114800">
                  <a:extLst>
                    <a:ext uri="{9D8B030D-6E8A-4147-A177-3AD203B41FA5}">
                      <a16:colId xmlns:a16="http://schemas.microsoft.com/office/drawing/2014/main" val="3866495469"/>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3984364899"/>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pairplot</a:t>
                      </a:r>
                      <a:r>
                        <a:rPr lang="en-US" sz="1600" b="1" dirty="0">
                          <a:solidFill>
                            <a:srgbClr val="000000"/>
                          </a:solidFill>
                          <a:effectLst/>
                          <a:latin typeface="Consolas" panose="020B0609020204030204" pitchFamily="49" charset="0"/>
                          <a:ea typeface="Times New Roman" panose="02020603050405020304" pitchFamily="18" charset="0"/>
                        </a:rPr>
                        <a:t>(params)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Creates a grid of plots for all possible pairs of the specified variables.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4048202617"/>
                  </a:ext>
                </a:extLst>
              </a:tr>
            </a:tbl>
          </a:graphicData>
        </a:graphic>
      </p:graphicFrame>
      <p:sp>
        <p:nvSpPr>
          <p:cNvPr id="11" name="Text Placeholder 10">
            <a:extLst>
              <a:ext uri="{FF2B5EF4-FFF2-40B4-BE49-F238E27FC236}">
                <a16:creationId xmlns:a16="http://schemas.microsoft.com/office/drawing/2014/main" id="{7BB8BCFC-D627-4DC8-8B26-7DD2CB314687}"/>
              </a:ext>
            </a:extLst>
          </p:cNvPr>
          <p:cNvSpPr>
            <a:spLocks noGrp="1"/>
          </p:cNvSpPr>
          <p:nvPr>
            <p:ph type="body" sz="quarter" idx="17"/>
          </p:nvPr>
        </p:nvSpPr>
        <p:spPr>
          <a:xfrm>
            <a:off x="838200" y="22860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pairplot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p>
          <a:p>
            <a:endParaRPr lang="en-US" sz="2400" dirty="0"/>
          </a:p>
        </p:txBody>
      </p:sp>
      <p:graphicFrame>
        <p:nvGraphicFramePr>
          <p:cNvPr id="13" name="Table Placeholder 12">
            <a:extLst>
              <a:ext uri="{FF2B5EF4-FFF2-40B4-BE49-F238E27FC236}">
                <a16:creationId xmlns:a16="http://schemas.microsoft.com/office/drawing/2014/main" id="{489D7E1A-E60F-452F-84E3-960A75102792}"/>
              </a:ext>
            </a:extLst>
          </p:cNvPr>
          <p:cNvGraphicFramePr>
            <a:graphicFrameLocks noGrp="1"/>
          </p:cNvGraphicFramePr>
          <p:nvPr>
            <p:ph type="tbl" sz="quarter" idx="14"/>
            <p:extLst>
              <p:ext uri="{D42A27DB-BD31-4B8C-83A1-F6EECF244321}">
                <p14:modId xmlns:p14="http://schemas.microsoft.com/office/powerpoint/2010/main" val="14840728"/>
              </p:ext>
            </p:extLst>
          </p:nvPr>
        </p:nvGraphicFramePr>
        <p:xfrm>
          <a:off x="914400" y="2743200"/>
          <a:ext cx="7010400" cy="3200400"/>
        </p:xfrm>
        <a:graphic>
          <a:graphicData uri="http://schemas.openxmlformats.org/drawingml/2006/table">
            <a:tbl>
              <a:tblPr firstRow="1"/>
              <a:tblGrid>
                <a:gridCol w="1648177">
                  <a:extLst>
                    <a:ext uri="{9D8B030D-6E8A-4147-A177-3AD203B41FA5}">
                      <a16:colId xmlns:a16="http://schemas.microsoft.com/office/drawing/2014/main" val="4188568928"/>
                    </a:ext>
                  </a:extLst>
                </a:gridCol>
                <a:gridCol w="5362223">
                  <a:extLst>
                    <a:ext uri="{9D8B030D-6E8A-4147-A177-3AD203B41FA5}">
                      <a16:colId xmlns:a16="http://schemas.microsoft.com/office/drawing/2014/main" val="566722729"/>
                    </a:ext>
                  </a:extLst>
                </a:gridCol>
              </a:tblGrid>
              <a:tr h="18672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3091892258"/>
                  </a:ext>
                </a:extLst>
              </a:tr>
              <a:tr h="330351">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kind</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default is scatter. Other values include ‘kde’, ‘hist’, or ‘reg’. </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427887608"/>
                  </a:ext>
                </a:extLst>
              </a:tr>
              <a:tr h="330351">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diag_kind</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The type of plot for the diagonal. Possible values include ‘hist’, ‘</a:t>
                      </a:r>
                      <a:r>
                        <a:rPr lang="en-US" sz="2000" dirty="0" err="1">
                          <a:solidFill>
                            <a:srgbClr val="000000"/>
                          </a:solidFill>
                          <a:effectLst/>
                          <a:latin typeface="Times New Roman" panose="02020603050405020304" pitchFamily="18" charset="0"/>
                          <a:ea typeface="Times New Roman" panose="02020603050405020304" pitchFamily="18" charset="0"/>
                        </a:rPr>
                        <a:t>kde</a:t>
                      </a:r>
                      <a:r>
                        <a:rPr lang="en-US" sz="2000" dirty="0">
                          <a:solidFill>
                            <a:srgbClr val="000000"/>
                          </a:solidFill>
                          <a:effectLst/>
                          <a:latin typeface="Times New Roman" panose="02020603050405020304" pitchFamily="18" charset="0"/>
                          <a:ea typeface="Times New Roman" panose="02020603050405020304" pitchFamily="18" charset="0"/>
                        </a:rPr>
                        <a:t>’, or None. The default is ‘hist’.</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2423668137"/>
                  </a:ext>
                </a:extLst>
              </a:tr>
              <a:tr h="330351">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x_vars, y_vars</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x or y variables to use. By default, it uses all variables.</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2052300638"/>
                  </a:ext>
                </a:extLst>
              </a:tr>
              <a:tr h="330351">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corner</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If False (the default), show all plots. If True, don’t show the plots to the right of the diagonal.</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331209417"/>
                  </a:ext>
                </a:extLst>
              </a:tr>
            </a:tbl>
          </a:graphicData>
        </a:graphic>
      </p:graphicFrame>
      <p:sp>
        <p:nvSpPr>
          <p:cNvPr id="4" name="Date Placeholder 3">
            <a:extLst>
              <a:ext uri="{FF2B5EF4-FFF2-40B4-BE49-F238E27FC236}">
                <a16:creationId xmlns:a16="http://schemas.microsoft.com/office/drawing/2014/main" id="{1A6F20B3-8C10-4D6D-BBB5-E8337B254D6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F996A67-03D7-43E1-838B-FF9EDF9658C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95EDBC9-20A6-422F-9B38-32BB0310B335}"/>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C10, Slide </a:t>
            </a:r>
            <a:fld id="{BF5C1183-B085-4070-A402-C03A3F977D3D}" type="slidenum">
              <a:rPr lang="en-US" sz="900" smtClean="0">
                <a:solidFill>
                  <a:schemeClr val="bg1"/>
                </a:solidFill>
                <a:latin typeface="Arial Narrow" panose="020B0606020202030204" pitchFamily="34" charset="0"/>
              </a:rPr>
              <a:pPr algn="r">
                <a:defRPr/>
              </a:pPr>
              <a:t>12</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024427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604B194-C050-423C-BF1E-E2B7653B01E7}"/>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pairplot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sp>
        <p:nvSpPr>
          <p:cNvPr id="9" name="Text Placeholder 8">
            <a:extLst>
              <a:ext uri="{FF2B5EF4-FFF2-40B4-BE49-F238E27FC236}">
                <a16:creationId xmlns:a16="http://schemas.microsoft.com/office/drawing/2014/main" id="{63CE8F28-8D61-4DF7-BD4B-2EE7C4780E15}"/>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sns.pairplot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(data=housing,</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y_vars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=['price','sqft_living','</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sqft_above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x_vars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=['price','sqft_living','</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sqft_above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60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diag_kind</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kde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2" name="Content Placeholder 1" descr="Refer to page 345 in textbook">
            <a:extLst>
              <a:ext uri="{FF2B5EF4-FFF2-40B4-BE49-F238E27FC236}">
                <a16:creationId xmlns:a16="http://schemas.microsoft.com/office/drawing/2014/main" id="{BCA4049B-8C84-42E0-A529-163B3A40EB8C}"/>
              </a:ext>
            </a:extLst>
          </p:cNvPr>
          <p:cNvPicPr>
            <a:picLocks noGrp="1" noChangeAspect="1"/>
          </p:cNvPicPr>
          <p:nvPr>
            <p:ph sz="quarter" idx="13"/>
          </p:nvPr>
        </p:nvPicPr>
        <p:blipFill>
          <a:blip r:embed="rId2"/>
          <a:stretch>
            <a:fillRect/>
          </a:stretch>
        </p:blipFill>
        <p:spPr>
          <a:xfrm>
            <a:off x="1247900" y="2057400"/>
            <a:ext cx="3892060" cy="3962400"/>
          </a:xfrm>
          <a:prstGeom prst="rect">
            <a:avLst/>
          </a:prstGeom>
        </p:spPr>
      </p:pic>
      <p:sp>
        <p:nvSpPr>
          <p:cNvPr id="4" name="Date Placeholder 3">
            <a:extLst>
              <a:ext uri="{FF2B5EF4-FFF2-40B4-BE49-F238E27FC236}">
                <a16:creationId xmlns:a16="http://schemas.microsoft.com/office/drawing/2014/main" id="{1A6F20B3-8C10-4D6D-BBB5-E8337B254D6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F996A67-03D7-43E1-838B-FF9EDF9658C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95EDBC9-20A6-422F-9B38-32BB0310B335}"/>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C10, Slide </a:t>
            </a:r>
            <a:fld id="{BF5C1183-B085-4070-A402-C03A3F977D3D}" type="slidenum">
              <a:rPr lang="en-US" sz="900" smtClean="0">
                <a:solidFill>
                  <a:schemeClr val="bg1"/>
                </a:solidFill>
                <a:latin typeface="Arial Narrow" panose="020B0606020202030204" pitchFamily="34" charset="0"/>
              </a:rPr>
              <a:pPr algn="r">
                <a:defRPr/>
              </a:pPr>
              <a:t>13</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997431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01AFB5C-C76F-483C-9DF9-9C46481FC856}"/>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interpret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r-value</a:t>
            </a:r>
            <a:endParaRPr lang="en-US" dirty="0"/>
          </a:p>
        </p:txBody>
      </p:sp>
      <p:graphicFrame>
        <p:nvGraphicFramePr>
          <p:cNvPr id="10" name="Table Placeholder 9">
            <a:extLst>
              <a:ext uri="{FF2B5EF4-FFF2-40B4-BE49-F238E27FC236}">
                <a16:creationId xmlns:a16="http://schemas.microsoft.com/office/drawing/2014/main" id="{103B125D-0DCD-4AF3-BE56-BD832AF80493}"/>
              </a:ext>
            </a:extLst>
          </p:cNvPr>
          <p:cNvGraphicFramePr>
            <a:graphicFrameLocks noGrp="1"/>
          </p:cNvGraphicFramePr>
          <p:nvPr>
            <p:ph type="tbl" sz="quarter" idx="13"/>
            <p:extLst>
              <p:ext uri="{D42A27DB-BD31-4B8C-83A1-F6EECF244321}">
                <p14:modId xmlns:p14="http://schemas.microsoft.com/office/powerpoint/2010/main" val="3310410268"/>
              </p:ext>
            </p:extLst>
          </p:nvPr>
        </p:nvGraphicFramePr>
        <p:xfrm>
          <a:off x="914400" y="1143000"/>
          <a:ext cx="7315199" cy="2955424"/>
        </p:xfrm>
        <a:graphic>
          <a:graphicData uri="http://schemas.openxmlformats.org/drawingml/2006/table">
            <a:tbl>
              <a:tblPr firstRow="1"/>
              <a:tblGrid>
                <a:gridCol w="1494994">
                  <a:extLst>
                    <a:ext uri="{9D8B030D-6E8A-4147-A177-3AD203B41FA5}">
                      <a16:colId xmlns:a16="http://schemas.microsoft.com/office/drawing/2014/main" val="3275391793"/>
                    </a:ext>
                  </a:extLst>
                </a:gridCol>
                <a:gridCol w="2054190">
                  <a:extLst>
                    <a:ext uri="{9D8B030D-6E8A-4147-A177-3AD203B41FA5}">
                      <a16:colId xmlns:a16="http://schemas.microsoft.com/office/drawing/2014/main" val="3551765290"/>
                    </a:ext>
                  </a:extLst>
                </a:gridCol>
                <a:gridCol w="1654764">
                  <a:extLst>
                    <a:ext uri="{9D8B030D-6E8A-4147-A177-3AD203B41FA5}">
                      <a16:colId xmlns:a16="http://schemas.microsoft.com/office/drawing/2014/main" val="4078777374"/>
                    </a:ext>
                  </a:extLst>
                </a:gridCol>
                <a:gridCol w="2111251">
                  <a:extLst>
                    <a:ext uri="{9D8B030D-6E8A-4147-A177-3AD203B41FA5}">
                      <a16:colId xmlns:a16="http://schemas.microsoft.com/office/drawing/2014/main" val="3589087805"/>
                    </a:ext>
                  </a:extLst>
                </a:gridCol>
              </a:tblGrid>
              <a:tr h="365189">
                <a:tc>
                  <a:txBody>
                    <a:bodyPr/>
                    <a:lstStyle/>
                    <a:p>
                      <a:pPr marL="0" marR="0" algn="ctr">
                        <a:spcBef>
                          <a:spcPts val="600"/>
                        </a:spcBef>
                        <a:spcAft>
                          <a:spcPts val="600"/>
                        </a:spcAft>
                        <a:tabLst>
                          <a:tab pos="1828800" algn="l"/>
                          <a:tab pos="457200" algn="l"/>
                        </a:tabLst>
                      </a:pPr>
                      <a:r>
                        <a:rPr lang="en-US" sz="1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r-value</a:t>
                      </a:r>
                      <a:endPar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473" marR="68473" marT="45649" marB="45649"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1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Correlation type</a:t>
                      </a:r>
                      <a:endPar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473" marR="68473" marT="45649" marB="45649">
                    <a:lnL>
                      <a:noFill/>
                    </a:lnL>
                    <a:lnR>
                      <a:noFill/>
                    </a:lnR>
                    <a:lnT>
                      <a:noFill/>
                    </a:lnT>
                    <a:lnB>
                      <a:noFill/>
                    </a:lnB>
                    <a:solidFill>
                      <a:srgbClr val="3D87B7"/>
                    </a:solidFill>
                  </a:tcPr>
                </a:tc>
                <a:tc>
                  <a:txBody>
                    <a:bodyPr/>
                    <a:lstStyle/>
                    <a:p>
                      <a:pPr marL="0" marR="0" algn="ctr">
                        <a:spcBef>
                          <a:spcPts val="600"/>
                        </a:spcBef>
                        <a:spcAft>
                          <a:spcPts val="600"/>
                        </a:spcAft>
                        <a:tabLst>
                          <a:tab pos="1828800" algn="l"/>
                          <a:tab pos="457200" algn="l"/>
                        </a:tabLst>
                      </a:pPr>
                      <a:r>
                        <a:rPr lang="en-US" sz="1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r-value</a:t>
                      </a:r>
                      <a:endPar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473" marR="68473" marT="45649" marB="45649"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1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Correlation type</a:t>
                      </a:r>
                      <a:endPar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473" marR="68473" marT="45649" marB="45649">
                    <a:lnL>
                      <a:noFill/>
                    </a:lnL>
                    <a:lnR>
                      <a:noFill/>
                    </a:lnR>
                    <a:lnT>
                      <a:noFill/>
                    </a:lnT>
                    <a:lnB>
                      <a:noFill/>
                    </a:lnB>
                    <a:solidFill>
                      <a:srgbClr val="3D87B7"/>
                    </a:solidFill>
                  </a:tcPr>
                </a:tc>
                <a:extLst>
                  <a:ext uri="{0D108BD9-81ED-4DB2-BD59-A6C34878D82A}">
                    <a16:rowId xmlns:a16="http://schemas.microsoft.com/office/drawing/2014/main" val="1225658622"/>
                  </a:ext>
                </a:extLst>
              </a:tr>
              <a:tr h="395622">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1.00</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Perfect positive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-1.00</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Perfect negative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extLst>
                  <a:ext uri="{0D108BD9-81ED-4DB2-BD59-A6C34878D82A}">
                    <a16:rowId xmlns:a16="http://schemas.microsoft.com/office/drawing/2014/main" val="1943008341"/>
                  </a:ext>
                </a:extLst>
              </a:tr>
              <a:tr h="365189">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.90 to .99</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Very strong positive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-.90 to -.99</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Very strong negative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extLst>
                  <a:ext uri="{0D108BD9-81ED-4DB2-BD59-A6C34878D82A}">
                    <a16:rowId xmlns:a16="http://schemas.microsoft.com/office/drawing/2014/main" val="2423898984"/>
                  </a:ext>
                </a:extLst>
              </a:tr>
              <a:tr h="365189">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.70 to .89</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Strong positive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-.70 to -.89</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Strong negative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extLst>
                  <a:ext uri="{0D108BD9-81ED-4DB2-BD59-A6C34878D82A}">
                    <a16:rowId xmlns:a16="http://schemas.microsoft.com/office/drawing/2014/main" val="3694842581"/>
                  </a:ext>
                </a:extLst>
              </a:tr>
              <a:tr h="365189">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.50 to .69</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Moderate positive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-.50 to -.69</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Moderate negative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extLst>
                  <a:ext uri="{0D108BD9-81ED-4DB2-BD59-A6C34878D82A}">
                    <a16:rowId xmlns:a16="http://schemas.microsoft.com/office/drawing/2014/main" val="2452328290"/>
                  </a:ext>
                </a:extLst>
              </a:tr>
              <a:tr h="365189">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.30 to .49</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Weak positive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-.30 to -.49</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Weak negative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extLst>
                  <a:ext uri="{0D108BD9-81ED-4DB2-BD59-A6C34878D82A}">
                    <a16:rowId xmlns:a16="http://schemas.microsoft.com/office/drawing/2014/main" val="1144635658"/>
                  </a:ext>
                </a:extLst>
              </a:tr>
              <a:tr h="365189">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.01 to .30</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Negligible positive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-.01 to -.30</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Negligible negative</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extLst>
                  <a:ext uri="{0D108BD9-81ED-4DB2-BD59-A6C34878D82A}">
                    <a16:rowId xmlns:a16="http://schemas.microsoft.com/office/drawing/2014/main" val="2626827655"/>
                  </a:ext>
                </a:extLst>
              </a:tr>
              <a:tr h="365189">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0.00</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a:solidFill>
                            <a:srgbClr val="000000"/>
                          </a:solidFill>
                          <a:effectLst/>
                          <a:latin typeface="Times New Roman" panose="02020603050405020304" pitchFamily="18" charset="0"/>
                          <a:ea typeface="Times New Roman" panose="02020603050405020304" pitchFamily="18" charset="0"/>
                        </a:rPr>
                        <a:t>No correlation</a:t>
                      </a:r>
                      <a:endParaRPr lang="en-US" sz="200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tc>
                  <a:txBody>
                    <a:bodyPr/>
                    <a:lstStyle/>
                    <a:p>
                      <a:pPr marL="0" marR="0" indent="0" algn="ctr">
                        <a:spcBef>
                          <a:spcPts val="600"/>
                        </a:spcBef>
                        <a:spcAft>
                          <a:spcPts val="600"/>
                        </a:spcAft>
                        <a:tabLst>
                          <a:tab pos="800100" algn="l"/>
                          <a:tab pos="2514600" algn="l"/>
                          <a:tab pos="457200" algn="l"/>
                        </a:tabLst>
                      </a:pPr>
                      <a:r>
                        <a:rPr lang="en-US" sz="1400" b="1">
                          <a:solidFill>
                            <a:srgbClr val="000000"/>
                          </a:solidFill>
                          <a:effectLst/>
                          <a:latin typeface="Consolas" panose="020B0609020204030204" pitchFamily="49" charset="0"/>
                          <a:ea typeface="Times New Roman" panose="02020603050405020304" pitchFamily="18" charset="0"/>
                        </a:rPr>
                        <a:t>0.00</a:t>
                      </a:r>
                      <a:endParaRPr lang="en-US" sz="2000">
                        <a:effectLst/>
                        <a:latin typeface="Times New Roman" panose="02020603050405020304" pitchFamily="18" charset="0"/>
                        <a:ea typeface="Times New Roman" panose="02020603050405020304" pitchFamily="18" charset="0"/>
                      </a:endParaRPr>
                    </a:p>
                  </a:txBody>
                  <a:tcPr marL="68473" marR="68473" marT="45649" marB="45649"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dirty="0">
                          <a:solidFill>
                            <a:srgbClr val="000000"/>
                          </a:solidFill>
                          <a:effectLst/>
                          <a:latin typeface="Times New Roman" panose="02020603050405020304" pitchFamily="18" charset="0"/>
                          <a:ea typeface="Times New Roman" panose="02020603050405020304" pitchFamily="18" charset="0"/>
                        </a:rPr>
                        <a:t>No correlation</a:t>
                      </a:r>
                      <a:endParaRPr lang="en-US" sz="2000" dirty="0">
                        <a:effectLst/>
                        <a:latin typeface="Times New Roman" panose="02020603050405020304" pitchFamily="18" charset="0"/>
                        <a:ea typeface="Times New Roman" panose="02020603050405020304" pitchFamily="18" charset="0"/>
                      </a:endParaRPr>
                    </a:p>
                  </a:txBody>
                  <a:tcPr marL="68473" marR="68473" marT="45649" marB="45649">
                    <a:lnL>
                      <a:noFill/>
                    </a:lnL>
                    <a:lnR>
                      <a:noFill/>
                    </a:lnR>
                    <a:lnT>
                      <a:noFill/>
                    </a:lnT>
                    <a:lnB>
                      <a:noFill/>
                    </a:lnB>
                    <a:solidFill>
                      <a:srgbClr val="DFECF5"/>
                    </a:solidFill>
                  </a:tcPr>
                </a:tc>
                <a:extLst>
                  <a:ext uri="{0D108BD9-81ED-4DB2-BD59-A6C34878D82A}">
                    <a16:rowId xmlns:a16="http://schemas.microsoft.com/office/drawing/2014/main" val="1867331815"/>
                  </a:ext>
                </a:extLst>
              </a:tr>
            </a:tbl>
          </a:graphicData>
        </a:graphic>
      </p:graphicFrame>
      <p:sp>
        <p:nvSpPr>
          <p:cNvPr id="5" name="Date Placeholder 4">
            <a:extLst>
              <a:ext uri="{FF2B5EF4-FFF2-40B4-BE49-F238E27FC236}">
                <a16:creationId xmlns:a16="http://schemas.microsoft.com/office/drawing/2014/main" id="{1DE424B2-9CD9-4D89-9E6C-BF5CC2A0E096}"/>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C2E3E043-B66E-43D3-9CD4-576EE5E32DCF}"/>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C5B5A0D5-A1C2-48F9-B3E7-412E2BDDD56D}"/>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14</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3135707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68B62CF-7C4E-498E-9E2F-5216B9D4F925}"/>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Pandas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corr</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sp>
        <p:nvSpPr>
          <p:cNvPr id="9" name="Text Placeholder 8">
            <a:extLst>
              <a:ext uri="{FF2B5EF4-FFF2-40B4-BE49-F238E27FC236}">
                <a16:creationId xmlns:a16="http://schemas.microsoft.com/office/drawing/2014/main" id="{EEDCA6E1-07EE-4412-9851-7E095D0A9DB9}"/>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housing.corr</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().head()</a:t>
            </a:r>
          </a:p>
          <a:p>
            <a:endParaRPr lang="en-US" sz="1600" dirty="0"/>
          </a:p>
        </p:txBody>
      </p:sp>
      <p:pic>
        <p:nvPicPr>
          <p:cNvPr id="10" name="Content Placeholder 9" descr="Refer to page 347 in textbook">
            <a:extLst>
              <a:ext uri="{FF2B5EF4-FFF2-40B4-BE49-F238E27FC236}">
                <a16:creationId xmlns:a16="http://schemas.microsoft.com/office/drawing/2014/main" id="{CA799926-F29E-4C0D-8D6F-E7A3C17C4FDA}"/>
              </a:ext>
            </a:extLst>
          </p:cNvPr>
          <p:cNvPicPr>
            <a:picLocks noGrp="1" noChangeAspect="1"/>
          </p:cNvPicPr>
          <p:nvPr>
            <p:ph sz="quarter" idx="13"/>
          </p:nvPr>
        </p:nvPicPr>
        <p:blipFill>
          <a:blip r:embed="rId2"/>
          <a:stretch>
            <a:fillRect/>
          </a:stretch>
        </p:blipFill>
        <p:spPr>
          <a:xfrm>
            <a:off x="1258536" y="1496401"/>
            <a:ext cx="6742463" cy="1966293"/>
          </a:xfrm>
          <a:prstGeom prst="rect">
            <a:avLst/>
          </a:prstGeom>
        </p:spPr>
      </p:pic>
      <p:sp>
        <p:nvSpPr>
          <p:cNvPr id="4" name="Date Placeholder 3">
            <a:extLst>
              <a:ext uri="{FF2B5EF4-FFF2-40B4-BE49-F238E27FC236}">
                <a16:creationId xmlns:a16="http://schemas.microsoft.com/office/drawing/2014/main" id="{30F52E39-A3A7-42EC-88C6-69EE2A75DC08}"/>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55AA0535-00DA-4414-B701-ABB5D573ED9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E7A749CF-D13B-4BF3-A3AE-C35A21325DB5}"/>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C10, Slide </a:t>
            </a:r>
            <a:fld id="{BF5C1183-B085-4070-A402-C03A3F977D3D}" type="slidenum">
              <a:rPr lang="en-US" sz="900" smtClean="0">
                <a:solidFill>
                  <a:schemeClr val="bg1"/>
                </a:solidFill>
                <a:latin typeface="Arial Narrow" panose="020B0606020202030204" pitchFamily="34" charset="0"/>
              </a:rPr>
              <a:pPr algn="r">
                <a:defRPr/>
              </a:pPr>
              <a:t>15</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78664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80E9B-A533-443C-9852-EB75A4F1E16D}"/>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filter the results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corr</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sp>
        <p:nvSpPr>
          <p:cNvPr id="3" name="Text Placeholder 2">
            <a:extLst>
              <a:ext uri="{FF2B5EF4-FFF2-40B4-BE49-F238E27FC236}">
                <a16:creationId xmlns:a16="http://schemas.microsoft.com/office/drawing/2014/main" id="{8EB13C9F-3D58-4794-870C-4A88EF047F43}"/>
              </a:ext>
            </a:extLst>
          </p:cNvPr>
          <p:cNvSpPr>
            <a:spLocks noGrp="1"/>
          </p:cNvSpPr>
          <p:nvPr>
            <p:ph type="body" sz="quarter" idx="15"/>
          </p:nvPr>
        </p:nvSpPr>
        <p:spPr>
          <a:xfrm>
            <a:off x="812800" y="1066800"/>
            <a:ext cx="7391400" cy="2213842"/>
          </a:xfrm>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housing.corr</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()[['price']].</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sort_values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(by='price',</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ascending=False)</a:t>
            </a:r>
          </a:p>
          <a:p>
            <a:endParaRPr lang="en-US" sz="1600" dirty="0"/>
          </a:p>
        </p:txBody>
      </p:sp>
      <p:pic>
        <p:nvPicPr>
          <p:cNvPr id="8" name="Content Placeholder 7" descr="Refer to page 347 in textbook">
            <a:extLst>
              <a:ext uri="{FF2B5EF4-FFF2-40B4-BE49-F238E27FC236}">
                <a16:creationId xmlns:a16="http://schemas.microsoft.com/office/drawing/2014/main" id="{D6EE85CC-5145-4E9D-8615-BEFCB4773401}"/>
              </a:ext>
            </a:extLst>
          </p:cNvPr>
          <p:cNvPicPr>
            <a:picLocks noGrp="1" noChangeAspect="1"/>
          </p:cNvPicPr>
          <p:nvPr>
            <p:ph sz="quarter" idx="13"/>
          </p:nvPr>
        </p:nvPicPr>
        <p:blipFill>
          <a:blip r:embed="rId2"/>
          <a:stretch>
            <a:fillRect/>
          </a:stretch>
        </p:blipFill>
        <p:spPr>
          <a:xfrm>
            <a:off x="1259775" y="1680442"/>
            <a:ext cx="1940625" cy="4017653"/>
          </a:xfrm>
          <a:prstGeom prst="rect">
            <a:avLst/>
          </a:prstGeom>
        </p:spPr>
      </p:pic>
      <p:sp>
        <p:nvSpPr>
          <p:cNvPr id="5" name="Date Placeholder 4">
            <a:extLst>
              <a:ext uri="{FF2B5EF4-FFF2-40B4-BE49-F238E27FC236}">
                <a16:creationId xmlns:a16="http://schemas.microsoft.com/office/drawing/2014/main" id="{BA311477-95E9-4C81-813F-8EACF13C573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5831E029-03B8-4F79-B4B9-3460C5730923}"/>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6D6DB625-0067-45F5-BCCA-67CB47AF211F}"/>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16</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535956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CE25227-068F-4616-A869-9627F421174F}"/>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Seaborn heatmap() method</a:t>
            </a:r>
            <a:endParaRPr lang="en-US" dirty="0"/>
          </a:p>
        </p:txBody>
      </p:sp>
      <p:graphicFrame>
        <p:nvGraphicFramePr>
          <p:cNvPr id="12" name="Table Placeholder 11">
            <a:extLst>
              <a:ext uri="{FF2B5EF4-FFF2-40B4-BE49-F238E27FC236}">
                <a16:creationId xmlns:a16="http://schemas.microsoft.com/office/drawing/2014/main" id="{5E4EFFBB-FDCC-4E34-BE31-BA4936A9C9DB}"/>
              </a:ext>
            </a:extLst>
          </p:cNvPr>
          <p:cNvGraphicFramePr>
            <a:graphicFrameLocks noGrp="1"/>
          </p:cNvGraphicFramePr>
          <p:nvPr>
            <p:ph type="tbl" sz="quarter" idx="13"/>
            <p:extLst>
              <p:ext uri="{D42A27DB-BD31-4B8C-83A1-F6EECF244321}">
                <p14:modId xmlns:p14="http://schemas.microsoft.com/office/powerpoint/2010/main" val="1919201809"/>
              </p:ext>
            </p:extLst>
          </p:nvPr>
        </p:nvGraphicFramePr>
        <p:xfrm>
          <a:off x="914400" y="1066800"/>
          <a:ext cx="4297680" cy="792480"/>
        </p:xfrm>
        <a:graphic>
          <a:graphicData uri="http://schemas.openxmlformats.org/drawingml/2006/table">
            <a:tbl>
              <a:tblPr firstRow="1"/>
              <a:tblGrid>
                <a:gridCol w="2068830">
                  <a:extLst>
                    <a:ext uri="{9D8B030D-6E8A-4147-A177-3AD203B41FA5}">
                      <a16:colId xmlns:a16="http://schemas.microsoft.com/office/drawing/2014/main" val="955440946"/>
                    </a:ext>
                  </a:extLst>
                </a:gridCol>
                <a:gridCol w="2228850">
                  <a:extLst>
                    <a:ext uri="{9D8B030D-6E8A-4147-A177-3AD203B41FA5}">
                      <a16:colId xmlns:a16="http://schemas.microsoft.com/office/drawing/2014/main" val="3838395989"/>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1768795909"/>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heatmap(params)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Creates a heatmap.</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414874783"/>
                  </a:ext>
                </a:extLst>
              </a:tr>
            </a:tbl>
          </a:graphicData>
        </a:graphic>
      </p:graphicFrame>
      <p:sp>
        <p:nvSpPr>
          <p:cNvPr id="11" name="Text Placeholder 10">
            <a:extLst>
              <a:ext uri="{FF2B5EF4-FFF2-40B4-BE49-F238E27FC236}">
                <a16:creationId xmlns:a16="http://schemas.microsoft.com/office/drawing/2014/main" id="{B58CAB0A-EBE5-42C4-A53E-0FB43EDE9028}"/>
              </a:ext>
            </a:extLst>
          </p:cNvPr>
          <p:cNvSpPr>
            <a:spLocks noGrp="1"/>
          </p:cNvSpPr>
          <p:nvPr>
            <p:ph type="body" sz="quarter" idx="17"/>
          </p:nvPr>
        </p:nvSpPr>
        <p:spPr>
          <a:xfrm>
            <a:off x="838200" y="19812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heatmap() method</a:t>
            </a:r>
          </a:p>
          <a:p>
            <a:endParaRPr lang="en-US" sz="2400" dirty="0"/>
          </a:p>
        </p:txBody>
      </p:sp>
      <p:graphicFrame>
        <p:nvGraphicFramePr>
          <p:cNvPr id="13" name="Table Placeholder 12">
            <a:extLst>
              <a:ext uri="{FF2B5EF4-FFF2-40B4-BE49-F238E27FC236}">
                <a16:creationId xmlns:a16="http://schemas.microsoft.com/office/drawing/2014/main" id="{DECEF73B-BB3D-42C9-BFB0-D8094030EB01}"/>
              </a:ext>
            </a:extLst>
          </p:cNvPr>
          <p:cNvGraphicFramePr>
            <a:graphicFrameLocks noGrp="1"/>
          </p:cNvGraphicFramePr>
          <p:nvPr>
            <p:ph type="tbl" sz="quarter" idx="14"/>
            <p:extLst>
              <p:ext uri="{D42A27DB-BD31-4B8C-83A1-F6EECF244321}">
                <p14:modId xmlns:p14="http://schemas.microsoft.com/office/powerpoint/2010/main" val="4122929647"/>
              </p:ext>
            </p:extLst>
          </p:nvPr>
        </p:nvGraphicFramePr>
        <p:xfrm>
          <a:off x="914401" y="2438400"/>
          <a:ext cx="6934199" cy="3596640"/>
        </p:xfrm>
        <a:graphic>
          <a:graphicData uri="http://schemas.openxmlformats.org/drawingml/2006/table">
            <a:tbl>
              <a:tblPr firstRow="1"/>
              <a:tblGrid>
                <a:gridCol w="1727961">
                  <a:extLst>
                    <a:ext uri="{9D8B030D-6E8A-4147-A177-3AD203B41FA5}">
                      <a16:colId xmlns:a16="http://schemas.microsoft.com/office/drawing/2014/main" val="1804764746"/>
                    </a:ext>
                  </a:extLst>
                </a:gridCol>
                <a:gridCol w="5206238">
                  <a:extLst>
                    <a:ext uri="{9D8B030D-6E8A-4147-A177-3AD203B41FA5}">
                      <a16:colId xmlns:a16="http://schemas.microsoft.com/office/drawing/2014/main" val="1967269433"/>
                    </a:ext>
                  </a:extLst>
                </a:gridCol>
              </a:tblGrid>
              <a:tr h="153169">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2437690453"/>
                  </a:ext>
                </a:extLst>
              </a:tr>
              <a:tr h="388813">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cmap</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The color map to use. Includes the built-in maps named ‘Reds’, ‘Greens’, ‘Blues’, and so on.</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557681810"/>
                  </a:ext>
                </a:extLst>
              </a:tr>
              <a:tr h="270991">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vmin, vmax</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minimum and maximum value used to determine the color shading.</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563584575"/>
                  </a:ext>
                </a:extLst>
              </a:tr>
              <a:tr h="270991">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annot</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set to True, each cell is annotated with its numeric value.</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811772469"/>
                  </a:ext>
                </a:extLst>
              </a:tr>
              <a:tr h="153169">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cbar</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set to False, the color bar isn’t displayed.</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041096579"/>
                  </a:ext>
                </a:extLst>
              </a:tr>
              <a:tr h="270991">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fmt</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The format string to apply to numbers when they’re annotated.</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851220655"/>
                  </a:ext>
                </a:extLst>
              </a:tr>
            </a:tbl>
          </a:graphicData>
        </a:graphic>
      </p:graphicFrame>
      <p:sp>
        <p:nvSpPr>
          <p:cNvPr id="5" name="Date Placeholder 4">
            <a:extLst>
              <a:ext uri="{FF2B5EF4-FFF2-40B4-BE49-F238E27FC236}">
                <a16:creationId xmlns:a16="http://schemas.microsoft.com/office/drawing/2014/main" id="{BE26A0ED-B4BD-40EF-BECD-7200BADE0755}"/>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6176FB1A-DFD0-494C-82E5-CDCF26D8874D}"/>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3A9075B8-5972-47CE-9872-1E35F34FB233}"/>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17</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585639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80E9B-A533-443C-9852-EB75A4F1E16D}"/>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plot correlation data with a heatmap</a:t>
            </a:r>
            <a:endParaRPr lang="en-US" dirty="0"/>
          </a:p>
        </p:txBody>
      </p:sp>
      <p:sp>
        <p:nvSpPr>
          <p:cNvPr id="3" name="Text Placeholder 2">
            <a:extLst>
              <a:ext uri="{FF2B5EF4-FFF2-40B4-BE49-F238E27FC236}">
                <a16:creationId xmlns:a16="http://schemas.microsoft.com/office/drawing/2014/main" id="{8EB13C9F-3D58-4794-870C-4A88EF047F43}"/>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sns.heatmap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housing.corr</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cmap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='Blues',</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vmin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=-1.0,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vmax</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=1.0)</a:t>
            </a:r>
          </a:p>
          <a:p>
            <a:endParaRPr lang="en-US" sz="1600" dirty="0"/>
          </a:p>
        </p:txBody>
      </p:sp>
      <p:pic>
        <p:nvPicPr>
          <p:cNvPr id="8" name="Content Placeholder 7" descr="Refer to page 349 in textbook">
            <a:extLst>
              <a:ext uri="{FF2B5EF4-FFF2-40B4-BE49-F238E27FC236}">
                <a16:creationId xmlns:a16="http://schemas.microsoft.com/office/drawing/2014/main" id="{5103304D-BADE-49C9-A26C-D8D5AA2F5C20}"/>
              </a:ext>
            </a:extLst>
          </p:cNvPr>
          <p:cNvPicPr>
            <a:picLocks noGrp="1" noChangeAspect="1"/>
          </p:cNvPicPr>
          <p:nvPr>
            <p:ph sz="quarter" idx="13"/>
          </p:nvPr>
        </p:nvPicPr>
        <p:blipFill>
          <a:blip r:embed="rId2"/>
          <a:stretch>
            <a:fillRect/>
          </a:stretch>
        </p:blipFill>
        <p:spPr>
          <a:xfrm>
            <a:off x="1254862" y="1715823"/>
            <a:ext cx="5589126" cy="4079419"/>
          </a:xfrm>
          <a:prstGeom prst="rect">
            <a:avLst/>
          </a:prstGeom>
        </p:spPr>
      </p:pic>
      <p:sp>
        <p:nvSpPr>
          <p:cNvPr id="5" name="Date Placeholder 4">
            <a:extLst>
              <a:ext uri="{FF2B5EF4-FFF2-40B4-BE49-F238E27FC236}">
                <a16:creationId xmlns:a16="http://schemas.microsoft.com/office/drawing/2014/main" id="{BA311477-95E9-4C81-813F-8EACF13C573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5831E029-03B8-4F79-B4B9-3460C5730923}"/>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6D6DB625-0067-45F5-BCCA-67CB47AF211F}"/>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18</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778690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8391F-EE01-452E-8501-3F0C98351766}"/>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condense a heatmap</a:t>
            </a:r>
            <a:endParaRPr lang="en-US" dirty="0"/>
          </a:p>
        </p:txBody>
      </p:sp>
      <p:sp>
        <p:nvSpPr>
          <p:cNvPr id="3" name="Text Placeholder 2">
            <a:extLst>
              <a:ext uri="{FF2B5EF4-FFF2-40B4-BE49-F238E27FC236}">
                <a16:creationId xmlns:a16="http://schemas.microsoft.com/office/drawing/2014/main" id="{C949FEEC-64D1-49B7-AD26-1BC972552F00}"/>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sns.heatmap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housing.corr</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()[['price']].</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sort_values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by='price', ascending=False),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annot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=True,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cmap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='Blues',</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cbar=False,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fmt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=f'.2f')</a:t>
            </a:r>
          </a:p>
          <a:p>
            <a:endParaRPr lang="en-US" sz="1600" dirty="0"/>
          </a:p>
        </p:txBody>
      </p:sp>
      <p:pic>
        <p:nvPicPr>
          <p:cNvPr id="8" name="Content Placeholder 7" descr="Refer to page 349 in textbook">
            <a:extLst>
              <a:ext uri="{FF2B5EF4-FFF2-40B4-BE49-F238E27FC236}">
                <a16:creationId xmlns:a16="http://schemas.microsoft.com/office/drawing/2014/main" id="{12DC4B79-416E-4A52-8DFE-55BAE6DEFE9D}"/>
              </a:ext>
            </a:extLst>
          </p:cNvPr>
          <p:cNvPicPr>
            <a:picLocks noGrp="1" noChangeAspect="1"/>
          </p:cNvPicPr>
          <p:nvPr>
            <p:ph sz="quarter" idx="13"/>
          </p:nvPr>
        </p:nvPicPr>
        <p:blipFill>
          <a:blip r:embed="rId2"/>
          <a:stretch>
            <a:fillRect/>
          </a:stretch>
        </p:blipFill>
        <p:spPr>
          <a:xfrm>
            <a:off x="1259775" y="1981200"/>
            <a:ext cx="6022472" cy="3429000"/>
          </a:xfrm>
          <a:prstGeom prst="rect">
            <a:avLst/>
          </a:prstGeom>
        </p:spPr>
      </p:pic>
      <p:sp>
        <p:nvSpPr>
          <p:cNvPr id="5" name="Date Placeholder 4">
            <a:extLst>
              <a:ext uri="{FF2B5EF4-FFF2-40B4-BE49-F238E27FC236}">
                <a16:creationId xmlns:a16="http://schemas.microsoft.com/office/drawing/2014/main" id="{3285BDBC-71A6-4F13-95A0-27B461BB59B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015B16CF-B7A3-449A-AA0C-018768905FD7}"/>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035D62CD-04FF-4CC7-A138-7FF3CE579178}"/>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19</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272291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D7859E2-D7D0-423A-A684-5C6276C2EB10}"/>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procedure for creating, testing,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and using a regression model</a:t>
            </a:r>
            <a:endParaRPr lang="en-US" dirty="0"/>
          </a:p>
        </p:txBody>
      </p:sp>
      <p:pic>
        <p:nvPicPr>
          <p:cNvPr id="10" name="Content Placeholder 9" descr="Refer to page 351 in textbook">
            <a:extLst>
              <a:ext uri="{FF2B5EF4-FFF2-40B4-BE49-F238E27FC236}">
                <a16:creationId xmlns:a16="http://schemas.microsoft.com/office/drawing/2014/main" id="{9008A868-CDB5-4AC5-8599-9E12F402B3DB}"/>
              </a:ext>
            </a:extLst>
          </p:cNvPr>
          <p:cNvPicPr>
            <a:picLocks noGrp="1" noChangeAspect="1"/>
          </p:cNvPicPr>
          <p:nvPr>
            <p:ph sz="quarter" idx="13"/>
          </p:nvPr>
        </p:nvPicPr>
        <p:blipFill>
          <a:blip r:embed="rId2"/>
          <a:stretch>
            <a:fillRect/>
          </a:stretch>
        </p:blipFill>
        <p:spPr>
          <a:xfrm>
            <a:off x="1295400" y="1340761"/>
            <a:ext cx="6323348" cy="4374239"/>
          </a:xfrm>
          <a:prstGeom prst="rect">
            <a:avLst/>
          </a:prstGeom>
        </p:spPr>
      </p:pic>
      <p:sp>
        <p:nvSpPr>
          <p:cNvPr id="5" name="Date Placeholder 4">
            <a:extLst>
              <a:ext uri="{FF2B5EF4-FFF2-40B4-BE49-F238E27FC236}">
                <a16:creationId xmlns:a16="http://schemas.microsoft.com/office/drawing/2014/main" id="{87C8DCD0-AC47-47DD-B9F4-FF0594C1F7A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22C95C8D-2F30-4785-9EB7-79169500294D}"/>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323DE4DE-DE33-4D87-BB9B-67B16AA7AF6B}"/>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20</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865046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B77607-D757-46C5-B9A4-10C5E84BB78D}"/>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import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sklearn’s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train_test_split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function</a:t>
            </a:r>
            <a:endParaRPr lang="en-US" dirty="0"/>
          </a:p>
        </p:txBody>
      </p:sp>
      <p:sp>
        <p:nvSpPr>
          <p:cNvPr id="10" name="Text Placeholder 9">
            <a:extLst>
              <a:ext uri="{FF2B5EF4-FFF2-40B4-BE49-F238E27FC236}">
                <a16:creationId xmlns:a16="http://schemas.microsoft.com/office/drawing/2014/main" id="{0186224F-7048-46B8-B3EE-BF2105B79E4E}"/>
              </a:ext>
            </a:extLst>
          </p:cNvPr>
          <p:cNvSpPr>
            <a:spLocks noGrp="1"/>
          </p:cNvSpPr>
          <p:nvPr>
            <p:ph type="body" sz="quarter" idx="17"/>
          </p:nvPr>
        </p:nvSpPr>
        <p:spPr>
          <a:xfrm>
            <a:off x="838200" y="1066800"/>
            <a:ext cx="7391400" cy="685800"/>
          </a:xfrm>
        </p:spPr>
        <p:txBody>
          <a:bodyPr/>
          <a:lstStyle/>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from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sklearn.model_selection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import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train_test_split</a:t>
            </a: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train_test_split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function</a:t>
            </a:r>
          </a:p>
          <a:p>
            <a:endParaRPr lang="en-US" sz="1600" dirty="0"/>
          </a:p>
        </p:txBody>
      </p:sp>
      <p:graphicFrame>
        <p:nvGraphicFramePr>
          <p:cNvPr id="11" name="Table Placeholder 10">
            <a:extLst>
              <a:ext uri="{FF2B5EF4-FFF2-40B4-BE49-F238E27FC236}">
                <a16:creationId xmlns:a16="http://schemas.microsoft.com/office/drawing/2014/main" id="{17F18DFE-EA5D-4199-82C7-284FCE7A3CEF}"/>
              </a:ext>
            </a:extLst>
          </p:cNvPr>
          <p:cNvGraphicFramePr>
            <a:graphicFrameLocks noGrp="1"/>
          </p:cNvGraphicFramePr>
          <p:nvPr>
            <p:ph type="tbl" sz="quarter" idx="14"/>
            <p:extLst>
              <p:ext uri="{D42A27DB-BD31-4B8C-83A1-F6EECF244321}">
                <p14:modId xmlns:p14="http://schemas.microsoft.com/office/powerpoint/2010/main" val="3894362258"/>
              </p:ext>
            </p:extLst>
          </p:nvPr>
        </p:nvGraphicFramePr>
        <p:xfrm>
          <a:off x="1219200" y="2057400"/>
          <a:ext cx="7010400" cy="2011680"/>
        </p:xfrm>
        <a:graphic>
          <a:graphicData uri="http://schemas.openxmlformats.org/drawingml/2006/table">
            <a:tbl>
              <a:tblPr firstRow="1"/>
              <a:tblGrid>
                <a:gridCol w="2971800">
                  <a:extLst>
                    <a:ext uri="{9D8B030D-6E8A-4147-A177-3AD203B41FA5}">
                      <a16:colId xmlns:a16="http://schemas.microsoft.com/office/drawing/2014/main" val="264377961"/>
                    </a:ext>
                  </a:extLst>
                </a:gridCol>
                <a:gridCol w="4038600">
                  <a:extLst>
                    <a:ext uri="{9D8B030D-6E8A-4147-A177-3AD203B41FA5}">
                      <a16:colId xmlns:a16="http://schemas.microsoft.com/office/drawing/2014/main" val="1585048117"/>
                    </a:ext>
                  </a:extLst>
                </a:gridCol>
              </a:tblGrid>
              <a:tr h="297055">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Function</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1435004950"/>
                  </a:ext>
                </a:extLst>
              </a:tr>
              <a:tr h="121107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train_test_split</a:t>
                      </a:r>
                      <a:r>
                        <a:rPr lang="en-US" sz="1600" b="1" dirty="0">
                          <a:solidFill>
                            <a:srgbClr val="000000"/>
                          </a:solidFill>
                          <a:effectLst/>
                          <a:latin typeface="Consolas" panose="020B0609020204030204" pitchFamily="49" charset="0"/>
                          <a:ea typeface="Times New Roman" panose="02020603050405020304" pitchFamily="18" charset="0"/>
                        </a:rPr>
                        <a:t>(params)</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Splits a dataset into training and test datasets. Must include one or more positional parameters that identify the data, followed by any optional named parameters.</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394842272"/>
                  </a:ext>
                </a:extLst>
              </a:tr>
            </a:tbl>
          </a:graphicData>
        </a:graphic>
      </p:graphicFrame>
      <p:sp>
        <p:nvSpPr>
          <p:cNvPr id="4" name="Date Placeholder 3">
            <a:extLst>
              <a:ext uri="{FF2B5EF4-FFF2-40B4-BE49-F238E27FC236}">
                <a16:creationId xmlns:a16="http://schemas.microsoft.com/office/drawing/2014/main" id="{8FA1CFD1-E134-4C25-835F-5AD5E9D8CEBC}"/>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D56D891-2FA5-4CA4-82B0-2513CC884FB6}"/>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CBC27E10-5057-47CF-8C7E-51F244488D2C}"/>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21</a:t>
            </a:fld>
            <a:endParaRPr lang="en-US" dirty="0">
              <a:solidFill>
                <a:schemeClr val="bg1"/>
              </a:solidFill>
            </a:endParaRPr>
          </a:p>
        </p:txBody>
      </p:sp>
    </p:spTree>
    <p:extLst>
      <p:ext uri="{BB962C8B-B14F-4D97-AF65-F5344CB8AC3E}">
        <p14:creationId xmlns:p14="http://schemas.microsoft.com/office/powerpoint/2010/main" val="3180273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FA5DD44-5BF7-48A5-8630-02760052D79E}"/>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train_test_split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function</a:t>
            </a:r>
            <a:endParaRPr lang="en-US" dirty="0"/>
          </a:p>
        </p:txBody>
      </p:sp>
      <p:graphicFrame>
        <p:nvGraphicFramePr>
          <p:cNvPr id="11" name="Table Placeholder 10">
            <a:extLst>
              <a:ext uri="{FF2B5EF4-FFF2-40B4-BE49-F238E27FC236}">
                <a16:creationId xmlns:a16="http://schemas.microsoft.com/office/drawing/2014/main" id="{D9D2F471-88C2-4626-AB13-67FEDF62F294}"/>
              </a:ext>
            </a:extLst>
          </p:cNvPr>
          <p:cNvGraphicFramePr>
            <a:graphicFrameLocks noGrp="1"/>
          </p:cNvGraphicFramePr>
          <p:nvPr>
            <p:ph type="tbl" sz="quarter" idx="13"/>
            <p:extLst>
              <p:ext uri="{D42A27DB-BD31-4B8C-83A1-F6EECF244321}">
                <p14:modId xmlns:p14="http://schemas.microsoft.com/office/powerpoint/2010/main" val="3451330536"/>
              </p:ext>
            </p:extLst>
          </p:nvPr>
        </p:nvGraphicFramePr>
        <p:xfrm>
          <a:off x="914400" y="1143000"/>
          <a:ext cx="6869430" cy="3810000"/>
        </p:xfrm>
        <a:graphic>
          <a:graphicData uri="http://schemas.openxmlformats.org/drawingml/2006/table">
            <a:tbl>
              <a:tblPr firstRow="1"/>
              <a:tblGrid>
                <a:gridCol w="1725930">
                  <a:extLst>
                    <a:ext uri="{9D8B030D-6E8A-4147-A177-3AD203B41FA5}">
                      <a16:colId xmlns:a16="http://schemas.microsoft.com/office/drawing/2014/main" val="390962026"/>
                    </a:ext>
                  </a:extLst>
                </a:gridCol>
                <a:gridCol w="5143500">
                  <a:extLst>
                    <a:ext uri="{9D8B030D-6E8A-4147-A177-3AD203B41FA5}">
                      <a16:colId xmlns:a16="http://schemas.microsoft.com/office/drawing/2014/main" val="2904991327"/>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1594570272"/>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test_size</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percentage of the dataset that will make up the test dataset. Should be a float between 0.0 and 1.0. The default is 0.25.</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083630466"/>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train_size</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percentage of the dataset that will make up the training dataset. Should be a float between 0.0 and 1.0.</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794824284"/>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shuffle</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True (the default), the data is shuffled before splitting.</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805827732"/>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random_state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If set to an integer value, the shuffling can be reproduced. Otherwise, the shuffling is random.</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886749145"/>
                  </a:ext>
                </a:extLst>
              </a:tr>
            </a:tbl>
          </a:graphicData>
        </a:graphic>
      </p:graphicFrame>
      <p:sp>
        <p:nvSpPr>
          <p:cNvPr id="4" name="Date Placeholder 3">
            <a:extLst>
              <a:ext uri="{FF2B5EF4-FFF2-40B4-BE49-F238E27FC236}">
                <a16:creationId xmlns:a16="http://schemas.microsoft.com/office/drawing/2014/main" id="{D7DA3584-63E2-4482-9042-1F419722BE74}"/>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CEB107B5-3763-43BC-A63A-F0CDAC4DBD06}"/>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62DDD7C-C738-41A0-9176-89179E3BB58B}"/>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22</a:t>
            </a:fld>
            <a:endParaRPr lang="en-US" dirty="0">
              <a:solidFill>
                <a:schemeClr val="bg1"/>
              </a:solidFill>
            </a:endParaRPr>
          </a:p>
        </p:txBody>
      </p:sp>
    </p:spTree>
    <p:extLst>
      <p:ext uri="{BB962C8B-B14F-4D97-AF65-F5344CB8AC3E}">
        <p14:creationId xmlns:p14="http://schemas.microsoft.com/office/powerpoint/2010/main" val="243818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D2B13F3-4494-4E78-BF5F-65791E414D29}"/>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import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sklearn’s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LinearRegression</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class</a:t>
            </a:r>
            <a:endParaRPr lang="en-US" dirty="0"/>
          </a:p>
        </p:txBody>
      </p:sp>
      <p:sp>
        <p:nvSpPr>
          <p:cNvPr id="10" name="Text Placeholder 9">
            <a:extLst>
              <a:ext uri="{FF2B5EF4-FFF2-40B4-BE49-F238E27FC236}">
                <a16:creationId xmlns:a16="http://schemas.microsoft.com/office/drawing/2014/main" id="{3392DF72-B1D2-4D5C-9AEE-120D1515CC73}"/>
              </a:ext>
            </a:extLst>
          </p:cNvPr>
          <p:cNvSpPr>
            <a:spLocks noGrp="1"/>
          </p:cNvSpPr>
          <p:nvPr>
            <p:ph type="body" sz="quarter" idx="17"/>
          </p:nvPr>
        </p:nvSpPr>
        <p:spPr>
          <a:xfrm>
            <a:off x="838200" y="1066800"/>
            <a:ext cx="7391400" cy="685800"/>
          </a:xfrm>
        </p:spPr>
        <p:txBody>
          <a:bodyPr/>
          <a:lstStyle/>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from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sklearn.linear_model</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import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LinearRegression</a:t>
            </a: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Methods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LinearRegression</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object</a:t>
            </a:r>
          </a:p>
          <a:p>
            <a:endParaRPr lang="en-US" sz="1600" dirty="0"/>
          </a:p>
        </p:txBody>
      </p:sp>
      <p:graphicFrame>
        <p:nvGraphicFramePr>
          <p:cNvPr id="11" name="Table Placeholder 10">
            <a:extLst>
              <a:ext uri="{FF2B5EF4-FFF2-40B4-BE49-F238E27FC236}">
                <a16:creationId xmlns:a16="http://schemas.microsoft.com/office/drawing/2014/main" id="{6E3BB4CC-BEF1-45AE-A108-B28E4FCE8D44}"/>
              </a:ext>
            </a:extLst>
          </p:cNvPr>
          <p:cNvGraphicFramePr>
            <a:graphicFrameLocks noGrp="1"/>
          </p:cNvGraphicFramePr>
          <p:nvPr>
            <p:ph type="tbl" sz="quarter" idx="14"/>
            <p:extLst>
              <p:ext uri="{D42A27DB-BD31-4B8C-83A1-F6EECF244321}">
                <p14:modId xmlns:p14="http://schemas.microsoft.com/office/powerpoint/2010/main" val="2880231153"/>
              </p:ext>
            </p:extLst>
          </p:nvPr>
        </p:nvGraphicFramePr>
        <p:xfrm>
          <a:off x="1219200" y="1996440"/>
          <a:ext cx="6172200" cy="1889760"/>
        </p:xfrm>
        <a:graphic>
          <a:graphicData uri="http://schemas.openxmlformats.org/drawingml/2006/table">
            <a:tbl>
              <a:tblPr firstRow="1"/>
              <a:tblGrid>
                <a:gridCol w="1480876">
                  <a:extLst>
                    <a:ext uri="{9D8B030D-6E8A-4147-A177-3AD203B41FA5}">
                      <a16:colId xmlns:a16="http://schemas.microsoft.com/office/drawing/2014/main" val="3439669147"/>
                    </a:ext>
                  </a:extLst>
                </a:gridCol>
                <a:gridCol w="4691324">
                  <a:extLst>
                    <a:ext uri="{9D8B030D-6E8A-4147-A177-3AD203B41FA5}">
                      <a16:colId xmlns:a16="http://schemas.microsoft.com/office/drawing/2014/main" val="2148795238"/>
                    </a:ext>
                  </a:extLst>
                </a:gridCol>
              </a:tblGrid>
              <a:tr h="31622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2806871369"/>
                  </a:ext>
                </a:extLst>
              </a:tr>
              <a:tr h="559466">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fit(x,y)</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Fits the linear regression model using a sample of x and y values.</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726044619"/>
                  </a:ext>
                </a:extLst>
              </a:tr>
              <a:tr h="31622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score(x,y)</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Returns the R</a:t>
                      </a:r>
                      <a:r>
                        <a:rPr lang="en-US" sz="2000" baseline="30000" dirty="0">
                          <a:solidFill>
                            <a:srgbClr val="000000"/>
                          </a:solidFill>
                          <a:effectLst/>
                          <a:latin typeface="Times New Roman" panose="02020603050405020304" pitchFamily="18" charset="0"/>
                          <a:ea typeface="Times New Roman" panose="02020603050405020304" pitchFamily="18" charset="0"/>
                        </a:rPr>
                        <a:t>2</a:t>
                      </a:r>
                      <a:r>
                        <a:rPr lang="en-US" sz="2000" dirty="0">
                          <a:solidFill>
                            <a:srgbClr val="000000"/>
                          </a:solidFill>
                          <a:effectLst/>
                          <a:latin typeface="Times New Roman" panose="02020603050405020304" pitchFamily="18" charset="0"/>
                          <a:ea typeface="Times New Roman" panose="02020603050405020304" pitchFamily="18" charset="0"/>
                        </a:rPr>
                        <a:t> value for the prediction.</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113413903"/>
                  </a:ext>
                </a:extLst>
              </a:tr>
              <a:tr h="31622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predict(x)</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Predicts the y values given a set of x values.</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4101297867"/>
                  </a:ext>
                </a:extLst>
              </a:tr>
            </a:tbl>
          </a:graphicData>
        </a:graphic>
      </p:graphicFrame>
      <p:sp>
        <p:nvSpPr>
          <p:cNvPr id="4" name="Date Placeholder 3">
            <a:extLst>
              <a:ext uri="{FF2B5EF4-FFF2-40B4-BE49-F238E27FC236}">
                <a16:creationId xmlns:a16="http://schemas.microsoft.com/office/drawing/2014/main" id="{DBD1AEC2-613D-4753-AE09-9071B222A1EA}"/>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A0839593-EBDF-4644-B8EE-4CCFFE40D404}"/>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91D30100-E971-4372-A264-DBC213DE4005}"/>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23</a:t>
            </a:fld>
            <a:endParaRPr lang="en-US" dirty="0">
              <a:solidFill>
                <a:schemeClr val="bg1"/>
              </a:solidFill>
            </a:endParaRPr>
          </a:p>
        </p:txBody>
      </p:sp>
    </p:spTree>
    <p:extLst>
      <p:ext uri="{BB962C8B-B14F-4D97-AF65-F5344CB8AC3E}">
        <p14:creationId xmlns:p14="http://schemas.microsoft.com/office/powerpoint/2010/main" val="783617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B204D09-54DA-4722-831C-ABE12C554DA2}"/>
              </a:ext>
            </a:extLst>
          </p:cNvPr>
          <p:cNvSpPr>
            <a:spLocks noGrp="1"/>
          </p:cNvSpPr>
          <p:nvPr>
            <p:ph type="title"/>
          </p:nvPr>
        </p:nvSpPr>
        <p:spPr>
          <a:xfrm>
            <a:off x="914400" y="625989"/>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create, validate, and use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linear regression model</a:t>
            </a:r>
            <a:endParaRPr lang="en-US" dirty="0"/>
          </a:p>
        </p:txBody>
      </p:sp>
      <p:sp>
        <p:nvSpPr>
          <p:cNvPr id="12" name="Text Placeholder 11">
            <a:extLst>
              <a:ext uri="{FF2B5EF4-FFF2-40B4-BE49-F238E27FC236}">
                <a16:creationId xmlns:a16="http://schemas.microsoft.com/office/drawing/2014/main" id="{E3EFF047-E874-41BE-94C8-AFEAF6020977}"/>
              </a:ext>
            </a:extLst>
          </p:cNvPr>
          <p:cNvSpPr>
            <a:spLocks noGrp="1"/>
          </p:cNvSpPr>
          <p:nvPr>
            <p:ph type="body" sz="quarter" idx="13"/>
          </p:nvPr>
        </p:nvSpPr>
        <p:spPr>
          <a:xfrm>
            <a:off x="838200" y="1371600"/>
            <a:ext cx="7391400" cy="4495800"/>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Import the function and class that you need </a:t>
            </a:r>
            <a:b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from Scikit-learn</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from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sklearn.model_selection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import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train_test_split</a:t>
            </a: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from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sklearn.linear_model</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import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LinearRegression</a:t>
            </a: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Step 1: Split the data into the training and test datasets</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x_train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x_test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y_train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y_test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train_test_split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housing[['</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sqft_living</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housing[['price']],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test_size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=0.33,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random_state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=42)</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Step 2: Create the model from the training dataset</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linearModel</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LinearRegression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linearModel.fit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x_train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y_train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Step 3: Validate the model with the test dataset</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linearModel.score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x_test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y_test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0.35072654653322344</a:t>
            </a:r>
          </a:p>
          <a:p>
            <a:endParaRPr lang="en-US" sz="1600" dirty="0"/>
          </a:p>
        </p:txBody>
      </p:sp>
      <p:sp>
        <p:nvSpPr>
          <p:cNvPr id="4" name="Date Placeholder 3">
            <a:extLst>
              <a:ext uri="{FF2B5EF4-FFF2-40B4-BE49-F238E27FC236}">
                <a16:creationId xmlns:a16="http://schemas.microsoft.com/office/drawing/2014/main" id="{24678E42-359D-45F5-8B61-50A7DAAB3A9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44E3E08-1B16-4488-ADA8-48B1A7A5A8D8}"/>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66E63C94-8C75-4D2F-BC01-408E8763AFDB}"/>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24</a:t>
            </a:fld>
            <a:endParaRPr lang="en-US" dirty="0">
              <a:solidFill>
                <a:schemeClr val="bg1"/>
              </a:solidFill>
            </a:endParaRPr>
          </a:p>
        </p:txBody>
      </p:sp>
    </p:spTree>
    <p:extLst>
      <p:ext uri="{BB962C8B-B14F-4D97-AF65-F5344CB8AC3E}">
        <p14:creationId xmlns:p14="http://schemas.microsoft.com/office/powerpoint/2010/main" val="171923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E33FAD-573A-464A-BBEC-EB4B9BCEC778}"/>
              </a:ext>
            </a:extLst>
          </p:cNvPr>
          <p:cNvSpPr>
            <a:spLocks noGrp="1"/>
          </p:cNvSpPr>
          <p:nvPr>
            <p:ph type="title"/>
          </p:nvPr>
        </p:nvSpPr>
        <p:spPr>
          <a:xfrm>
            <a:off x="914400" y="625989"/>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create, validate, and use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linear regression model (continued)</a:t>
            </a:r>
            <a:endParaRPr lang="en-US" dirty="0"/>
          </a:p>
        </p:txBody>
      </p:sp>
      <p:sp>
        <p:nvSpPr>
          <p:cNvPr id="8" name="Text Placeholder 7">
            <a:extLst>
              <a:ext uri="{FF2B5EF4-FFF2-40B4-BE49-F238E27FC236}">
                <a16:creationId xmlns:a16="http://schemas.microsoft.com/office/drawing/2014/main" id="{117DA35B-9709-4A04-8EA0-0CD9078685A6}"/>
              </a:ext>
            </a:extLst>
          </p:cNvPr>
          <p:cNvSpPr>
            <a:spLocks noGrp="1"/>
          </p:cNvSpPr>
          <p:nvPr>
            <p:ph type="body" sz="quarter" idx="13"/>
          </p:nvPr>
        </p:nvSpPr>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Step 4: Use the model to make predictions</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y_predicted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linearModel.predict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x_test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y_predicted</a:t>
            </a: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array([[355333.11742787],</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[545363.47687159],</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[466838.5349527 ],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[325493.63949869],</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[415012.07328623],</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[394595.58838732]])</a:t>
            </a:r>
          </a:p>
          <a:p>
            <a:endParaRPr lang="en-US" sz="1600" dirty="0"/>
          </a:p>
        </p:txBody>
      </p:sp>
      <p:sp>
        <p:nvSpPr>
          <p:cNvPr id="4" name="Date Placeholder 3">
            <a:extLst>
              <a:ext uri="{FF2B5EF4-FFF2-40B4-BE49-F238E27FC236}">
                <a16:creationId xmlns:a16="http://schemas.microsoft.com/office/drawing/2014/main" id="{C9C73590-3AC4-433F-90FD-961EB06F6415}"/>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456770F7-A8A5-446C-94ED-C8BB70FB9ABB}"/>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8D21E706-7B02-4E0B-83A6-78BD31204A58}"/>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25</a:t>
            </a:fld>
            <a:endParaRPr lang="en-US" dirty="0">
              <a:solidFill>
                <a:schemeClr val="bg1"/>
              </a:solidFill>
            </a:endParaRPr>
          </a:p>
        </p:txBody>
      </p:sp>
    </p:spTree>
    <p:extLst>
      <p:ext uri="{BB962C8B-B14F-4D97-AF65-F5344CB8AC3E}">
        <p14:creationId xmlns:p14="http://schemas.microsoft.com/office/powerpoint/2010/main" val="4095657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1036E6-C6F6-44F7-8FC6-2ED351760E2B}"/>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predicted prices vs. the test prices</a:t>
            </a:r>
            <a:endParaRPr lang="en-US" dirty="0"/>
          </a:p>
        </p:txBody>
      </p:sp>
      <p:pic>
        <p:nvPicPr>
          <p:cNvPr id="9" name="Content Placeholder 8" descr="Refer to page 355 in textbook">
            <a:extLst>
              <a:ext uri="{FF2B5EF4-FFF2-40B4-BE49-F238E27FC236}">
                <a16:creationId xmlns:a16="http://schemas.microsoft.com/office/drawing/2014/main" id="{0C47CCF2-BA76-46A9-88DB-E3237EF1D26D}"/>
              </a:ext>
            </a:extLst>
          </p:cNvPr>
          <p:cNvPicPr>
            <a:picLocks noGrp="1" noChangeAspect="1"/>
          </p:cNvPicPr>
          <p:nvPr>
            <p:ph sz="quarter" idx="13"/>
          </p:nvPr>
        </p:nvPicPr>
        <p:blipFill>
          <a:blip r:embed="rId2"/>
          <a:stretch>
            <a:fillRect/>
          </a:stretch>
        </p:blipFill>
        <p:spPr>
          <a:xfrm>
            <a:off x="1447800" y="1143000"/>
            <a:ext cx="3657600" cy="4693316"/>
          </a:xfrm>
          <a:prstGeom prst="rect">
            <a:avLst/>
          </a:prstGeom>
        </p:spPr>
      </p:pic>
      <p:sp>
        <p:nvSpPr>
          <p:cNvPr id="4" name="Date Placeholder 3">
            <a:extLst>
              <a:ext uri="{FF2B5EF4-FFF2-40B4-BE49-F238E27FC236}">
                <a16:creationId xmlns:a16="http://schemas.microsoft.com/office/drawing/2014/main" id="{084C968F-4D13-4A04-82CB-797076FD3C7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6005E0D5-71CC-4962-B9BD-F90CDF3E48B1}"/>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71400629-7AB4-47F4-9922-AF5EABABF4F3}"/>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26</a:t>
            </a:fld>
            <a:endParaRPr lang="en-US" dirty="0">
              <a:solidFill>
                <a:schemeClr val="bg1"/>
              </a:solidFill>
            </a:endParaRPr>
          </a:p>
        </p:txBody>
      </p:sp>
    </p:spTree>
    <p:extLst>
      <p:ext uri="{BB962C8B-B14F-4D97-AF65-F5344CB8AC3E}">
        <p14:creationId xmlns:p14="http://schemas.microsoft.com/office/powerpoint/2010/main" val="3184014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A53B21-21B0-4A56-B755-ED436D518B43}"/>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prepare the data for plotting</a:t>
            </a:r>
            <a:endParaRPr lang="en-US" dirty="0"/>
          </a:p>
        </p:txBody>
      </p:sp>
      <p:sp>
        <p:nvSpPr>
          <p:cNvPr id="8" name="Text Placeholder 7">
            <a:extLst>
              <a:ext uri="{FF2B5EF4-FFF2-40B4-BE49-F238E27FC236}">
                <a16:creationId xmlns:a16="http://schemas.microsoft.com/office/drawing/2014/main" id="{75F77199-7990-43ED-9D77-7B020BDFB720}"/>
              </a:ext>
            </a:extLst>
          </p:cNvPr>
          <p:cNvSpPr>
            <a:spLocks noGrp="1"/>
          </p:cNvSpPr>
          <p:nvPr>
            <p:ph type="body" sz="quarter" idx="13"/>
          </p:nvPr>
        </p:nvSpPr>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Step 1: Put the predicted values in a </a:t>
            </a:r>
            <a:r>
              <a:rPr lang="en-US" b="1" spc="-10"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DataFrame</a:t>
            </a:r>
            <a:endPar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predicted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pd.DataFrame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y_predicted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columns=['</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price_predicted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Step 2: Combine the test data and the predicted data</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combined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predicted.join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x_test.reset_index</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(drop=True),</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y_test.reset_index</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(drop=True)])</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Step 3: Melt the price and </a:t>
            </a:r>
            <a:r>
              <a:rPr lang="en-US" b="1" spc="-10"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price_predicted</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columns </a:t>
            </a:r>
            <a:b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into a single column</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melted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pd.melt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(combined,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id_vars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sqft_living</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value_vars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=['price','</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price_predicted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var_name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price_type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value_name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price_value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sp>
        <p:nvSpPr>
          <p:cNvPr id="4" name="Date Placeholder 3">
            <a:extLst>
              <a:ext uri="{FF2B5EF4-FFF2-40B4-BE49-F238E27FC236}">
                <a16:creationId xmlns:a16="http://schemas.microsoft.com/office/drawing/2014/main" id="{A732F4BC-262F-4A1C-B330-8681AF68BD0F}"/>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F55599E4-5370-440A-8CEF-345141260531}"/>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B05D821-FADB-479C-9833-4834E72A0FDA}"/>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27</a:t>
            </a:fld>
            <a:endParaRPr lang="en-US" dirty="0">
              <a:solidFill>
                <a:schemeClr val="bg1"/>
              </a:solidFill>
            </a:endParaRPr>
          </a:p>
        </p:txBody>
      </p:sp>
    </p:spTree>
    <p:extLst>
      <p:ext uri="{BB962C8B-B14F-4D97-AF65-F5344CB8AC3E}">
        <p14:creationId xmlns:p14="http://schemas.microsoft.com/office/powerpoint/2010/main" val="3808536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593DE04-F44E-4742-847A-2B2D6459F0A7}"/>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DataFrame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with the prepared data</a:t>
            </a:r>
            <a:endParaRPr lang="en-US" dirty="0"/>
          </a:p>
        </p:txBody>
      </p:sp>
      <p:sp>
        <p:nvSpPr>
          <p:cNvPr id="9" name="Text Placeholder 8">
            <a:extLst>
              <a:ext uri="{FF2B5EF4-FFF2-40B4-BE49-F238E27FC236}">
                <a16:creationId xmlns:a16="http://schemas.microsoft.com/office/drawing/2014/main" id="{95D28349-0B48-4AFF-B34B-2693C5B6BCE0}"/>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melted.head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10" name="Content Placeholder 9" descr="Refer to page 357 in textbook">
            <a:extLst>
              <a:ext uri="{FF2B5EF4-FFF2-40B4-BE49-F238E27FC236}">
                <a16:creationId xmlns:a16="http://schemas.microsoft.com/office/drawing/2014/main" id="{3500547A-66B4-4746-9437-0D23AC673F3E}"/>
              </a:ext>
            </a:extLst>
          </p:cNvPr>
          <p:cNvPicPr>
            <a:picLocks noGrp="1" noChangeAspect="1"/>
          </p:cNvPicPr>
          <p:nvPr>
            <p:ph sz="quarter" idx="13"/>
          </p:nvPr>
        </p:nvPicPr>
        <p:blipFill>
          <a:blip r:embed="rId2"/>
          <a:stretch>
            <a:fillRect/>
          </a:stretch>
        </p:blipFill>
        <p:spPr>
          <a:xfrm>
            <a:off x="1257237" y="1447627"/>
            <a:ext cx="3626629" cy="2518493"/>
          </a:xfrm>
          <a:prstGeom prst="rect">
            <a:avLst/>
          </a:prstGeom>
        </p:spPr>
      </p:pic>
      <p:sp>
        <p:nvSpPr>
          <p:cNvPr id="4" name="Date Placeholder 3">
            <a:extLst>
              <a:ext uri="{FF2B5EF4-FFF2-40B4-BE49-F238E27FC236}">
                <a16:creationId xmlns:a16="http://schemas.microsoft.com/office/drawing/2014/main" id="{B48C3BE3-2C06-4069-9D3F-1A30F0F17821}"/>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744EBCEE-DC75-4755-B84A-90E88E1A5BEF}"/>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6D478DA-ECA3-4FA6-AC15-82CE8798B210}"/>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C10, Slide </a:t>
            </a:r>
            <a:fld id="{BF5C1183-B085-4070-A402-C03A3F977D3D}" type="slidenum">
              <a:rPr lang="en-US" sz="900" smtClean="0">
                <a:solidFill>
                  <a:schemeClr val="bg1"/>
                </a:solidFill>
                <a:latin typeface="Arial Narrow" panose="020B0606020202030204" pitchFamily="34" charset="0"/>
              </a:rPr>
              <a:pPr algn="r">
                <a:defRPr/>
              </a:pPr>
              <a:t>28</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734531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4ABAD-D450-451C-AFA3-C84470C4F1E6}"/>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plot the test and training data</a:t>
            </a:r>
            <a:endParaRPr lang="en-US" dirty="0"/>
          </a:p>
        </p:txBody>
      </p:sp>
      <p:sp>
        <p:nvSpPr>
          <p:cNvPr id="3" name="Text Placeholder 2">
            <a:extLst>
              <a:ext uri="{FF2B5EF4-FFF2-40B4-BE49-F238E27FC236}">
                <a16:creationId xmlns:a16="http://schemas.microsoft.com/office/drawing/2014/main" id="{28BD94BB-FAB1-427D-AED4-62B375BD201F}"/>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sns.relplot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(data=melted, x='</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sqft_living</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y='</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price_value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hue='</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price_type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8" name="Content Placeholder 7" descr="Refer to page 357 in textbook">
            <a:extLst>
              <a:ext uri="{FF2B5EF4-FFF2-40B4-BE49-F238E27FC236}">
                <a16:creationId xmlns:a16="http://schemas.microsoft.com/office/drawing/2014/main" id="{4CC14650-FBB3-4CBF-AF8A-3D208EFB94AE}"/>
              </a:ext>
            </a:extLst>
          </p:cNvPr>
          <p:cNvPicPr>
            <a:picLocks noGrp="1" noChangeAspect="1"/>
          </p:cNvPicPr>
          <p:nvPr>
            <p:ph sz="quarter" idx="13"/>
          </p:nvPr>
        </p:nvPicPr>
        <p:blipFill>
          <a:blip r:embed="rId2"/>
          <a:stretch>
            <a:fillRect/>
          </a:stretch>
        </p:blipFill>
        <p:spPr>
          <a:xfrm>
            <a:off x="1262882" y="1752600"/>
            <a:ext cx="5366518" cy="4133906"/>
          </a:xfrm>
          <a:prstGeom prst="rect">
            <a:avLst/>
          </a:prstGeom>
        </p:spPr>
      </p:pic>
      <p:sp>
        <p:nvSpPr>
          <p:cNvPr id="5" name="Date Placeholder 4">
            <a:extLst>
              <a:ext uri="{FF2B5EF4-FFF2-40B4-BE49-F238E27FC236}">
                <a16:creationId xmlns:a16="http://schemas.microsoft.com/office/drawing/2014/main" id="{B17302B5-7201-4F90-ABAA-0B881A8E529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237AB642-609E-45BB-9918-253891290149}"/>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4114408C-3C22-4F82-9B1A-4C3AD66FFCFE}"/>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29</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3420762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8A1B4-7DFD-4A83-86D4-C0AA244924C9}"/>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calculate residuals</a:t>
            </a:r>
            <a:endParaRPr lang="en-US" dirty="0"/>
          </a:p>
        </p:txBody>
      </p:sp>
      <p:sp>
        <p:nvSpPr>
          <p:cNvPr id="3" name="Text Placeholder 2">
            <a:extLst>
              <a:ext uri="{FF2B5EF4-FFF2-40B4-BE49-F238E27FC236}">
                <a16:creationId xmlns:a16="http://schemas.microsoft.com/office/drawing/2014/main" id="{8245C1BB-4479-40BA-817E-299E71C185F1}"/>
              </a:ext>
            </a:extLst>
          </p:cNvPr>
          <p:cNvSpPr>
            <a:spLocks noGrp="1"/>
          </p:cNvSpPr>
          <p:nvPr>
            <p:ph type="body" sz="quarter" idx="15"/>
          </p:nvPr>
        </p:nvSpPr>
        <p:spPr>
          <a:xfrm>
            <a:off x="812800" y="1062758"/>
            <a:ext cx="7721600" cy="2213842"/>
          </a:xfrm>
        </p:spPr>
        <p:txBody>
          <a:bodyPr/>
          <a:lstStyle/>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combined['residual'] = combined['price'] – combined['</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price_predicted</a:t>
            </a:r>
            <a:r>
              <a:rPr lang="en-US" sz="1400" b="1" dirty="0">
                <a:latin typeface="Consolas" panose="020B0609020204030204" pitchFamily="49" charset="0"/>
                <a:ea typeface="Times New Roman" panose="02020603050405020304" pitchFamily="18" charset="0"/>
                <a:cs typeface="Times New Roman" panose="02020603050405020304" pitchFamily="18" charset="0"/>
              </a:rPr>
              <a: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60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combined.head</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400" dirty="0"/>
          </a:p>
        </p:txBody>
      </p:sp>
      <p:pic>
        <p:nvPicPr>
          <p:cNvPr id="8" name="Content Placeholder 7" descr="Refer to page 359 in textbook">
            <a:extLst>
              <a:ext uri="{FF2B5EF4-FFF2-40B4-BE49-F238E27FC236}">
                <a16:creationId xmlns:a16="http://schemas.microsoft.com/office/drawing/2014/main" id="{4FA8EE22-3EB7-47B0-9502-7540D73B57B4}"/>
              </a:ext>
            </a:extLst>
          </p:cNvPr>
          <p:cNvPicPr>
            <a:picLocks noGrp="1" noChangeAspect="1"/>
          </p:cNvPicPr>
          <p:nvPr>
            <p:ph sz="quarter" idx="13"/>
          </p:nvPr>
        </p:nvPicPr>
        <p:blipFill>
          <a:blip r:embed="rId2"/>
          <a:stretch>
            <a:fillRect/>
          </a:stretch>
        </p:blipFill>
        <p:spPr>
          <a:xfrm>
            <a:off x="1143000" y="1847772"/>
            <a:ext cx="4531426" cy="2118349"/>
          </a:xfrm>
          <a:prstGeom prst="rect">
            <a:avLst/>
          </a:prstGeom>
        </p:spPr>
      </p:pic>
      <p:sp>
        <p:nvSpPr>
          <p:cNvPr id="5" name="Date Placeholder 4">
            <a:extLst>
              <a:ext uri="{FF2B5EF4-FFF2-40B4-BE49-F238E27FC236}">
                <a16:creationId xmlns:a16="http://schemas.microsoft.com/office/drawing/2014/main" id="{15A9A65D-D9DE-44F3-9B5A-03EFC5A0370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AB3C7499-16F0-4FFB-97A4-2187E9129AA6}"/>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3C01951B-1EE4-4571-AB08-0E4AC8214D9F}"/>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30</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60725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6788E-8121-466A-BBCE-1FB32979941A}"/>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plot the residuals</a:t>
            </a:r>
            <a:endParaRPr lang="en-US" dirty="0"/>
          </a:p>
        </p:txBody>
      </p:sp>
      <p:sp>
        <p:nvSpPr>
          <p:cNvPr id="3" name="Text Placeholder 2">
            <a:extLst>
              <a:ext uri="{FF2B5EF4-FFF2-40B4-BE49-F238E27FC236}">
                <a16:creationId xmlns:a16="http://schemas.microsoft.com/office/drawing/2014/main" id="{3BA7FAA0-9DED-4DE2-BCF3-471EC418E50B}"/>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g =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sns.relplot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(data=combined, x='</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sqft_living</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y='residual')</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draw a horizontal line where the y axis is 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for ax in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g.axes.flat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60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ax.axhline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(0, ls='--')    # use dashed line style</a:t>
            </a:r>
          </a:p>
          <a:p>
            <a:endParaRPr lang="en-US" sz="1600" dirty="0"/>
          </a:p>
        </p:txBody>
      </p:sp>
      <p:pic>
        <p:nvPicPr>
          <p:cNvPr id="8" name="Content Placeholder 7" descr="Refer to page 359 in textbook">
            <a:extLst>
              <a:ext uri="{FF2B5EF4-FFF2-40B4-BE49-F238E27FC236}">
                <a16:creationId xmlns:a16="http://schemas.microsoft.com/office/drawing/2014/main" id="{C5A501D4-185C-478F-9314-85DA387C6485}"/>
              </a:ext>
            </a:extLst>
          </p:cNvPr>
          <p:cNvPicPr>
            <a:picLocks noGrp="1" noChangeAspect="1"/>
          </p:cNvPicPr>
          <p:nvPr>
            <p:ph sz="quarter" idx="13"/>
          </p:nvPr>
        </p:nvPicPr>
        <p:blipFill>
          <a:blip r:embed="rId2"/>
          <a:stretch>
            <a:fillRect/>
          </a:stretch>
        </p:blipFill>
        <p:spPr>
          <a:xfrm>
            <a:off x="1259774" y="2286000"/>
            <a:ext cx="3845625" cy="3794350"/>
          </a:xfrm>
          <a:prstGeom prst="rect">
            <a:avLst/>
          </a:prstGeom>
        </p:spPr>
      </p:pic>
      <p:sp>
        <p:nvSpPr>
          <p:cNvPr id="5" name="Date Placeholder 4">
            <a:extLst>
              <a:ext uri="{FF2B5EF4-FFF2-40B4-BE49-F238E27FC236}">
                <a16:creationId xmlns:a16="http://schemas.microsoft.com/office/drawing/2014/main" id="{016ECACB-662C-4FC4-A06B-2F884CC5FFAF}"/>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AF00E0F1-0C04-4301-AA9E-B24E34709FBC}"/>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0160DF46-8F08-4731-BDAC-E88B42B25A4E}"/>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31</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206872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28F1225-0901-4A83-A7C3-73B5632A737B}"/>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Types of linear regressions</a:t>
            </a:r>
            <a:endParaRPr lang="en-US" dirty="0"/>
          </a:p>
        </p:txBody>
      </p:sp>
      <p:graphicFrame>
        <p:nvGraphicFramePr>
          <p:cNvPr id="10" name="Table Placeholder 9">
            <a:extLst>
              <a:ext uri="{FF2B5EF4-FFF2-40B4-BE49-F238E27FC236}">
                <a16:creationId xmlns:a16="http://schemas.microsoft.com/office/drawing/2014/main" id="{0D763E20-8CFB-4996-82CE-2023704C1F14}"/>
              </a:ext>
            </a:extLst>
          </p:cNvPr>
          <p:cNvGraphicFramePr>
            <a:graphicFrameLocks noGrp="1"/>
          </p:cNvGraphicFramePr>
          <p:nvPr>
            <p:ph type="tbl" sz="quarter" idx="13"/>
            <p:extLst>
              <p:ext uri="{D42A27DB-BD31-4B8C-83A1-F6EECF244321}">
                <p14:modId xmlns:p14="http://schemas.microsoft.com/office/powerpoint/2010/main" val="3201052914"/>
              </p:ext>
            </p:extLst>
          </p:nvPr>
        </p:nvGraphicFramePr>
        <p:xfrm>
          <a:off x="914400" y="1135180"/>
          <a:ext cx="6821855" cy="4587640"/>
        </p:xfrm>
        <a:graphic>
          <a:graphicData uri="http://schemas.openxmlformats.org/drawingml/2006/table">
            <a:tbl>
              <a:tblPr firstRow="1"/>
              <a:tblGrid>
                <a:gridCol w="1685925">
                  <a:extLst>
                    <a:ext uri="{9D8B030D-6E8A-4147-A177-3AD203B41FA5}">
                      <a16:colId xmlns:a16="http://schemas.microsoft.com/office/drawing/2014/main" val="3357273968"/>
                    </a:ext>
                  </a:extLst>
                </a:gridCol>
                <a:gridCol w="5135930">
                  <a:extLst>
                    <a:ext uri="{9D8B030D-6E8A-4147-A177-3AD203B41FA5}">
                      <a16:colId xmlns:a16="http://schemas.microsoft.com/office/drawing/2014/main" val="3019996062"/>
                    </a:ext>
                  </a:extLst>
                </a:gridCol>
              </a:tblGrid>
              <a:tr h="387056">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Type</a:t>
                      </a:r>
                    </a:p>
                  </a:txBody>
                  <a:tcPr marL="66990" marR="66990" marT="44660" marB="4466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66990" marR="66990" marT="44660" marB="44660">
                    <a:lnL>
                      <a:noFill/>
                    </a:lnL>
                    <a:lnR>
                      <a:noFill/>
                    </a:lnR>
                    <a:lnT>
                      <a:noFill/>
                    </a:lnT>
                    <a:lnB>
                      <a:noFill/>
                    </a:lnB>
                    <a:solidFill>
                      <a:srgbClr val="3D87B7"/>
                    </a:solidFill>
                  </a:tcPr>
                </a:tc>
                <a:extLst>
                  <a:ext uri="{0D108BD9-81ED-4DB2-BD59-A6C34878D82A}">
                    <a16:rowId xmlns:a16="http://schemas.microsoft.com/office/drawing/2014/main" val="4233057558"/>
                  </a:ext>
                </a:extLst>
              </a:tr>
              <a:tr h="684791">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simple</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Fits a straight line to a dataset using one variable as a predictor as shown earlier in this chapter.</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extLst>
                  <a:ext uri="{0D108BD9-81ED-4DB2-BD59-A6C34878D82A}">
                    <a16:rowId xmlns:a16="http://schemas.microsoft.com/office/drawing/2014/main" val="2985177823"/>
                  </a:ext>
                </a:extLst>
              </a:tr>
              <a:tr h="684791">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multiple</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Fits a line to a dataset using several variables as predictors as shown in the next chapter.</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extLst>
                  <a:ext uri="{0D108BD9-81ED-4DB2-BD59-A6C34878D82A}">
                    <a16:rowId xmlns:a16="http://schemas.microsoft.com/office/drawing/2014/main" val="1511067582"/>
                  </a:ext>
                </a:extLst>
              </a:tr>
              <a:tr h="684791">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logistic</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Measures the probability of a dichotomous variable based on a predictor variable.</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extLst>
                  <a:ext uri="{0D108BD9-81ED-4DB2-BD59-A6C34878D82A}">
                    <a16:rowId xmlns:a16="http://schemas.microsoft.com/office/drawing/2014/main" val="4003657512"/>
                  </a:ext>
                </a:extLst>
              </a:tr>
              <a:tr h="387056">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robust</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Reduces the effect of outliers.</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extLst>
                  <a:ext uri="{0D108BD9-81ED-4DB2-BD59-A6C34878D82A}">
                    <a16:rowId xmlns:a16="http://schemas.microsoft.com/office/drawing/2014/main" val="3777045452"/>
                  </a:ext>
                </a:extLst>
              </a:tr>
              <a:tr h="684791">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polynomial</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Uses a polynomial equation to model the relationship for the predictor variable.</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extLst>
                  <a:ext uri="{0D108BD9-81ED-4DB2-BD59-A6C34878D82A}">
                    <a16:rowId xmlns:a16="http://schemas.microsoft.com/office/drawing/2014/main" val="3549920796"/>
                  </a:ext>
                </a:extLst>
              </a:tr>
              <a:tr h="982526">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lowess</a:t>
                      </a:r>
                      <a:endParaRPr lang="en-US" sz="200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Uses the </a:t>
                      </a:r>
                      <a:r>
                        <a:rPr lang="en-US" sz="2000" i="1" dirty="0">
                          <a:solidFill>
                            <a:srgbClr val="000000"/>
                          </a:solidFill>
                          <a:effectLst/>
                          <a:latin typeface="Times New Roman" panose="02020603050405020304" pitchFamily="18" charset="0"/>
                          <a:ea typeface="Times New Roman" panose="02020603050405020304" pitchFamily="18" charset="0"/>
                        </a:rPr>
                        <a:t>locally weighted scatterplot smoothing</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err="1">
                          <a:solidFill>
                            <a:srgbClr val="000000"/>
                          </a:solidFill>
                          <a:effectLst/>
                          <a:latin typeface="Times New Roman" panose="02020603050405020304" pitchFamily="18" charset="0"/>
                          <a:ea typeface="Times New Roman" panose="02020603050405020304" pitchFamily="18" charset="0"/>
                        </a:rPr>
                        <a:t>lowess</a:t>
                      </a:r>
                      <a:r>
                        <a:rPr lang="en-US" sz="2000" dirty="0">
                          <a:solidFill>
                            <a:srgbClr val="000000"/>
                          </a:solidFill>
                          <a:effectLst/>
                          <a:latin typeface="Times New Roman" panose="02020603050405020304" pitchFamily="18" charset="0"/>
                          <a:ea typeface="Times New Roman" panose="02020603050405020304" pitchFamily="18" charset="0"/>
                        </a:rPr>
                        <a:t>) technique to create a polynomial regression.</a:t>
                      </a:r>
                      <a:endParaRPr lang="en-US" sz="2000" dirty="0">
                        <a:effectLst/>
                        <a:latin typeface="Times New Roman" panose="02020603050405020304" pitchFamily="18" charset="0"/>
                        <a:ea typeface="Times New Roman" panose="02020603050405020304" pitchFamily="18" charset="0"/>
                      </a:endParaRPr>
                    </a:p>
                  </a:txBody>
                  <a:tcPr marL="66990" marR="66990" marT="44660" marB="44660">
                    <a:lnL>
                      <a:noFill/>
                    </a:lnL>
                    <a:lnR>
                      <a:noFill/>
                    </a:lnR>
                    <a:lnT>
                      <a:noFill/>
                    </a:lnT>
                    <a:lnB>
                      <a:noFill/>
                    </a:lnB>
                    <a:solidFill>
                      <a:srgbClr val="DFECF5"/>
                    </a:solidFill>
                  </a:tcPr>
                </a:tc>
                <a:extLst>
                  <a:ext uri="{0D108BD9-81ED-4DB2-BD59-A6C34878D82A}">
                    <a16:rowId xmlns:a16="http://schemas.microsoft.com/office/drawing/2014/main" val="3311031175"/>
                  </a:ext>
                </a:extLst>
              </a:tr>
            </a:tbl>
          </a:graphicData>
        </a:graphic>
      </p:graphicFrame>
      <p:sp>
        <p:nvSpPr>
          <p:cNvPr id="5" name="Date Placeholder 4">
            <a:extLst>
              <a:ext uri="{FF2B5EF4-FFF2-40B4-BE49-F238E27FC236}">
                <a16:creationId xmlns:a16="http://schemas.microsoft.com/office/drawing/2014/main" id="{FF799F23-DB55-4C93-844C-0E36D99FEC1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5BDD12C2-2073-4330-8F9C-84C5680A3EB5}"/>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99C75F70-2C61-490F-B474-472AA0270B7F}"/>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32</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7140226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C39ACF-557A-473F-9BE7-BD7333333362}"/>
              </a:ext>
            </a:extLst>
          </p:cNvPr>
          <p:cNvSpPr>
            <a:spLocks noGrp="1"/>
          </p:cNvSpPr>
          <p:nvPr>
            <p:ph type="title"/>
          </p:nvPr>
        </p:nvSpPr>
        <p:spPr>
          <a:xfrm>
            <a:off x="914400" y="440323"/>
            <a:ext cx="7315200" cy="738664"/>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Seaborn method for plotting linear regression models</a:t>
            </a:r>
            <a:endParaRPr lang="en-US" dirty="0"/>
          </a:p>
        </p:txBody>
      </p:sp>
      <p:graphicFrame>
        <p:nvGraphicFramePr>
          <p:cNvPr id="11" name="Table Placeholder 10">
            <a:extLst>
              <a:ext uri="{FF2B5EF4-FFF2-40B4-BE49-F238E27FC236}">
                <a16:creationId xmlns:a16="http://schemas.microsoft.com/office/drawing/2014/main" id="{9521D293-C13E-4B29-978B-AF63486FDB74}"/>
              </a:ext>
            </a:extLst>
          </p:cNvPr>
          <p:cNvGraphicFramePr>
            <a:graphicFrameLocks noGrp="1"/>
          </p:cNvGraphicFramePr>
          <p:nvPr>
            <p:ph type="tbl" sz="quarter" idx="13"/>
            <p:extLst>
              <p:ext uri="{D42A27DB-BD31-4B8C-83A1-F6EECF244321}">
                <p14:modId xmlns:p14="http://schemas.microsoft.com/office/powerpoint/2010/main" val="836155437"/>
              </p:ext>
            </p:extLst>
          </p:nvPr>
        </p:nvGraphicFramePr>
        <p:xfrm>
          <a:off x="914400" y="1295400"/>
          <a:ext cx="6812280" cy="1097280"/>
        </p:xfrm>
        <a:graphic>
          <a:graphicData uri="http://schemas.openxmlformats.org/drawingml/2006/table">
            <a:tbl>
              <a:tblPr firstRow="1"/>
              <a:tblGrid>
                <a:gridCol w="2011680">
                  <a:extLst>
                    <a:ext uri="{9D8B030D-6E8A-4147-A177-3AD203B41FA5}">
                      <a16:colId xmlns:a16="http://schemas.microsoft.com/office/drawing/2014/main" val="4195776695"/>
                    </a:ext>
                  </a:extLst>
                </a:gridCol>
                <a:gridCol w="4800600">
                  <a:extLst>
                    <a:ext uri="{9D8B030D-6E8A-4147-A177-3AD203B41FA5}">
                      <a16:colId xmlns:a16="http://schemas.microsoft.com/office/drawing/2014/main" val="3066187844"/>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3669939657"/>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lmplot(params)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Uses a linear regression model to create a scatter plot with a regression line fitted to it.</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784270579"/>
                  </a:ext>
                </a:extLst>
              </a:tr>
            </a:tbl>
          </a:graphicData>
        </a:graphic>
      </p:graphicFrame>
      <p:sp>
        <p:nvSpPr>
          <p:cNvPr id="10" name="Text Placeholder 9">
            <a:extLst>
              <a:ext uri="{FF2B5EF4-FFF2-40B4-BE49-F238E27FC236}">
                <a16:creationId xmlns:a16="http://schemas.microsoft.com/office/drawing/2014/main" id="{84522957-A5FD-4E94-85EB-D567CFF7642C}"/>
              </a:ext>
            </a:extLst>
          </p:cNvPr>
          <p:cNvSpPr>
            <a:spLocks noGrp="1"/>
          </p:cNvSpPr>
          <p:nvPr>
            <p:ph type="body" sz="quarter" idx="17"/>
          </p:nvPr>
        </p:nvSpPr>
        <p:spPr>
          <a:xfrm>
            <a:off x="838200" y="25146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lmplot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p>
          <a:p>
            <a:endParaRPr lang="en-US" sz="2400" dirty="0"/>
          </a:p>
        </p:txBody>
      </p:sp>
      <p:graphicFrame>
        <p:nvGraphicFramePr>
          <p:cNvPr id="12" name="Table Placeholder 11">
            <a:extLst>
              <a:ext uri="{FF2B5EF4-FFF2-40B4-BE49-F238E27FC236}">
                <a16:creationId xmlns:a16="http://schemas.microsoft.com/office/drawing/2014/main" id="{44958FA6-24F9-42F9-92ED-A17B5274862D}"/>
              </a:ext>
            </a:extLst>
          </p:cNvPr>
          <p:cNvGraphicFramePr>
            <a:graphicFrameLocks noGrp="1"/>
          </p:cNvGraphicFramePr>
          <p:nvPr>
            <p:ph type="tbl" sz="quarter" idx="14"/>
            <p:extLst>
              <p:ext uri="{D42A27DB-BD31-4B8C-83A1-F6EECF244321}">
                <p14:modId xmlns:p14="http://schemas.microsoft.com/office/powerpoint/2010/main" val="890904777"/>
              </p:ext>
            </p:extLst>
          </p:nvPr>
        </p:nvGraphicFramePr>
        <p:xfrm>
          <a:off x="914399" y="3048000"/>
          <a:ext cx="7089569" cy="2286000"/>
        </p:xfrm>
        <a:graphic>
          <a:graphicData uri="http://schemas.openxmlformats.org/drawingml/2006/table">
            <a:tbl>
              <a:tblPr firstRow="1"/>
              <a:tblGrid>
                <a:gridCol w="1723873">
                  <a:extLst>
                    <a:ext uri="{9D8B030D-6E8A-4147-A177-3AD203B41FA5}">
                      <a16:colId xmlns:a16="http://schemas.microsoft.com/office/drawing/2014/main" val="733615217"/>
                    </a:ext>
                  </a:extLst>
                </a:gridCol>
                <a:gridCol w="5365696">
                  <a:extLst>
                    <a:ext uri="{9D8B030D-6E8A-4147-A177-3AD203B41FA5}">
                      <a16:colId xmlns:a16="http://schemas.microsoft.com/office/drawing/2014/main" val="2836836677"/>
                    </a:ext>
                  </a:extLst>
                </a:gridCol>
              </a:tblGrid>
              <a:tr h="261408">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2771710030"/>
                  </a:ext>
                </a:extLst>
              </a:tr>
              <a:tr h="261408">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scatter</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True (the default), displays the scatter plot.</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839289625"/>
                  </a:ext>
                </a:extLst>
              </a:tr>
              <a:tr h="261408">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fit_reg</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True (the default), displays the regression line.</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431290859"/>
                  </a:ext>
                </a:extLst>
              </a:tr>
              <a:tr h="261408">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line_kws</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A dictionary of parameters for the regression line.</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497491646"/>
                  </a:ext>
                </a:extLst>
              </a:tr>
              <a:tr h="462492">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scatter_kws</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A dictionary of parameters for the display of the scatter plot.</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515218670"/>
                  </a:ext>
                </a:extLst>
              </a:tr>
            </a:tbl>
          </a:graphicData>
        </a:graphic>
      </p:graphicFrame>
      <p:sp>
        <p:nvSpPr>
          <p:cNvPr id="4" name="Date Placeholder 3">
            <a:extLst>
              <a:ext uri="{FF2B5EF4-FFF2-40B4-BE49-F238E27FC236}">
                <a16:creationId xmlns:a16="http://schemas.microsoft.com/office/drawing/2014/main" id="{74E59078-5A16-469E-AF15-3257909890B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6EAD338-BF1D-4323-B74C-D4E205158C64}"/>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14227B86-45FF-408B-9EE2-0B002756271E}"/>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33</a:t>
            </a:fld>
            <a:endParaRPr lang="en-US" dirty="0">
              <a:solidFill>
                <a:schemeClr val="bg1"/>
              </a:solidFill>
            </a:endParaRPr>
          </a:p>
        </p:txBody>
      </p:sp>
    </p:spTree>
    <p:extLst>
      <p:ext uri="{BB962C8B-B14F-4D97-AF65-F5344CB8AC3E}">
        <p14:creationId xmlns:p14="http://schemas.microsoft.com/office/powerpoint/2010/main" val="6460221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7F1D657-D813-4D7B-9B6D-2ACF54BF0A7C}"/>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lmplot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(cont.)</a:t>
            </a:r>
            <a:endParaRPr lang="en-US" dirty="0"/>
          </a:p>
        </p:txBody>
      </p:sp>
      <p:graphicFrame>
        <p:nvGraphicFramePr>
          <p:cNvPr id="11" name="Table Placeholder 10">
            <a:extLst>
              <a:ext uri="{FF2B5EF4-FFF2-40B4-BE49-F238E27FC236}">
                <a16:creationId xmlns:a16="http://schemas.microsoft.com/office/drawing/2014/main" id="{C3EA0DD1-427B-4977-A0A6-767C90B75504}"/>
              </a:ext>
            </a:extLst>
          </p:cNvPr>
          <p:cNvGraphicFramePr>
            <a:graphicFrameLocks noGrp="1"/>
          </p:cNvGraphicFramePr>
          <p:nvPr>
            <p:ph type="tbl" sz="quarter" idx="13"/>
            <p:extLst>
              <p:ext uri="{D42A27DB-BD31-4B8C-83A1-F6EECF244321}">
                <p14:modId xmlns:p14="http://schemas.microsoft.com/office/powerpoint/2010/main" val="1113502981"/>
              </p:ext>
            </p:extLst>
          </p:nvPr>
        </p:nvGraphicFramePr>
        <p:xfrm>
          <a:off x="914400" y="1143000"/>
          <a:ext cx="7098030" cy="3992880"/>
        </p:xfrm>
        <a:graphic>
          <a:graphicData uri="http://schemas.openxmlformats.org/drawingml/2006/table">
            <a:tbl>
              <a:tblPr firstRow="1"/>
              <a:tblGrid>
                <a:gridCol w="1725930">
                  <a:extLst>
                    <a:ext uri="{9D8B030D-6E8A-4147-A177-3AD203B41FA5}">
                      <a16:colId xmlns:a16="http://schemas.microsoft.com/office/drawing/2014/main" val="196290574"/>
                    </a:ext>
                  </a:extLst>
                </a:gridCol>
                <a:gridCol w="5372100">
                  <a:extLst>
                    <a:ext uri="{9D8B030D-6E8A-4147-A177-3AD203B41FA5}">
                      <a16:colId xmlns:a16="http://schemas.microsoft.com/office/drawing/2014/main" val="3607921569"/>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273333036"/>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markers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type of marker that’s used by the scatter plot. Possible values include c for circle, s for square, and d for diamond.</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952413112"/>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x_bins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number of bins for datapoints on the x-axis.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864883586"/>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logistic</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True, creates a logistic regression.</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857905882"/>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robust</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True, creates a robust regression.</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830317764"/>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lowess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True, creates a lowess regression..</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766403571"/>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order</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The degree of the polynomial equation to use when fitting the line. This creates a polynomial regression. </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342615430"/>
                  </a:ext>
                </a:extLst>
              </a:tr>
            </a:tbl>
          </a:graphicData>
        </a:graphic>
      </p:graphicFrame>
      <p:sp>
        <p:nvSpPr>
          <p:cNvPr id="4" name="Date Placeholder 3">
            <a:extLst>
              <a:ext uri="{FF2B5EF4-FFF2-40B4-BE49-F238E27FC236}">
                <a16:creationId xmlns:a16="http://schemas.microsoft.com/office/drawing/2014/main" id="{86C43323-94BF-4195-A027-467D34AB6AC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FB07C002-1B66-4613-A514-E6EAF95D028C}"/>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EB69D30C-3F4B-4657-9419-13A2EFFB8193}"/>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C10, Slide </a:t>
            </a:r>
            <a:fld id="{BF5C1183-B085-4070-A402-C03A3F977D3D}" type="slidenum">
              <a:rPr lang="en-US" smtClean="0">
                <a:solidFill>
                  <a:schemeClr val="bg1"/>
                </a:solidFill>
              </a:rPr>
              <a:pPr>
                <a:defRPr/>
              </a:pPr>
              <a:t>34</a:t>
            </a:fld>
            <a:endParaRPr lang="en-US" dirty="0">
              <a:solidFill>
                <a:schemeClr val="bg1"/>
              </a:solidFill>
            </a:endParaRPr>
          </a:p>
        </p:txBody>
      </p:sp>
    </p:spTree>
    <p:extLst>
      <p:ext uri="{BB962C8B-B14F-4D97-AF65-F5344CB8AC3E}">
        <p14:creationId xmlns:p14="http://schemas.microsoft.com/office/powerpoint/2010/main" val="2881574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4ABAD-D450-451C-AFA3-C84470C4F1E6}"/>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simple linear regression</a:t>
            </a:r>
            <a:endParaRPr lang="en-US" dirty="0"/>
          </a:p>
        </p:txBody>
      </p:sp>
      <p:sp>
        <p:nvSpPr>
          <p:cNvPr id="3" name="Text Placeholder 2">
            <a:extLst>
              <a:ext uri="{FF2B5EF4-FFF2-40B4-BE49-F238E27FC236}">
                <a16:creationId xmlns:a16="http://schemas.microsoft.com/office/drawing/2014/main" id="{28BD94BB-FAB1-427D-AED4-62B375BD201F}"/>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sns.lmplot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(data=housing, x='</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sqft_living</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y='price', ci=None,</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scatter_kws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={'s':5},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line_kws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color':'red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8" name="Content Placeholder 7" descr="Refer to page 363 in textbook">
            <a:extLst>
              <a:ext uri="{FF2B5EF4-FFF2-40B4-BE49-F238E27FC236}">
                <a16:creationId xmlns:a16="http://schemas.microsoft.com/office/drawing/2014/main" id="{7C2ED421-5B08-4E85-A7E8-C1F8705EA647}"/>
              </a:ext>
            </a:extLst>
          </p:cNvPr>
          <p:cNvPicPr>
            <a:picLocks noGrp="1" noChangeAspect="1"/>
          </p:cNvPicPr>
          <p:nvPr>
            <p:ph sz="quarter" idx="13"/>
          </p:nvPr>
        </p:nvPicPr>
        <p:blipFill>
          <a:blip r:embed="rId2"/>
          <a:stretch>
            <a:fillRect/>
          </a:stretch>
        </p:blipFill>
        <p:spPr>
          <a:xfrm>
            <a:off x="1259774" y="1752599"/>
            <a:ext cx="4074225" cy="4044703"/>
          </a:xfrm>
          <a:prstGeom prst="rect">
            <a:avLst/>
          </a:prstGeom>
        </p:spPr>
      </p:pic>
      <p:sp>
        <p:nvSpPr>
          <p:cNvPr id="5" name="Date Placeholder 4">
            <a:extLst>
              <a:ext uri="{FF2B5EF4-FFF2-40B4-BE49-F238E27FC236}">
                <a16:creationId xmlns:a16="http://schemas.microsoft.com/office/drawing/2014/main" id="{B17302B5-7201-4F90-ABAA-0B881A8E529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237AB642-609E-45BB-9918-253891290149}"/>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4114408C-3C22-4F82-9B1A-4C3AD66FFCFE}"/>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35</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870275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3822-6390-40CD-B72F-7D0432D33F5B}"/>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logistic regression</a:t>
            </a:r>
            <a:endParaRPr lang="en-US" dirty="0"/>
          </a:p>
        </p:txBody>
      </p:sp>
      <p:sp>
        <p:nvSpPr>
          <p:cNvPr id="3" name="Text Placeholder 2">
            <a:extLst>
              <a:ext uri="{FF2B5EF4-FFF2-40B4-BE49-F238E27FC236}">
                <a16:creationId xmlns:a16="http://schemas.microsoft.com/office/drawing/2014/main" id="{70213ACB-43CA-403E-87D3-578296D14D5B}"/>
              </a:ext>
            </a:extLst>
          </p:cNvPr>
          <p:cNvSpPr>
            <a:spLocks noGrp="1"/>
          </p:cNvSpPr>
          <p:nvPr>
            <p:ph type="body" sz="quarter" idx="15"/>
          </p:nvPr>
        </p:nvSpPr>
        <p:spPr>
          <a:xfrm>
            <a:off x="812800" y="1062758"/>
            <a:ext cx="7493000" cy="2213842"/>
          </a:xfrm>
        </p:spPr>
        <p:txBody>
          <a:bodyPr/>
          <a:lstStyle/>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sns.lmplot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(data=housing, x='price', y='</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has_basement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ci=None,</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scatter_kws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={'s':1},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line_kws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color':'red</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b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b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logistic=True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8" name="Content Placeholder 7" descr="Refer to page 363 in textbook">
            <a:extLst>
              <a:ext uri="{FF2B5EF4-FFF2-40B4-BE49-F238E27FC236}">
                <a16:creationId xmlns:a16="http://schemas.microsoft.com/office/drawing/2014/main" id="{235DC218-6499-42D1-BF85-27A3A349B24B}"/>
              </a:ext>
            </a:extLst>
          </p:cNvPr>
          <p:cNvPicPr>
            <a:picLocks noGrp="1" noChangeAspect="1"/>
          </p:cNvPicPr>
          <p:nvPr>
            <p:ph sz="quarter" idx="13"/>
          </p:nvPr>
        </p:nvPicPr>
        <p:blipFill>
          <a:blip r:embed="rId2"/>
          <a:stretch>
            <a:fillRect/>
          </a:stretch>
        </p:blipFill>
        <p:spPr>
          <a:xfrm>
            <a:off x="1259775" y="1981199"/>
            <a:ext cx="4074225" cy="4029663"/>
          </a:xfrm>
          <a:prstGeom prst="rect">
            <a:avLst/>
          </a:prstGeom>
        </p:spPr>
      </p:pic>
      <p:sp>
        <p:nvSpPr>
          <p:cNvPr id="5" name="Date Placeholder 4">
            <a:extLst>
              <a:ext uri="{FF2B5EF4-FFF2-40B4-BE49-F238E27FC236}">
                <a16:creationId xmlns:a16="http://schemas.microsoft.com/office/drawing/2014/main" id="{73DCBBAD-5F73-4BFD-907D-CC0A3429C88C}"/>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4349B34A-4B2E-4FBD-BB3D-08AC90D645FE}"/>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DA41C986-8C67-4100-A31C-81695D655698}"/>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36</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35063197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5F9C-0FB9-4238-AE3C-BDFA3DE1C99E}"/>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polynomial regression</a:t>
            </a:r>
            <a:endParaRPr lang="en-US" dirty="0"/>
          </a:p>
        </p:txBody>
      </p:sp>
      <p:sp>
        <p:nvSpPr>
          <p:cNvPr id="3" name="Text Placeholder 2">
            <a:extLst>
              <a:ext uri="{FF2B5EF4-FFF2-40B4-BE49-F238E27FC236}">
                <a16:creationId xmlns:a16="http://schemas.microsoft.com/office/drawing/2014/main" id="{48056523-F1D1-4A0F-A3C7-97C33843D46C}"/>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sns.lmplot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x='Year', y='</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hue='</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AgeGroup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ci=None, markers='d',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x_bins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=20,</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order=3</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8" name="Content Placeholder 7" descr="Refer to page 365 in textbook">
            <a:extLst>
              <a:ext uri="{FF2B5EF4-FFF2-40B4-BE49-F238E27FC236}">
                <a16:creationId xmlns:a16="http://schemas.microsoft.com/office/drawing/2014/main" id="{99C46D88-B979-4EA7-8BA2-34E30D3E2D98}"/>
              </a:ext>
            </a:extLst>
          </p:cNvPr>
          <p:cNvPicPr>
            <a:picLocks noGrp="1" noChangeAspect="1"/>
          </p:cNvPicPr>
          <p:nvPr>
            <p:ph sz="quarter" idx="13"/>
          </p:nvPr>
        </p:nvPicPr>
        <p:blipFill>
          <a:blip r:embed="rId2"/>
          <a:stretch>
            <a:fillRect/>
          </a:stretch>
        </p:blipFill>
        <p:spPr>
          <a:xfrm>
            <a:off x="1254266" y="1981200"/>
            <a:ext cx="4970901" cy="3962400"/>
          </a:xfrm>
          <a:prstGeom prst="rect">
            <a:avLst/>
          </a:prstGeom>
        </p:spPr>
      </p:pic>
      <p:sp>
        <p:nvSpPr>
          <p:cNvPr id="5" name="Date Placeholder 4">
            <a:extLst>
              <a:ext uri="{FF2B5EF4-FFF2-40B4-BE49-F238E27FC236}">
                <a16:creationId xmlns:a16="http://schemas.microsoft.com/office/drawing/2014/main" id="{C4C37F09-32B2-4239-8C3B-62332272655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BC6AE872-E7FF-4043-9246-6777336D3D5C}"/>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C9F4876A-AD32-4899-A163-713D3D3DE29C}"/>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37</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7020727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BDE5-202C-4BC9-8215-69B7348E986B}"/>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lowess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regression</a:t>
            </a:r>
            <a:endParaRPr lang="en-US" dirty="0"/>
          </a:p>
        </p:txBody>
      </p:sp>
      <p:sp>
        <p:nvSpPr>
          <p:cNvPr id="3" name="Text Placeholder 2">
            <a:extLst>
              <a:ext uri="{FF2B5EF4-FFF2-40B4-BE49-F238E27FC236}">
                <a16:creationId xmlns:a16="http://schemas.microsoft.com/office/drawing/2014/main" id="{0994C942-F6A5-43FB-A16C-E89852116054}"/>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sns.lmplot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x='Year', y='</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hue='</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AgeGroup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ci=None, markers='d',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x_bins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=20,</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lowess</a:t>
            </a:r>
            <a:r>
              <a:rPr lang="en-US" sz="16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=True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8" name="Content Placeholder 7" descr="Refer to page 365 in textbook">
            <a:extLst>
              <a:ext uri="{FF2B5EF4-FFF2-40B4-BE49-F238E27FC236}">
                <a16:creationId xmlns:a16="http://schemas.microsoft.com/office/drawing/2014/main" id="{CE3602CF-1AB9-485C-ADC1-A5031BC08CE9}"/>
              </a:ext>
            </a:extLst>
          </p:cNvPr>
          <p:cNvPicPr>
            <a:picLocks noGrp="1" noChangeAspect="1"/>
          </p:cNvPicPr>
          <p:nvPr>
            <p:ph sz="quarter" idx="13"/>
          </p:nvPr>
        </p:nvPicPr>
        <p:blipFill>
          <a:blip r:embed="rId2"/>
          <a:stretch>
            <a:fillRect/>
          </a:stretch>
        </p:blipFill>
        <p:spPr>
          <a:xfrm>
            <a:off x="1257517" y="1981200"/>
            <a:ext cx="4990883" cy="3986801"/>
          </a:xfrm>
          <a:prstGeom prst="rect">
            <a:avLst/>
          </a:prstGeom>
        </p:spPr>
      </p:pic>
      <p:sp>
        <p:nvSpPr>
          <p:cNvPr id="5" name="Date Placeholder 4">
            <a:extLst>
              <a:ext uri="{FF2B5EF4-FFF2-40B4-BE49-F238E27FC236}">
                <a16:creationId xmlns:a16="http://schemas.microsoft.com/office/drawing/2014/main" id="{1EF89CD1-37E9-4B49-93B4-248D92B6D53F}"/>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23892105-39AE-4DB0-8B84-CFAD09458112}"/>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53EA6409-5E8E-45D4-98DA-BD5C758531E9}"/>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38</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3064654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76CD75-8DEA-4D00-A1E4-8A50B46A98A3}"/>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Seaborn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residplot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for plotting residuals</a:t>
            </a:r>
            <a:endParaRPr lang="en-US" dirty="0"/>
          </a:p>
        </p:txBody>
      </p:sp>
      <p:graphicFrame>
        <p:nvGraphicFramePr>
          <p:cNvPr id="12" name="Table Placeholder 11">
            <a:extLst>
              <a:ext uri="{FF2B5EF4-FFF2-40B4-BE49-F238E27FC236}">
                <a16:creationId xmlns:a16="http://schemas.microsoft.com/office/drawing/2014/main" id="{BA63A7B5-53B1-4DAF-B314-BFF2F59BA469}"/>
              </a:ext>
            </a:extLst>
          </p:cNvPr>
          <p:cNvGraphicFramePr>
            <a:graphicFrameLocks noGrp="1"/>
          </p:cNvGraphicFramePr>
          <p:nvPr>
            <p:ph type="tbl" sz="quarter" idx="13"/>
            <p:extLst>
              <p:ext uri="{D42A27DB-BD31-4B8C-83A1-F6EECF244321}">
                <p14:modId xmlns:p14="http://schemas.microsoft.com/office/powerpoint/2010/main" val="2430077133"/>
              </p:ext>
            </p:extLst>
          </p:nvPr>
        </p:nvGraphicFramePr>
        <p:xfrm>
          <a:off x="913410" y="1295400"/>
          <a:ext cx="6183630" cy="1097280"/>
        </p:xfrm>
        <a:graphic>
          <a:graphicData uri="http://schemas.openxmlformats.org/drawingml/2006/table">
            <a:tbl>
              <a:tblPr firstRow="1"/>
              <a:tblGrid>
                <a:gridCol w="2297430">
                  <a:extLst>
                    <a:ext uri="{9D8B030D-6E8A-4147-A177-3AD203B41FA5}">
                      <a16:colId xmlns:a16="http://schemas.microsoft.com/office/drawing/2014/main" val="171626916"/>
                    </a:ext>
                  </a:extLst>
                </a:gridCol>
                <a:gridCol w="3886200">
                  <a:extLst>
                    <a:ext uri="{9D8B030D-6E8A-4147-A177-3AD203B41FA5}">
                      <a16:colId xmlns:a16="http://schemas.microsoft.com/office/drawing/2014/main" val="1662132379"/>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1956656617"/>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residplot(params)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Creates a plot of the residuals of a regression. Returns an Axes object.</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26059495"/>
                  </a:ext>
                </a:extLst>
              </a:tr>
            </a:tbl>
          </a:graphicData>
        </a:graphic>
      </p:graphicFrame>
      <p:sp>
        <p:nvSpPr>
          <p:cNvPr id="11" name="Text Placeholder 10">
            <a:extLst>
              <a:ext uri="{FF2B5EF4-FFF2-40B4-BE49-F238E27FC236}">
                <a16:creationId xmlns:a16="http://schemas.microsoft.com/office/drawing/2014/main" id="{2B204953-143E-4B86-A12B-74DC8E63AF7D}"/>
              </a:ext>
            </a:extLst>
          </p:cNvPr>
          <p:cNvSpPr>
            <a:spLocks noGrp="1"/>
          </p:cNvSpPr>
          <p:nvPr>
            <p:ph type="body" sz="quarter" idx="17"/>
          </p:nvPr>
        </p:nvSpPr>
        <p:spPr>
          <a:xfrm>
            <a:off x="838200" y="2590800"/>
            <a:ext cx="7391400" cy="476157"/>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residplot</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p>
          <a:p>
            <a:endParaRPr lang="en-US" sz="2400" dirty="0"/>
          </a:p>
        </p:txBody>
      </p:sp>
      <p:graphicFrame>
        <p:nvGraphicFramePr>
          <p:cNvPr id="13" name="Table Placeholder 12">
            <a:extLst>
              <a:ext uri="{FF2B5EF4-FFF2-40B4-BE49-F238E27FC236}">
                <a16:creationId xmlns:a16="http://schemas.microsoft.com/office/drawing/2014/main" id="{6EB2ABF4-1129-4019-8C15-AD4D5DD71E43}"/>
              </a:ext>
            </a:extLst>
          </p:cNvPr>
          <p:cNvGraphicFramePr>
            <a:graphicFrameLocks noGrp="1"/>
          </p:cNvGraphicFramePr>
          <p:nvPr>
            <p:ph type="tbl" sz="quarter" idx="14"/>
            <p:extLst>
              <p:ext uri="{D42A27DB-BD31-4B8C-83A1-F6EECF244321}">
                <p14:modId xmlns:p14="http://schemas.microsoft.com/office/powerpoint/2010/main" val="4094851976"/>
              </p:ext>
            </p:extLst>
          </p:nvPr>
        </p:nvGraphicFramePr>
        <p:xfrm>
          <a:off x="913410" y="3124200"/>
          <a:ext cx="7316190" cy="1889760"/>
        </p:xfrm>
        <a:graphic>
          <a:graphicData uri="http://schemas.openxmlformats.org/drawingml/2006/table">
            <a:tbl>
              <a:tblPr firstRow="1"/>
              <a:tblGrid>
                <a:gridCol w="1737019">
                  <a:extLst>
                    <a:ext uri="{9D8B030D-6E8A-4147-A177-3AD203B41FA5}">
                      <a16:colId xmlns:a16="http://schemas.microsoft.com/office/drawing/2014/main" val="4079656547"/>
                    </a:ext>
                  </a:extLst>
                </a:gridCol>
                <a:gridCol w="5579171">
                  <a:extLst>
                    <a:ext uri="{9D8B030D-6E8A-4147-A177-3AD203B41FA5}">
                      <a16:colId xmlns:a16="http://schemas.microsoft.com/office/drawing/2014/main" val="1014021650"/>
                    </a:ext>
                  </a:extLst>
                </a:gridCol>
              </a:tblGrid>
              <a:tr h="254410">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789844831"/>
                  </a:ext>
                </a:extLst>
              </a:tr>
              <a:tr h="31622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lowess</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If True, create the residuals for a </a:t>
                      </a:r>
                      <a:r>
                        <a:rPr lang="en-US" sz="2000" dirty="0" err="1">
                          <a:solidFill>
                            <a:srgbClr val="000000"/>
                          </a:solidFill>
                          <a:effectLst/>
                          <a:latin typeface="Times New Roman" panose="02020603050405020304" pitchFamily="18" charset="0"/>
                          <a:ea typeface="Times New Roman" panose="02020603050405020304" pitchFamily="18" charset="0"/>
                        </a:rPr>
                        <a:t>lowess</a:t>
                      </a:r>
                      <a:r>
                        <a:rPr lang="en-US" sz="2000" dirty="0">
                          <a:solidFill>
                            <a:srgbClr val="000000"/>
                          </a:solidFill>
                          <a:effectLst/>
                          <a:latin typeface="Times New Roman" panose="02020603050405020304" pitchFamily="18" charset="0"/>
                          <a:ea typeface="Times New Roman" panose="02020603050405020304" pitchFamily="18" charset="0"/>
                        </a:rPr>
                        <a:t> regression.</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614535318"/>
                  </a:ext>
                </a:extLst>
              </a:tr>
              <a:tr h="559466">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order</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The order of the polynomial equation that’s used to create the residuals.</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033461614"/>
                  </a:ext>
                </a:extLst>
              </a:tr>
              <a:tr h="31622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robust</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If True, create the residuals for a robust regression.</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112105845"/>
                  </a:ext>
                </a:extLst>
              </a:tr>
            </a:tbl>
          </a:graphicData>
        </a:graphic>
      </p:graphicFrame>
      <p:sp>
        <p:nvSpPr>
          <p:cNvPr id="5" name="Date Placeholder 4">
            <a:extLst>
              <a:ext uri="{FF2B5EF4-FFF2-40B4-BE49-F238E27FC236}">
                <a16:creationId xmlns:a16="http://schemas.microsoft.com/office/drawing/2014/main" id="{14B7B78D-5C61-4EA7-B299-AF94D650F41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D3B52012-C551-40BF-B358-353E9C1B4CA3}"/>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7BDC8334-F080-4975-A4A3-9527CAC45A9D}"/>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39</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0376337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4ABAD-D450-451C-AFA3-C84470C4F1E6}"/>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residuals for a simple linear regression</a:t>
            </a:r>
            <a:endParaRPr lang="en-US" dirty="0"/>
          </a:p>
        </p:txBody>
      </p:sp>
      <p:sp>
        <p:nvSpPr>
          <p:cNvPr id="3" name="Text Placeholder 2">
            <a:extLst>
              <a:ext uri="{FF2B5EF4-FFF2-40B4-BE49-F238E27FC236}">
                <a16:creationId xmlns:a16="http://schemas.microsoft.com/office/drawing/2014/main" id="{28BD94BB-FAB1-427D-AED4-62B375BD201F}"/>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sns.residplot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(data=housing, x='</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sqft_living</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y='price', </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scatter_kws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={'s':5})</a:t>
            </a:r>
          </a:p>
          <a:p>
            <a:endParaRPr lang="en-US" sz="1600" dirty="0"/>
          </a:p>
        </p:txBody>
      </p:sp>
      <p:pic>
        <p:nvPicPr>
          <p:cNvPr id="8" name="Content Placeholder 7" descr="Refer to page 367 in textbook">
            <a:extLst>
              <a:ext uri="{FF2B5EF4-FFF2-40B4-BE49-F238E27FC236}">
                <a16:creationId xmlns:a16="http://schemas.microsoft.com/office/drawing/2014/main" id="{3C7AD6F5-4945-4021-A73E-3028B37D27A7}"/>
              </a:ext>
            </a:extLst>
          </p:cNvPr>
          <p:cNvPicPr>
            <a:picLocks noGrp="1" noChangeAspect="1"/>
          </p:cNvPicPr>
          <p:nvPr>
            <p:ph sz="quarter" idx="13"/>
          </p:nvPr>
        </p:nvPicPr>
        <p:blipFill>
          <a:blip r:embed="rId2"/>
          <a:stretch>
            <a:fillRect/>
          </a:stretch>
        </p:blipFill>
        <p:spPr>
          <a:xfrm>
            <a:off x="1259775" y="1752600"/>
            <a:ext cx="5750625" cy="3632695"/>
          </a:xfrm>
          <a:prstGeom prst="rect">
            <a:avLst/>
          </a:prstGeom>
        </p:spPr>
      </p:pic>
      <p:sp>
        <p:nvSpPr>
          <p:cNvPr id="5" name="Date Placeholder 4">
            <a:extLst>
              <a:ext uri="{FF2B5EF4-FFF2-40B4-BE49-F238E27FC236}">
                <a16:creationId xmlns:a16="http://schemas.microsoft.com/office/drawing/2014/main" id="{B17302B5-7201-4F90-ABAA-0B881A8E529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237AB642-609E-45BB-9918-253891290149}"/>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4114408C-3C22-4F82-9B1A-4C3AD66FFCFE}"/>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40</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41363974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4ABAD-D450-451C-AFA3-C84470C4F1E6}"/>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residuals for a polynomial regression</a:t>
            </a:r>
            <a:endParaRPr lang="en-US" dirty="0"/>
          </a:p>
        </p:txBody>
      </p:sp>
      <p:sp>
        <p:nvSpPr>
          <p:cNvPr id="3" name="Text Placeholder 2">
            <a:extLst>
              <a:ext uri="{FF2B5EF4-FFF2-40B4-BE49-F238E27FC236}">
                <a16:creationId xmlns:a16="http://schemas.microsoft.com/office/drawing/2014/main" id="{28BD94BB-FAB1-427D-AED4-62B375BD201F}"/>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sns.residplot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(data=</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x='Year', y='</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order=3</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scatter_kws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={'s':5})</a:t>
            </a:r>
          </a:p>
          <a:p>
            <a:endParaRPr lang="en-US" sz="1600" dirty="0"/>
          </a:p>
        </p:txBody>
      </p:sp>
      <p:pic>
        <p:nvPicPr>
          <p:cNvPr id="9" name="Content Placeholder 8" descr="Refer to page 367 in textbook">
            <a:extLst>
              <a:ext uri="{FF2B5EF4-FFF2-40B4-BE49-F238E27FC236}">
                <a16:creationId xmlns:a16="http://schemas.microsoft.com/office/drawing/2014/main" id="{04C75A8A-2E88-41BC-BA7C-77349852CD52}"/>
              </a:ext>
            </a:extLst>
          </p:cNvPr>
          <p:cNvPicPr>
            <a:picLocks noGrp="1" noChangeAspect="1"/>
          </p:cNvPicPr>
          <p:nvPr>
            <p:ph sz="quarter" idx="13"/>
          </p:nvPr>
        </p:nvPicPr>
        <p:blipFill>
          <a:blip r:embed="rId2"/>
          <a:stretch>
            <a:fillRect/>
          </a:stretch>
        </p:blipFill>
        <p:spPr>
          <a:xfrm>
            <a:off x="1259775" y="1752600"/>
            <a:ext cx="5502280" cy="3581400"/>
          </a:xfrm>
          <a:prstGeom prst="rect">
            <a:avLst/>
          </a:prstGeom>
        </p:spPr>
      </p:pic>
      <p:sp>
        <p:nvSpPr>
          <p:cNvPr id="5" name="Date Placeholder 4">
            <a:extLst>
              <a:ext uri="{FF2B5EF4-FFF2-40B4-BE49-F238E27FC236}">
                <a16:creationId xmlns:a16="http://schemas.microsoft.com/office/drawing/2014/main" id="{B17302B5-7201-4F90-ABAA-0B881A8E529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6" name="Footer Placeholder 5">
            <a:extLst>
              <a:ext uri="{FF2B5EF4-FFF2-40B4-BE49-F238E27FC236}">
                <a16:creationId xmlns:a16="http://schemas.microsoft.com/office/drawing/2014/main" id="{237AB642-609E-45BB-9918-253891290149}"/>
              </a:ext>
            </a:extLst>
          </p:cNvPr>
          <p:cNvSpPr>
            <a:spLocks noGrp="1"/>
          </p:cNvSpPr>
          <p:nvPr>
            <p:ph type="ftr" sz="quarter" idx="11"/>
          </p:nvPr>
        </p:nvSpPr>
        <p:spPr/>
        <p:txBody>
          <a:bodyPr/>
          <a:lstStyle/>
          <a:p>
            <a:pPr>
              <a:defRPr/>
            </a:pPr>
            <a:r>
              <a:rPr lang="en-US"/>
              <a:t>© 2021, Mike Murach &amp; Associates, Inc.</a:t>
            </a:r>
          </a:p>
        </p:txBody>
      </p:sp>
      <p:sp>
        <p:nvSpPr>
          <p:cNvPr id="7" name="Slide Number Placeholder 6">
            <a:extLst>
              <a:ext uri="{FF2B5EF4-FFF2-40B4-BE49-F238E27FC236}">
                <a16:creationId xmlns:a16="http://schemas.microsoft.com/office/drawing/2014/main" id="{4114408C-3C22-4F82-9B1A-4C3AD66FFCFE}"/>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C10, Slide </a:t>
            </a:r>
            <a:fld id="{5ECE9829-65B2-40C6-AEFF-7C648FF56A9C}" type="slidenum">
              <a:rPr lang="en-US" sz="900" smtClean="0">
                <a:solidFill>
                  <a:schemeClr val="bg1"/>
                </a:solidFill>
                <a:latin typeface="Arial Narrow" pitchFamily="34" charset="0"/>
              </a:rPr>
              <a:pPr algn="r">
                <a:defRPr/>
              </a:pPr>
              <a:t>41</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3803637002"/>
      </p:ext>
    </p:extLst>
  </p:cSld>
  <p:clrMapOvr>
    <a:masterClrMapping/>
  </p:clrMapOvr>
</p:sld>
</file>

<file path=ppt/theme/theme1.xml><?xml version="1.0" encoding="utf-8"?>
<a:theme xmlns:a="http://schemas.openxmlformats.org/drawingml/2006/main" name="Master slides_with_titles_logo">
  <a:themeElements>
    <a:clrScheme name="Master slid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Master slid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aster slide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aster slide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aster slide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aster slide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aster slide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aster slide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MA accessible slides.potx" id="{611E833D-05D0-4A5D-A09D-85733BEA6AAA}" vid="{7CAD4F6C-8ECE-45F7-A39E-93FAD23107B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MMA accessible slides</Template>
  <TotalTime>3111</TotalTime>
  <Words>3244</Words>
  <Application>Microsoft Office PowerPoint</Application>
  <PresentationFormat>On-screen Show (4:3)</PresentationFormat>
  <Paragraphs>473</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Arial Narrow</vt:lpstr>
      <vt:lpstr>Consolas</vt:lpstr>
      <vt:lpstr>Symbol</vt:lpstr>
      <vt:lpstr>Times New Roman</vt:lpstr>
      <vt:lpstr>Master slides_with_titles_logo</vt:lpstr>
      <vt:lpstr>Chapter 10</vt:lpstr>
      <vt:lpstr>Objectives</vt:lpstr>
      <vt:lpstr>Objectives (continued)</vt:lpstr>
      <vt:lpstr>Types of predictive models</vt:lpstr>
      <vt:lpstr>Real-world applications of predictive analysis</vt:lpstr>
      <vt:lpstr>An introduction to regression analysis</vt:lpstr>
      <vt:lpstr>Real-world linear regression examples</vt:lpstr>
      <vt:lpstr>The columns of the Housing dataset</vt:lpstr>
      <vt:lpstr>The first five rows of the Housing dataset</vt:lpstr>
      <vt:lpstr>A scatter plot that shows two variables  that have a correlation</vt:lpstr>
      <vt:lpstr>A scatter plot that shows two variables  that don’t have a correlation</vt:lpstr>
      <vt:lpstr>The Seaborn pairplot() method</vt:lpstr>
      <vt:lpstr>How to use the pairplot() method</vt:lpstr>
      <vt:lpstr>How to interpret the r-value</vt:lpstr>
      <vt:lpstr>How to use the Pandas corr() method</vt:lpstr>
      <vt:lpstr>How to filter the results of the corr() method</vt:lpstr>
      <vt:lpstr>The Seaborn heatmap() method</vt:lpstr>
      <vt:lpstr>How to plot correlation data with a heatmap</vt:lpstr>
      <vt:lpstr>How to condense a heatmap</vt:lpstr>
      <vt:lpstr>The procedure for creating, testing,  and using a regression model</vt:lpstr>
      <vt:lpstr>How to import sklearn’s train_test_split() function</vt:lpstr>
      <vt:lpstr>Parameters of the train_test_split() function</vt:lpstr>
      <vt:lpstr>How to import sklearn’s LinearRegression class</vt:lpstr>
      <vt:lpstr>How to create, validate, and use  a linear regression model</vt:lpstr>
      <vt:lpstr>How to create, validate, and use  a linear regression model (continued)</vt:lpstr>
      <vt:lpstr>The predicted prices vs. the test prices</vt:lpstr>
      <vt:lpstr>How to prepare the data for plotting</vt:lpstr>
      <vt:lpstr>The DataFrame with the prepared data</vt:lpstr>
      <vt:lpstr>How to plot the test and training data</vt:lpstr>
      <vt:lpstr>How to calculate residuals</vt:lpstr>
      <vt:lpstr>How to plot the residuals</vt:lpstr>
      <vt:lpstr>Types of linear regressions</vt:lpstr>
      <vt:lpstr>A Seaborn method for plotting linear regression models</vt:lpstr>
      <vt:lpstr>Parameters of the lmplot() method (cont.)</vt:lpstr>
      <vt:lpstr>A simple linear regression</vt:lpstr>
      <vt:lpstr>A logistic regression</vt:lpstr>
      <vt:lpstr>A polynomial regression</vt:lpstr>
      <vt:lpstr>A lowess regression</vt:lpstr>
      <vt:lpstr>The Seaborn residplot() method  for plotting residuals</vt:lpstr>
      <vt:lpstr>The residuals for a simple linear regression</vt:lpstr>
      <vt:lpstr>The residuals for a polynomial regression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Bethany Cabrera</dc:creator>
  <cp:lastModifiedBy>Joel Murach</cp:lastModifiedBy>
  <cp:revision>117</cp:revision>
  <cp:lastPrinted>2016-01-14T23:03:16Z</cp:lastPrinted>
  <dcterms:created xsi:type="dcterms:W3CDTF">2021-06-22T20:59:38Z</dcterms:created>
  <dcterms:modified xsi:type="dcterms:W3CDTF">2024-04-15T20:46:47Z</dcterms:modified>
</cp:coreProperties>
</file>