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6">
  <p:sldMasterIdLst>
    <p:sldMasterId id="2147483669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30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14" autoAdjust="0"/>
  </p:normalViewPr>
  <p:slideViewPr>
    <p:cSldViewPr>
      <p:cViewPr>
        <p:scale>
          <a:sx n="150" d="100"/>
          <a:sy n="150" d="100"/>
        </p:scale>
        <p:origin x="108" y="-27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9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4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066800" y="12954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421363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3597780"/>
            <a:ext cx="7315200" cy="15076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8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39D1673-5FDF-4D83-ADBE-97ACF8D227B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6300" y="3532466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6824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752600"/>
            <a:ext cx="7315200" cy="152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352800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3886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3D78B2-A2B3-4F14-970F-D4E0D43533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1062758"/>
            <a:ext cx="7391400" cy="6062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6102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8" r:id="rId6"/>
    <p:sldLayoutId id="2147483689" r:id="rId7"/>
    <p:sldLayoutId id="2147483690" r:id="rId8"/>
    <p:sldLayoutId id="2147483680" r:id="rId9"/>
    <p:sldLayoutId id="2147483683" r:id="rId10"/>
    <p:sldLayoutId id="2147483681" r:id="rId11"/>
    <p:sldLayoutId id="2147483674" r:id="rId12"/>
    <p:sldLayoutId id="2147483687" r:id="rId13"/>
    <p:sldLayoutId id="2147483676" r:id="rId14"/>
    <p:sldLayoutId id="2147483691" r:id="rId15"/>
    <p:sldLayoutId id="2147483675" r:id="rId16"/>
    <p:sldLayoutId id="2147483684" r:id="rId17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14400" y="2209800"/>
            <a:ext cx="7315200" cy="2971800"/>
          </a:xfrm>
        </p:spPr>
        <p:txBody>
          <a:bodyPr/>
          <a:lstStyle/>
          <a:p>
            <a:r>
              <a:rPr lang="en-US" dirty="0"/>
              <a:t>How to analyze the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2024,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C50B9-DF0E-4649-98E3-BC0A95CC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38EE-2B03-43AD-A32E-CBCA466F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0202D-4017-480F-A3D4-F511DEAF1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Melt the data in two or more columns.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 and aggregate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Pivot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create a pivot table from the data.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 the data for a column.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 the rows with the n largest values from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calculate the percent change for the rows in a column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or rank the rows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largest or smallest values.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EE5D2-AF37-45DD-95D3-722BA028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42832-913D-4A43-9E73-3C393995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DFC0-7EE6-4DA6-86D0-03C35392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0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EFB9-D122-4BA7-A5DE-4B8BDB38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(continued)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DC095-4EE3-4F3A-B786-476E2F732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the pivot() and the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pivot_table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methods.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why binning the data in a column is useful.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way you can find other methods for specific analysis tasks.</a:t>
            </a:r>
            <a:endParaRPr lang="en-US" sz="11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049DC-A81D-4FCA-B217-07F44B0B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33223-3B75-4C84-8481-0290E70B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0B0FC-583A-4A53-8685-74F30278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12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C1BD15-6CBD-4FF9-8858-E359B629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melt() method</a:t>
            </a:r>
            <a:endParaRPr lang="en-US" dirty="0"/>
          </a:p>
        </p:txBody>
      </p:sp>
      <p:graphicFrame>
        <p:nvGraphicFramePr>
          <p:cNvPr id="13" name="Table Placeholder 12">
            <a:extLst>
              <a:ext uri="{FF2B5EF4-FFF2-40B4-BE49-F238E27FC236}">
                <a16:creationId xmlns:a16="http://schemas.microsoft.com/office/drawing/2014/main" id="{DA6C5F44-0C5B-428C-B6F4-E759635E7AB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013712418"/>
              </p:ext>
            </p:extLst>
          </p:nvPr>
        </p:nvGraphicFramePr>
        <p:xfrm>
          <a:off x="914400" y="1090295"/>
          <a:ext cx="5212080" cy="109728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334491604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887784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762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melt(params)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Melts the data in two or more columns into two columns.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2969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68A116-2018-4366-82D1-647B412229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melt() method</a:t>
            </a:r>
          </a:p>
          <a:p>
            <a:endParaRPr lang="en-US" sz="2400" dirty="0"/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F70EC46F-1010-4784-8A81-54C8C2DD8655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695336684"/>
              </p:ext>
            </p:extLst>
          </p:nvPr>
        </p:nvGraphicFramePr>
        <p:xfrm>
          <a:off x="914400" y="2819400"/>
          <a:ext cx="6934200" cy="289560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4125417959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84743961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525970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id_vars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columns that won’t be melted.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04694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value_vars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columns to melt. If none are specified, all will be melted.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9084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var_name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 of the column that will contain the melted column names, or “variable” by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81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value_name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 of the column that will contain the melted column values, or “value” by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50182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8F422-C27F-467D-AB89-29602FDA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75D6C-1E74-4849-B707-F198243A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F6564-D99A-4948-A128-34FA0B1D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06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C3627B-36CC-4996-BB73-9A5D37FE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cars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992AD1-450B-40B0-8E8D-34A2495BA5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75 in textbook">
            <a:extLst>
              <a:ext uri="{FF2B5EF4-FFF2-40B4-BE49-F238E27FC236}">
                <a16:creationId xmlns:a16="http://schemas.microsoft.com/office/drawing/2014/main" id="{D7E722F9-FB1F-4FEF-8308-D6F88B178E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411036"/>
            <a:ext cx="4889416" cy="217036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B6F3-7195-4EDC-BF5E-8F479438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9B74-ABFA-4D32-92D3-3E946CAF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5666-1D06-4BE0-8E7F-EA585A25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91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5A548E-DE69-42C1-85ED-375E91C7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melt()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DBB7BC-BCBE-4218-B569-ABF653EC96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cars_melted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pd.melt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(cars,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='price',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='feature',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featureValue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cars_melted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pic>
        <p:nvPicPr>
          <p:cNvPr id="10" name="Content Placeholder 9" descr="Refer to page 275 in textbook">
            <a:extLst>
              <a:ext uri="{FF2B5EF4-FFF2-40B4-BE49-F238E27FC236}">
                <a16:creationId xmlns:a16="http://schemas.microsoft.com/office/drawing/2014/main" id="{E195A9F2-6E70-4D3D-BF35-D5965B1F69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2405539"/>
            <a:ext cx="2623458" cy="35380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1CB7E-C14B-4172-99A5-C3DE2C99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D6F94-4974-4696-BF74-FE78C5E7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5A6A0-2DD0-424E-BBB7-9DE5DD85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6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5BC7DD-C93B-425A-8AD3-D692D9D3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melted data with the hue parameter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BCC8CD-4E6B-40B8-83F1-6A606D8E82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cars_melted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featureValue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y='price',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hue='feature')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77 in textbook">
            <a:extLst>
              <a:ext uri="{FF2B5EF4-FFF2-40B4-BE49-F238E27FC236}">
                <a16:creationId xmlns:a16="http://schemas.microsoft.com/office/drawing/2014/main" id="{B2CA4754-562B-4A69-BAF6-7124E08CCCC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7671" y="1676399"/>
            <a:ext cx="5056929" cy="41176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D60C-5936-47E2-862C-63C7171B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FA071-BE96-482E-A364-BBEBAD8E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3CEA8-1EF0-4496-8406-D65315B6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00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F388C2C-D1A7-4B5C-866D-88AAE7A6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melted data with the col parameter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BC919F-199F-4651-989C-83134699E2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cars_melted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featureValue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y='price', 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col='feature',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facet_kws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={'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':False})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77 in textbook">
            <a:extLst>
              <a:ext uri="{FF2B5EF4-FFF2-40B4-BE49-F238E27FC236}">
                <a16:creationId xmlns:a16="http://schemas.microsoft.com/office/drawing/2014/main" id="{3B6FD981-6649-4A39-82EE-E9B750FDDDF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676400"/>
            <a:ext cx="6766642" cy="3429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5EDB8-CFDE-4D28-A662-68CED617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C54F-05D0-4D99-A8FF-2ECBD8F7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B8EF0-2D52-4077-8CAB-66E2D4F4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287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5523-D87D-4B5A-9323-325D3CED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aggregate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are optimized for grouping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E695A-726B-4C25-8E25-436557A0CA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F72CA-166F-4EF6-9E47-04261A0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4492-3FE2-4C69-AD45-AF7F57CF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7194C-9373-4EB6-A533-2D4B84EF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67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B8E811-97F9-43D0-ACF7-C400E13E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fires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before the data is grouped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E7F37C-293F-4858-AE2A-C1DE6BAE5A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79 in textbook">
            <a:extLst>
              <a:ext uri="{FF2B5EF4-FFF2-40B4-BE49-F238E27FC236}">
                <a16:creationId xmlns:a16="http://schemas.microsoft.com/office/drawing/2014/main" id="{DD6253EB-3B68-42E4-B0B0-C814ACFDABE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1" y="1475122"/>
            <a:ext cx="6597027" cy="142047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CE65A-1332-4A23-8D7A-35F7AF4C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248E-38F4-4220-B7A1-EA0FE9E1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7C8F0-74E6-42A7-9EB9-2A19E2A4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24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31F153-2901-49D8-9911-955FF0AE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get the average for each numeric column in each state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4B787-DAC4-483D-822D-DC4DD05A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1B09B-661A-4081-BD98-8BF107CC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E946-5DA8-4534-8FFD-A6C11D0C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20DE-9BB8-13CD-7A55-B1A0DBA22763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914400" y="1397807"/>
            <a:ext cx="51235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('state')[['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']].mean().head(3)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AA3F2-7948-0667-3871-14086F229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37" y="2230358"/>
            <a:ext cx="4317463" cy="275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60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C78B35-8D56-449A-B690-16290C9E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get the maximum value for each month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each state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A75DEF-7F35-4805-8423-804782065B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(['state','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  <a:r>
              <a:rPr lang="en-US" sz="18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fire_month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’]) \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[['acres_burned’,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days_burning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']].max().head(3)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B1267-C4C7-4858-A215-E2668A06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6F355-277D-4FA0-B731-74B62686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3FF0E-7D2B-48ED-8C31-6C622EE1E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DB275F-1739-97DA-EC23-76A9129F3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09800"/>
            <a:ext cx="6400800" cy="25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70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4753BA-68E8-4BD8-A79C-DFBA2B3D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A237C812-BCD3-4758-BB4A-16B77541D44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580855255"/>
              </p:ext>
            </p:extLst>
          </p:nvPr>
        </p:nvGraphicFramePr>
        <p:xfrm>
          <a:off x="914400" y="1097597"/>
          <a:ext cx="6412230" cy="1097280"/>
        </p:xfrm>
        <a:graphic>
          <a:graphicData uri="http://schemas.openxmlformats.org/drawingml/2006/table">
            <a:tbl>
              <a:tblPr firstRow="1"/>
              <a:tblGrid>
                <a:gridCol w="2068830">
                  <a:extLst>
                    <a:ext uri="{9D8B030D-6E8A-4147-A177-3AD203B41FA5}">
                      <a16:colId xmlns:a16="http://schemas.microsoft.com/office/drawing/2014/main" val="3756183879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635773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52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groupby(params)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GroupBy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object that supports aggregate methods such as sum().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39271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75F50A9-654C-4A6F-833D-4C2637896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sz="2400" dirty="0"/>
          </a:p>
        </p:txBody>
      </p:sp>
      <p:graphicFrame>
        <p:nvGraphicFramePr>
          <p:cNvPr id="2103" name="Table Placeholder 2102">
            <a:extLst>
              <a:ext uri="{FF2B5EF4-FFF2-40B4-BE49-F238E27FC236}">
                <a16:creationId xmlns:a16="http://schemas.microsoft.com/office/drawing/2014/main" id="{3CBB67F6-709A-4A3A-8E76-EC66F1C58869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572555888"/>
              </p:ext>
            </p:extLst>
          </p:nvPr>
        </p:nvGraphicFramePr>
        <p:xfrm>
          <a:off x="914400" y="2819400"/>
          <a:ext cx="6983730" cy="219456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491642215"/>
                    </a:ext>
                  </a:extLst>
                </a:gridCol>
                <a:gridCol w="5154930">
                  <a:extLst>
                    <a:ext uri="{9D8B030D-6E8A-4147-A177-3AD203B41FA5}">
                      <a16:colId xmlns:a16="http://schemas.microsoft.com/office/drawing/2014/main" val="351402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0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by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group by.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0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as_index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 True (default), it creates an index based on the grouped columns.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729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observed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 True (default), groups are only created for items present in the data.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293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CF622-F43A-4DD8-A39B-52311541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7FF03-7A31-4BB1-A064-6630E2F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813A-98FD-4D94-9111-64F46B28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96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9A9949-A777-4685-B961-98675C6F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fires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E34C43-78FA-480D-AE1E-0A0B2D907D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1 in textbook">
            <a:extLst>
              <a:ext uri="{FF2B5EF4-FFF2-40B4-BE49-F238E27FC236}">
                <a16:creationId xmlns:a16="http://schemas.microsoft.com/office/drawing/2014/main" id="{F0913BCF-AB2F-456A-8BF2-8F164D4B7BA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438543"/>
            <a:ext cx="6509658" cy="14000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CCE99-C5E8-4B37-9653-A895F32F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62D8B-2E4B-43C8-BA5D-B58C6F58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38AAE-4D96-4130-8F89-9474AF7B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596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98F36D-B314-4E71-A2E3-9146517B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 with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the index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247610-9428-4438-B70E-8AA5378AB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800" y="1215158"/>
            <a:ext cx="7696200" cy="2213842"/>
          </a:xfrm>
        </p:spPr>
        <p:txBody>
          <a:bodyPr/>
          <a:lstStyle/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yearly_group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yearly_sums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yearly_group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[['acres_burned','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']].sum()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yearly_sums.head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11BD2-6EFB-4878-8105-8E1354645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623D-E99E-43BA-A927-1536ED51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EA51F-34C3-4DA8-9BF3-79121B5E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445EE0-0930-D8FC-E749-7F81D74A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36642"/>
            <a:ext cx="5029200" cy="279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5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8165E2-9877-4A81-AF01-ED095F79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 without indexes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126319-60A5-407F-BCBA-0F2C1E14D2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as_index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=False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).sum()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yearly_sums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[['acres_burned','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']].sum()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yearly_sums.head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1 in textbook">
            <a:extLst>
              <a:ext uri="{FF2B5EF4-FFF2-40B4-BE49-F238E27FC236}">
                <a16:creationId xmlns:a16="http://schemas.microsoft.com/office/drawing/2014/main" id="{31BF138C-9150-43DD-A2C6-E39DBD3F5CC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43000" y="2770569"/>
            <a:ext cx="4690039" cy="16216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4262A-D0C6-4646-801B-E68F54C1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E211B-1053-4AA3-B183-3EE98D7D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A192D-8287-477D-A293-29EF16C4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222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A65EC8-4121-407B-8749-EB7C682E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C4066D90-E01C-41E9-B771-9A18708F5A0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9457564"/>
              </p:ext>
            </p:extLst>
          </p:nvPr>
        </p:nvGraphicFramePr>
        <p:xfrm>
          <a:off x="914400" y="1112520"/>
          <a:ext cx="5840730" cy="1097280"/>
        </p:xfrm>
        <a:graphic>
          <a:graphicData uri="http://schemas.openxmlformats.org/drawingml/2006/table">
            <a:tbl>
              <a:tblPr first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66050506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1517491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1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agg()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Applies an aggregate method or list of methods to a Series or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object.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05916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96E4-BBB6-43EF-9372-B81D49692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6F1F4-38D5-4F8B-A0B0-B7F12FA8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3D07E-6C01-4AB7-8163-054EF1F6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94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24A1B9-3F20-4630-9FED-158C6D64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007F62-1B8C-40F2-AD30-3EB607100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monthly_group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['state','fire_year','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fire_month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aggregate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multiple numeric columns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monthly_group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[['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acres_burned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’,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latin typeface="Consolas" panose="020B06090202040302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days_burning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']].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agg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(['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sum','count','mean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']).head(3)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pic>
        <p:nvPicPr>
          <p:cNvPr id="10" name="Content Placeholder 9" descr="Refer to page 283 in textbook">
            <a:extLst>
              <a:ext uri="{FF2B5EF4-FFF2-40B4-BE49-F238E27FC236}">
                <a16:creationId xmlns:a16="http://schemas.microsoft.com/office/drawing/2014/main" id="{888B218E-8F4E-4020-A3F6-2678D70BA6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0993" y="3581400"/>
            <a:ext cx="6615014" cy="22138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54E94-90A5-4FA1-92C2-E793FEAC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5EB42-367F-4A70-9F5F-685122F8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BA46E-01C2-48BF-9C61-380ADC8E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13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373299-7FC9-47EC-8EE0-E8E10A7C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aggregate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a single column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D1B40D-BCDA-4EE8-A435-BCDAEBF645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monthly_group.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sum','count','mean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().head(3)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3 in textbook">
            <a:extLst>
              <a:ext uri="{FF2B5EF4-FFF2-40B4-BE49-F238E27FC236}">
                <a16:creationId xmlns:a16="http://schemas.microsoft.com/office/drawing/2014/main" id="{597100C3-2A66-4738-9EE8-B17E434613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262742" y="1892662"/>
            <a:ext cx="4789540" cy="2069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2E16-6082-432F-BBAA-2711CA4B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F8263-B030-4CBD-A7DB-C96D8A05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CE6DC-4761-409C-ABB8-BD5C8A02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46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6C0BC9-185D-4EA5-8CD3-29FC58760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varied aggregate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numeric columns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855DAF-964B-4627-A9E9-AABDF78664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monthly_group.agg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sum','max','min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sum','mean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fire_name':'count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'}).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3 in textbook">
            <a:extLst>
              <a:ext uri="{FF2B5EF4-FFF2-40B4-BE49-F238E27FC236}">
                <a16:creationId xmlns:a16="http://schemas.microsoft.com/office/drawing/2014/main" id="{67A5AD14-C7BA-4E07-8228-6F42E50242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2343739"/>
            <a:ext cx="6509658" cy="22666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88EAB-2CDB-4E77-BFD0-2558B2BA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12755-D64F-44AD-96B2-77578190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6AF36-131D-41F6-A577-7893BC03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549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493500-EC80-4CF8-9E09-F16C662D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pivot()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F98C6ECD-3656-48BA-AD94-C83B386A585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234214235"/>
              </p:ext>
            </p:extLst>
          </p:nvPr>
        </p:nvGraphicFramePr>
        <p:xfrm>
          <a:off x="914400" y="1074420"/>
          <a:ext cx="5669280" cy="1097280"/>
        </p:xfrm>
        <a:graphic>
          <a:graphicData uri="http://schemas.openxmlformats.org/drawingml/2006/table">
            <a:tbl>
              <a:tblPr firstRow="1"/>
              <a:tblGrid>
                <a:gridCol w="1840230">
                  <a:extLst>
                    <a:ext uri="{9D8B030D-6E8A-4147-A177-3AD203B41FA5}">
                      <a16:colId xmlns:a16="http://schemas.microsoft.com/office/drawing/2014/main" val="3324492528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407019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18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pivot(params)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Pivots the data based on the index, columns, and values parameters.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37143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EB1611-8BA5-4B41-8F47-FF4FCD4DDE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pivot()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1CEB8B00-FED2-4717-93B7-7703EB5F281B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643512121"/>
              </p:ext>
            </p:extLst>
          </p:nvPr>
        </p:nvGraphicFramePr>
        <p:xfrm>
          <a:off x="914400" y="2775088"/>
          <a:ext cx="6248400" cy="280416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67718151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659233219"/>
                    </a:ext>
                  </a:extLst>
                </a:gridCol>
              </a:tblGrid>
              <a:tr h="21310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28397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use as the row index (no duplicates).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519456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use as the column index.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959614"/>
                  </a:ext>
                </a:extLst>
              </a:tr>
              <a:tr h="540958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values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use to populate the new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 By default, all remaining columns are used.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83474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05EB-A123-4FB5-B542-4DB65B67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0C6F0-0C3A-4C20-B22C-4DE9A849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ACFC-6D8E-4404-A351-6CACA585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03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BBCD05-14C7-47B7-B134-F3F52B6D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467AE5-7A92-42E8-8AF2-7D1E6D3BA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states = ['AK','CA','ID','TX’]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(['state','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’],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=False)[['acres_burned','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']].sum()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('state in @states')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58E37-7431-432F-9A6A-E29DFF6B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3BE46-841E-4F04-8863-6F616D54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EA596-D9D7-4712-8BBD-4193504F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7FDFDF-2B8E-B815-84D1-7E8BEA2F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2714482"/>
            <a:ext cx="6786581" cy="185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68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EDA49D-C2C2-44A8-85F9-3CD6E26B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pivot the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656AC5-EBE3-4901-A43A-51D1D72BD1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(index='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columns='state',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').head(2)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5 in textbook">
            <a:extLst>
              <a:ext uri="{FF2B5EF4-FFF2-40B4-BE49-F238E27FC236}">
                <a16:creationId xmlns:a16="http://schemas.microsoft.com/office/drawing/2014/main" id="{868F50E8-CF62-4244-A9AA-5220B826EF9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721998"/>
            <a:ext cx="4373162" cy="15546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CE633-7BBF-45A1-9B51-B0ED4BD2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E41C-DACD-4DEE-9049-6C4900DF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1F36C-F344-44C0-99A1-CA583738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67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0F75CC-342C-4A9B-BEED-DE92496D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Pandas plot()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6438AB-A3A7-4C80-8425-6F4E66F1EB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top_states.pivot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(index='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columns='state',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').plot()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5 in textbook">
            <a:extLst>
              <a:ext uri="{FF2B5EF4-FFF2-40B4-BE49-F238E27FC236}">
                <a16:creationId xmlns:a16="http://schemas.microsoft.com/office/drawing/2014/main" id="{483D4D06-CCD3-4482-83D8-7FAF0698E8D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5858" y="1828799"/>
            <a:ext cx="4753941" cy="36010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5C787-4B57-4886-BCF2-DBAB6B3A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26937-DAB8-42AC-B4D8-2B5065D68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3C34-F1CA-4813-8590-5AD3F33A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893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2F49B1-5EF8-4EEF-8163-D95609EF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ECADD5E5-8DF3-43E5-B1C9-043F1BC179C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839973511"/>
              </p:ext>
            </p:extLst>
          </p:nvPr>
        </p:nvGraphicFramePr>
        <p:xfrm>
          <a:off x="935255" y="1097280"/>
          <a:ext cx="6012180" cy="1097280"/>
        </p:xfrm>
        <a:graphic>
          <a:graphicData uri="http://schemas.openxmlformats.org/drawingml/2006/table">
            <a:tbl>
              <a:tblPr firstRow="1"/>
              <a:tblGrid>
                <a:gridCol w="2583180">
                  <a:extLst>
                    <a:ext uri="{9D8B030D-6E8A-4147-A177-3AD203B41FA5}">
                      <a16:colId xmlns:a16="http://schemas.microsoft.com/office/drawing/2014/main" val="411271885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772815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40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pivot_table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Produces a pivot table with an applied aggregate method.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74934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089F06-FA65-41E6-9584-E148025ABD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97668"/>
            <a:ext cx="73914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B6675CFA-8276-4664-B81D-2FEDC32D87D8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814876875"/>
              </p:ext>
            </p:extLst>
          </p:nvPr>
        </p:nvGraphicFramePr>
        <p:xfrm>
          <a:off x="914400" y="2770108"/>
          <a:ext cx="6553200" cy="2804160"/>
        </p:xfrm>
        <a:graphic>
          <a:graphicData uri="http://schemas.openxmlformats.org/drawingml/2006/table">
            <a:tbl>
              <a:tblPr firstRow="1"/>
              <a:tblGrid>
                <a:gridCol w="1852180">
                  <a:extLst>
                    <a:ext uri="{9D8B030D-6E8A-4147-A177-3AD203B41FA5}">
                      <a16:colId xmlns:a16="http://schemas.microsoft.com/office/drawing/2014/main" val="1608956407"/>
                    </a:ext>
                  </a:extLst>
                </a:gridCol>
                <a:gridCol w="4701020">
                  <a:extLst>
                    <a:ext uri="{9D8B030D-6E8A-4147-A177-3AD203B41FA5}">
                      <a16:colId xmlns:a16="http://schemas.microsoft.com/office/drawing/2014/main" val="236446927"/>
                    </a:ext>
                  </a:extLst>
                </a:gridCol>
              </a:tblGrid>
              <a:tr h="21310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66851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use as the row index (allows duplicates).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67125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use as the column index.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403586"/>
                  </a:ext>
                </a:extLst>
              </a:tr>
              <a:tr h="540958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values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that contain the values to be aggregated. By default, all non-nuisance columns are aggregated.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50319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28A3-6279-434F-BC06-BB52D679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6E058-6993-406D-B3AC-F0FD0ECE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85B0A-09C6-4B14-90D2-91794B9C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612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F1C87-094A-40EB-9AEB-64F600DD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(cont.)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FCCE0110-43CE-4D8C-BBA8-09172C0E50B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295663735"/>
              </p:ext>
            </p:extLst>
          </p:nvPr>
        </p:nvGraphicFramePr>
        <p:xfrm>
          <a:off x="914400" y="1097280"/>
          <a:ext cx="7040880" cy="1798320"/>
        </p:xfrm>
        <a:graphic>
          <a:graphicData uri="http://schemas.openxmlformats.org/drawingml/2006/table">
            <a:tbl>
              <a:tblPr firstRow="1"/>
              <a:tblGrid>
                <a:gridCol w="1840230">
                  <a:extLst>
                    <a:ext uri="{9D8B030D-6E8A-4147-A177-3AD203B41FA5}">
                      <a16:colId xmlns:a16="http://schemas.microsoft.com/office/drawing/2014/main" val="3645449725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3460503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7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aggfunc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aggregate method or list of methods to be applied to each column in the values parameter.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82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fill_value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value to replace any missing values with in the resulting pivot table.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95867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F7847-A8F0-4AEB-A5DC-AC1AE06D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D53CB-28A6-4A0D-B44A-ACBB628B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FFAD5-5130-4007-9630-3906502B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087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349A67-FD78-499C-9EE4-1BD3E569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0311D3-515B-41BC-954C-86543B746B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states = ['AK','CA','ID','TX']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fires_top_4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('state in @states')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fires_top_4 = fires_top_4.pivot_table(index='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columns='state',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aggfunc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='sum')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fires_top_4.head(2)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7 in textbook">
            <a:extLst>
              <a:ext uri="{FF2B5EF4-FFF2-40B4-BE49-F238E27FC236}">
                <a16:creationId xmlns:a16="http://schemas.microsoft.com/office/drawing/2014/main" id="{89DE2A91-8546-4792-B92A-8EC4A3109B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1" y="2572405"/>
            <a:ext cx="4346059" cy="154239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A6645-0622-44B2-BFCC-9790D1B1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68CC9-74A7-4CC1-A5A8-BBD2F2FD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AC01B-6139-481C-9B03-B0C65C3D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268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19FBF-419A-403B-AAB1-80197E7F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Pandas plot() method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BC599F-9D5F-45BB-9144-2CA4785BB9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fires_top_4.plot()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87 in textbook">
            <a:extLst>
              <a:ext uri="{FF2B5EF4-FFF2-40B4-BE49-F238E27FC236}">
                <a16:creationId xmlns:a16="http://schemas.microsoft.com/office/drawing/2014/main" id="{EC4D613C-D84B-4EE7-A193-F4DA81E9D7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00200"/>
            <a:ext cx="5205902" cy="3886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F21D5-EDD3-4220-9F07-5449796AD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E836-BDA6-4003-A5B5-BE9FC156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C75C6-EFBE-4682-B584-BC0211C7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941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CF86F2-0346-400D-B9B9-866052FC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cut()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2A6C0048-2750-4609-88B7-A7BFCD8265E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77052886"/>
              </p:ext>
            </p:extLst>
          </p:nvPr>
        </p:nvGraphicFramePr>
        <p:xfrm>
          <a:off x="914400" y="1066800"/>
          <a:ext cx="5612130" cy="79248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154606628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035539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02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cut(params)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Bins the data into equal-sized bins.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750997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0E03B4-594B-4512-84CD-7E2C5A9772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1992868"/>
            <a:ext cx="73914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cut()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84112852-13E5-4D48-AD8A-16B601D836D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370256076"/>
              </p:ext>
            </p:extLst>
          </p:nvPr>
        </p:nvGraphicFramePr>
        <p:xfrm>
          <a:off x="914401" y="2477060"/>
          <a:ext cx="6705599" cy="2590800"/>
        </p:xfrm>
        <a:graphic>
          <a:graphicData uri="http://schemas.openxmlformats.org/drawingml/2006/table">
            <a:tbl>
              <a:tblPr firstRow="1"/>
              <a:tblGrid>
                <a:gridCol w="1698901">
                  <a:extLst>
                    <a:ext uri="{9D8B030D-6E8A-4147-A177-3AD203B41FA5}">
                      <a16:colId xmlns:a16="http://schemas.microsoft.com/office/drawing/2014/main" val="1468065165"/>
                    </a:ext>
                  </a:extLst>
                </a:gridCol>
                <a:gridCol w="5006698">
                  <a:extLst>
                    <a:ext uri="{9D8B030D-6E8A-4147-A177-3AD203B41FA5}">
                      <a16:colId xmlns:a16="http://schemas.microsoft.com/office/drawing/2014/main" val="3273968223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096278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that contains the data to be binned.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425618"/>
                  </a:ext>
                </a:extLst>
              </a:tr>
              <a:tr h="40808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bins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bins to create, or a list of values for the bin edges.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296478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labels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labels to use for the bins.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918550"/>
                  </a:ext>
                </a:extLst>
              </a:tr>
              <a:tr h="40808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right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set to False, the right edges are not included in the bins.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72436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38D79-3CD0-4104-8934-DD8EE26B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A1200-E672-4BCD-AE77-4523CCC9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4B31-509F-49D1-BEA8-B8013656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474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63F1-0902-4445-8124-FC9EE402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D56A6-21AF-476A-A275-8CEFDCC80A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2010 and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0').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four bins for the data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pd.cut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bins=4)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1145154    (-296.103, 76535.75]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1145175    (-296.103, 76535.75]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...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1879725    (-296.103, 76535.75]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1880370    (-296.103, 76535.75]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Length: 1858,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category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Categories (4, interval[float64]): [(-296.103, 76535.75] &lt; (76535.75, 153061.5] &lt; (153061.5, 229587.25] &lt; (229587.25, 306113.0]]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AA7F9-59B9-4F4D-88EA-D5D02F4A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68BEB-3D82-48DE-B5B7-A976F75F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7CA7B-C59E-4184-8C6A-DB7D3336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445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03EB-4A66-4626-84A7-8ACC2AA8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labels to the bins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4E736-F952-4E93-A0A3-DC8ECBC2E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pd.cut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bins=[0,100000,200000,300000,400000],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labels=['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small','medium','large','very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large'])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1145154    small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1145175    small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...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1879725    small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1880370    small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Length: 1858,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category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Categories (4, object): ['small' &lt; 'medium' &lt; 'large' &lt; 'very large']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08F14-7FE1-47E4-AC0A-122FAB17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8BB8C-C2E2-49E8-9D7C-AF772B93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7BCF2-23B0-40F3-8969-3D1C7992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876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C553-E7F2-41A4-81C7-8ABE47ED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distribution of values in the bins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76529-7F9D-4388-B60C-D120E62FE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pd.cut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bins=[0,100000,200000,300000,400000],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labels=['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small','medium','large','very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large']).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         1855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medium           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very large      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           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52B0A-BC53-4BA7-99AC-28477A73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6CE4-6D32-4004-8676-811F19FE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87CA9-6255-4510-A712-33D75FEC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355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3AF341-F1AE-457A-81B0-245FC8EF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qcut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32863D7E-6F1A-4ABE-B0EF-F18359F1F3C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847585098"/>
              </p:ext>
            </p:extLst>
          </p:nvPr>
        </p:nvGraphicFramePr>
        <p:xfrm>
          <a:off x="914400" y="1078542"/>
          <a:ext cx="7155180" cy="140208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3588855473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1203557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5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qcut(params)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Bins the data into quantiles with the same number of unique values in each bin. The number of rows in each bin will be skewed if there are duplicates.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392138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D44214-B5D5-40E6-9CD0-DB0650CC64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5908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qcut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876E4724-7E85-48DF-B29A-CA078B042376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661305584"/>
              </p:ext>
            </p:extLst>
          </p:nvPr>
        </p:nvGraphicFramePr>
        <p:xfrm>
          <a:off x="893852" y="3090222"/>
          <a:ext cx="7158884" cy="2590800"/>
        </p:xfrm>
        <a:graphic>
          <a:graphicData uri="http://schemas.openxmlformats.org/drawingml/2006/table">
            <a:tbl>
              <a:tblPr firstRow="1"/>
              <a:tblGrid>
                <a:gridCol w="1784003">
                  <a:extLst>
                    <a:ext uri="{9D8B030D-6E8A-4147-A177-3AD203B41FA5}">
                      <a16:colId xmlns:a16="http://schemas.microsoft.com/office/drawing/2014/main" val="1881052468"/>
                    </a:ext>
                  </a:extLst>
                </a:gridCol>
                <a:gridCol w="5374881">
                  <a:extLst>
                    <a:ext uri="{9D8B030D-6E8A-4147-A177-3AD203B41FA5}">
                      <a16:colId xmlns:a16="http://schemas.microsoft.com/office/drawing/2014/main" val="380603352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580211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that contains the data to be binned.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075347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q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quantiles to create.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630923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labels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labels to use for the bins.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253340"/>
                  </a:ext>
                </a:extLst>
              </a:tr>
              <a:tr h="5855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duplicates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What to do with bins that have the same edges. The default is raise, which raises 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ValueError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 If set to drop, the non-unique bins are dropped.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71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A7F1-32D5-49B6-8025-D2780B1F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20D32-B2B5-42D8-9FE9-DCCCC8D6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1B60F-F424-4F6F-A537-5D8D7859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143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EB38-21AC-4176-A559-DD9FB19C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four quantiles to bin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98BE7-6EDB-4138-ABC7-C34FA8E18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pd.qcut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q=4,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labels=['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small','medium','large','very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large'])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======================================================================173229         small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173230    very large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...  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274081         small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274116        medium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Length: 1858,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category</a:t>
            </a:r>
          </a:p>
          <a:p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Categories (4, object): ['small' &lt; 'medium' &lt; 'large' &lt; 'very large']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6836-5722-412C-A17E-5C2A0527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FE1CF-9F64-4A61-B451-03C5D7BB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314D0-CC9F-48DA-8C41-8505E9E7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81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8222-AA05-4803-8B4E-22E016F9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distribution of the values in each bin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23083-F65C-4C1E-B187-0659549D2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pd.qcut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fires_filtered.acres_burned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q=4,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labels=['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small','medium','large','very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large']).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======================================================================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small         466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medium        465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very large    464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large         463</a:t>
            </a:r>
          </a:p>
          <a:p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Name: count,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int64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5451F-6FB9-4BDB-A6B2-E51C4E76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AF7BA-CAE8-44F3-9C9D-1404B1B5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A34FF-D1E1-4380-970E-69ED104A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867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612C-A5B7-401D-9ABC-B8CAE5B9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assign bin labels to a new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EA8D7-678E-4DA6-9FC2-7E84442C4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pd.qcut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fires_filtered.acres_burned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q=4,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labels=['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small','medium','large','very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large'])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461EF-7C51-4A63-840D-67DF3021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EC78-E41E-4EE2-9F0B-70C28D70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4299-4E8B-46F9-9DDC-19DB44FF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344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1314-55F5-4358-9E10-29A5E91F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qcut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that drops duplicate bins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0630-0ABE-4190-AA99-086034214E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pd.qcut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fires_filtered.days_burning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q=4,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labels=['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short','medium','long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duplicates='drop').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     1018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       433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medium     407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394D-900E-401D-889F-78C8BA39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CB17-0C7F-4C66-BA87-CC534C19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11711-9D34-4DA6-88B5-D3915F13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211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15A73B-3670-42DC-9425-B0CE4A3D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fire_size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bins the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46493FD-4CF3-455E-B2F1-CAACD7FF6A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3 in textbook">
            <a:extLst>
              <a:ext uri="{FF2B5EF4-FFF2-40B4-BE49-F238E27FC236}">
                <a16:creationId xmlns:a16="http://schemas.microsoft.com/office/drawing/2014/main" id="{B39F46CF-ABBF-4A93-94C4-2DE847D9E77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6069" y="1600200"/>
            <a:ext cx="6822015" cy="14875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31260-6946-43A5-8C0D-23895B12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2CE64-4298-47F5-BD91-F1FA1BF7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7F7B7-262E-42D9-A9AE-27BCE8AD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36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05AA1D-9EB2-43DF-BD5D-E318B0F5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binned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3DD1DD-52CA-44B5-93CB-7B2FDDC45F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sns.catplot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fires_filtered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kind='count',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fire_month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1" name="Content Placeholder 10" descr="Refer to page 293 in textbook">
            <a:extLst>
              <a:ext uri="{FF2B5EF4-FFF2-40B4-BE49-F238E27FC236}">
                <a16:creationId xmlns:a16="http://schemas.microsoft.com/office/drawing/2014/main" id="{CF56CFB4-6C61-41C6-8781-06EC204CB4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7420" y="1676399"/>
            <a:ext cx="5143380" cy="42205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91FFD-3417-4B62-AFC1-3A013638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1AA7C-CB3A-40FF-AA38-C789747D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954D3-7935-485B-8CF5-2337F400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48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9DD62A-ABAC-484F-A471-98208B89E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nlargest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65B662CA-4493-4EEE-9B98-53BCFB30163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565031910"/>
              </p:ext>
            </p:extLst>
          </p:nvPr>
        </p:nvGraphicFramePr>
        <p:xfrm>
          <a:off x="914400" y="1066800"/>
          <a:ext cx="6526530" cy="1097280"/>
        </p:xfrm>
        <a:graphic>
          <a:graphicData uri="http://schemas.openxmlformats.org/drawingml/2006/table">
            <a:tbl>
              <a:tblPr firstRow="1"/>
              <a:tblGrid>
                <a:gridCol w="2183130">
                  <a:extLst>
                    <a:ext uri="{9D8B030D-6E8A-4147-A177-3AD203B41FA5}">
                      <a16:colId xmlns:a16="http://schemas.microsoft.com/office/drawing/2014/main" val="2746717687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3292202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09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nlargest(params)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first n rows with the largest values in the specified columns.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655208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9199B4-6891-4453-B179-11DBABA129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nlargest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E0CDB85E-7895-4873-8269-6BD46FF9FACD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594694372"/>
              </p:ext>
            </p:extLst>
          </p:nvPr>
        </p:nvGraphicFramePr>
        <p:xfrm>
          <a:off x="914400" y="2756104"/>
          <a:ext cx="7086600" cy="1889760"/>
        </p:xfrm>
        <a:graphic>
          <a:graphicData uri="http://schemas.openxmlformats.org/drawingml/2006/table">
            <a:tbl>
              <a:tblPr firstRow="1"/>
              <a:tblGrid>
                <a:gridCol w="1825855">
                  <a:extLst>
                    <a:ext uri="{9D8B030D-6E8A-4147-A177-3AD203B41FA5}">
                      <a16:colId xmlns:a16="http://schemas.microsoft.com/office/drawing/2014/main" val="1156664948"/>
                    </a:ext>
                  </a:extLst>
                </a:gridCol>
                <a:gridCol w="5260745">
                  <a:extLst>
                    <a:ext uri="{9D8B030D-6E8A-4147-A177-3AD203B41FA5}">
                      <a16:colId xmlns:a16="http://schemas.microsoft.com/office/drawing/2014/main" val="1381519562"/>
                    </a:ext>
                  </a:extLst>
                </a:gridCol>
              </a:tblGrid>
              <a:tr h="31622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631550"/>
                  </a:ext>
                </a:extLst>
              </a:tr>
              <a:tr h="31622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rows to return.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166811"/>
                  </a:ext>
                </a:extLst>
              </a:tr>
              <a:tr h="31622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columns that determine which rows to keep.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77316"/>
                  </a:ext>
                </a:extLst>
              </a:tr>
              <a:tr h="5594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keep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rows to keep in the event of a tie. Possible values: first, last, and all. The default is first.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0718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DF8E6-03BF-4AA0-B216-1B20EDF9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73046-8B55-40F5-8DB8-058CCE53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953E6-6DCD-4195-8BF7-A3E2071B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43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D1E007-9AD4-4D72-9D24-3106CEDAC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nlargest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68EBF0-D423-4BEF-A2F3-0419CD07CB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cars.nlargest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(n=6,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5 in textbook">
            <a:extLst>
              <a:ext uri="{FF2B5EF4-FFF2-40B4-BE49-F238E27FC236}">
                <a16:creationId xmlns:a16="http://schemas.microsoft.com/office/drawing/2014/main" id="{973C4148-D799-48C7-8CA2-1ABA8554F7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447615"/>
            <a:ext cx="4938102" cy="26671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C08C9-30F4-453B-B8D8-02FB9046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3F99B-5404-4900-AFE1-A7B66A81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CCE00-F416-4406-8BEE-BDDE2F60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897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B646C15-EDE4-4B50-923F-D1392817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nlargest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example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660764-7DCA-47F3-8CDD-05DA7405C1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cars.nlargest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(n=6, columns=['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','price'])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5 in textbook">
            <a:extLst>
              <a:ext uri="{FF2B5EF4-FFF2-40B4-BE49-F238E27FC236}">
                <a16:creationId xmlns:a16="http://schemas.microsoft.com/office/drawing/2014/main" id="{11A7A2EE-9BFF-4207-BC52-B4962CF880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447800"/>
            <a:ext cx="5381112" cy="2819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875E-556C-4AFB-8F41-DB944C59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59A33-003A-469A-B91C-C01B23CD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1111B-DAF9-41CA-BC88-5B39A470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2110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3EF304-19D2-4716-8577-FC9500D0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pct_change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289AD33E-8882-451F-B32C-46A9B978216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697615552"/>
              </p:ext>
            </p:extLst>
          </p:nvPr>
        </p:nvGraphicFramePr>
        <p:xfrm>
          <a:off x="914400" y="1115612"/>
          <a:ext cx="7315200" cy="1094188"/>
        </p:xfrm>
        <a:graphic>
          <a:graphicData uri="http://schemas.openxmlformats.org/drawingml/2006/table">
            <a:tbl>
              <a:tblPr firstRow="1"/>
              <a:tblGrid>
                <a:gridCol w="1752951">
                  <a:extLst>
                    <a:ext uri="{9D8B030D-6E8A-4147-A177-3AD203B41FA5}">
                      <a16:colId xmlns:a16="http://schemas.microsoft.com/office/drawing/2014/main" val="2944489570"/>
                    </a:ext>
                  </a:extLst>
                </a:gridCol>
                <a:gridCol w="5562249">
                  <a:extLst>
                    <a:ext uri="{9D8B030D-6E8A-4147-A177-3AD203B41FA5}">
                      <a16:colId xmlns:a16="http://schemas.microsoft.com/office/drawing/2014/main" val="3529613824"/>
                    </a:ext>
                  </a:extLst>
                </a:gridCol>
              </a:tblGrid>
              <a:tr h="3895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02841"/>
                  </a:ext>
                </a:extLst>
              </a:tr>
              <a:tr h="689194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pct_change()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Calculates the percent change from the previous row to the current row for 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or Series object.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421" marR="67421" marT="44947" marB="449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85237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DA925-BD0C-4231-95F2-46C85F69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B5007-26D8-4453-8992-2390DAE3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DA056-87ED-42F7-80F0-010361F0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701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36D499-05BA-47D1-BF7B-C5DA0D8E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fires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5E007D-6EFA-4D89-BE71-4232F5454D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fires[['state','fire_year','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(['state','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fire_year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']).sum()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7 in textbook">
            <a:extLst>
              <a:ext uri="{FF2B5EF4-FFF2-40B4-BE49-F238E27FC236}">
                <a16:creationId xmlns:a16="http://schemas.microsoft.com/office/drawing/2014/main" id="{7D3656E2-C019-4A70-8BB1-5EB0AD961DC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948542"/>
            <a:ext cx="2623458" cy="26234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8E246-5EB1-4F11-91C1-73EC1BFD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A913D-1E19-4281-B67A-FBF1B7A2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D521-0807-4E35-857A-66681B7A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2490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E5EF26-E29C-453A-80D9-B773AEBB4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pct_change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C47C62-AB01-4BC5-B980-AF126F9BE9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df.pct_change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7 in textbook">
            <a:extLst>
              <a:ext uri="{FF2B5EF4-FFF2-40B4-BE49-F238E27FC236}">
                <a16:creationId xmlns:a16="http://schemas.microsoft.com/office/drawing/2014/main" id="{48AFB495-8C90-470D-9233-36EB05FB16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447800"/>
            <a:ext cx="2394858" cy="44301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AC435-A1D6-461D-AD99-5BF3E1D7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B97A-1C8A-4221-B5A4-133FD0EB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E3821-A3E8-483C-879C-D7D8C116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4028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6823FE-D10E-458D-A659-F215D2F0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rank()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0122A0B1-4C84-48C9-866F-99AC9A7E0AF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503814777"/>
              </p:ext>
            </p:extLst>
          </p:nvPr>
        </p:nvGraphicFramePr>
        <p:xfrm>
          <a:off x="914400" y="1074420"/>
          <a:ext cx="5326380" cy="109728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26558738"/>
                    </a:ext>
                  </a:extLst>
                </a:gridCol>
                <a:gridCol w="3497580">
                  <a:extLst>
                    <a:ext uri="{9D8B030D-6E8A-4147-A177-3AD203B41FA5}">
                      <a16:colId xmlns:a16="http://schemas.microsoft.com/office/drawing/2014/main" val="266100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96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rank(params)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Computes numerical data ranks (1 through n) along an axis.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453576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435785-D2F9-4CEC-BA8E-E8545EA5A1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rank() method</a:t>
            </a:r>
          </a:p>
          <a:p>
            <a:endParaRPr lang="en-US" sz="2400" dirty="0"/>
          </a:p>
        </p:txBody>
      </p:sp>
      <p:graphicFrame>
        <p:nvGraphicFramePr>
          <p:cNvPr id="13" name="Table Placeholder 12">
            <a:extLst>
              <a:ext uri="{FF2B5EF4-FFF2-40B4-BE49-F238E27FC236}">
                <a16:creationId xmlns:a16="http://schemas.microsoft.com/office/drawing/2014/main" id="{08D3F714-ACF0-4BDB-9C52-D6E180C688D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87130127"/>
              </p:ext>
            </p:extLst>
          </p:nvPr>
        </p:nvGraphicFramePr>
        <p:xfrm>
          <a:off x="914399" y="2775088"/>
          <a:ext cx="6879771" cy="2804160"/>
        </p:xfrm>
        <a:graphic>
          <a:graphicData uri="http://schemas.openxmlformats.org/drawingml/2006/table">
            <a:tbl>
              <a:tblPr firstRow="1"/>
              <a:tblGrid>
                <a:gridCol w="1728528">
                  <a:extLst>
                    <a:ext uri="{9D8B030D-6E8A-4147-A177-3AD203B41FA5}">
                      <a16:colId xmlns:a16="http://schemas.microsoft.com/office/drawing/2014/main" val="2968699064"/>
                    </a:ext>
                  </a:extLst>
                </a:gridCol>
                <a:gridCol w="5151243">
                  <a:extLst>
                    <a:ext uri="{9D8B030D-6E8A-4147-A177-3AD203B41FA5}">
                      <a16:colId xmlns:a16="http://schemas.microsoft.com/office/drawing/2014/main" val="1228703137"/>
                    </a:ext>
                  </a:extLst>
                </a:gridCol>
              </a:tblGrid>
              <a:tr h="21310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90104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ascending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False, ranks in descending order. If True (the default), ranks in ascending order.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808354"/>
                  </a:ext>
                </a:extLst>
              </a:tr>
              <a:tr h="540958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method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How to rank the group of records that have ties. Possible values include average (the default), min, max, first, and dense.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199574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pct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displays the rankings in percentile form. False is the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19778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4EA20-F0F0-4541-987F-3C83BB58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A50B0-2168-40F8-BE42-6C47F004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9842D-C436-4AB2-ABF7-79CC7537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5380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E4A352-DF02-44EB-94E3-AB8C2CEC6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state totals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B98CB0-48C9-495B-BAB8-43F7E9297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fires.groupby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('state')[['acres_burned','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']].sum()</a:t>
            </a:r>
          </a:p>
          <a:p>
            <a:pPr marL="22860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99C-10F5-4DD0-9719-0CB5F5AD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E0AA4-A7DF-46A6-887C-7B7D15FD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C62FE-011A-4B97-AB3B-8D614DEF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4E60F-7F29-3A42-42CE-0CEB626A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89471"/>
            <a:ext cx="4572000" cy="280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727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FB882E8-3781-4B3F-9A5D-B89B912E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acres_rank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based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acres burned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CD905F-B978-4B29-A290-26DD1064AD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acres_rank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df.acres_burned.rank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(ascending=False)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9 in textbook">
            <a:extLst>
              <a:ext uri="{FF2B5EF4-FFF2-40B4-BE49-F238E27FC236}">
                <a16:creationId xmlns:a16="http://schemas.microsoft.com/office/drawing/2014/main" id="{BD28D4A6-A10F-49E1-9F24-146B7B2194F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828800"/>
            <a:ext cx="5138058" cy="20080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D9219-3E28-45C0-8C12-CBD4CD62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D6B53-214F-4037-AD29-DB0F4BB3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FB586-D66C-4D1D-B456-1AF5E11E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666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1A3578-4F48-4EE0-AE7F-138EDF0B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days_rank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based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days burning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F32D0C2-2C72-4E8A-B8CB-B96FA8ACBD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days_rank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df.days_burning.rank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(method='max')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days_burning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').head(4)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299 in textbook">
            <a:extLst>
              <a:ext uri="{FF2B5EF4-FFF2-40B4-BE49-F238E27FC236}">
                <a16:creationId xmlns:a16="http://schemas.microsoft.com/office/drawing/2014/main" id="{EE96D10C-CBA8-4042-B488-ADA08817E50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2742" y="1828800"/>
            <a:ext cx="5831776" cy="2286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FDAAE-19BB-4362-AC39-806ABDCB9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440E8-3CD5-4F51-B481-CAB5D301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72DD8-83C4-4440-B0EE-ACC2F7E8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C8,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709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4A3976-70E4-4025-B815-8D441384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Google search for a way to count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unique values in a column</a:t>
            </a:r>
            <a:endParaRPr lang="en-US" dirty="0"/>
          </a:p>
        </p:txBody>
      </p:sp>
      <p:pic>
        <p:nvPicPr>
          <p:cNvPr id="9" name="Content Placeholder 8" descr="Refer to page 301 in textbook">
            <a:extLst>
              <a:ext uri="{FF2B5EF4-FFF2-40B4-BE49-F238E27FC236}">
                <a16:creationId xmlns:a16="http://schemas.microsoft.com/office/drawing/2014/main" id="{75056D9D-FA3A-460E-834A-440EECB12BD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295399" y="1267576"/>
            <a:ext cx="5752879" cy="459982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EE201-75FB-43A8-AD1F-0F429C1AE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C1CFC-6A01-44B0-A70A-09D6B9EC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E2D69-7506-4279-AD5E-0F033DD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30879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2794</TotalTime>
  <Words>3435</Words>
  <Application>Microsoft Office PowerPoint</Application>
  <PresentationFormat>On-screen Show (4:3)</PresentationFormat>
  <Paragraphs>517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Arial Narrow</vt:lpstr>
      <vt:lpstr>Consolas</vt:lpstr>
      <vt:lpstr>Times New Roman</vt:lpstr>
      <vt:lpstr>Master slides_with_titles_logo</vt:lpstr>
      <vt:lpstr>Chapter 8</vt:lpstr>
      <vt:lpstr>Objectives</vt:lpstr>
      <vt:lpstr>Objectives (continued)</vt:lpstr>
      <vt:lpstr>The melt() method</vt:lpstr>
      <vt:lpstr>The cars DataFrame</vt:lpstr>
      <vt:lpstr>How to use the melt() method</vt:lpstr>
      <vt:lpstr>How to plot melted data with the hue parameter</vt:lpstr>
      <vt:lpstr>How to plot melted data with the col parameter</vt:lpstr>
      <vt:lpstr>Some of the aggregate methods  that are optimized for grouping</vt:lpstr>
      <vt:lpstr>The fires DataFrame before the data is grouped</vt:lpstr>
      <vt:lpstr>How to get the average for each numeric column in each state</vt:lpstr>
      <vt:lpstr>How to get the maximum value for each month  in each state</vt:lpstr>
      <vt:lpstr>The groupby() method</vt:lpstr>
      <vt:lpstr>The fires DataFrame</vt:lpstr>
      <vt:lpstr>A GroupBy object with the fire_year column  as the index</vt:lpstr>
      <vt:lpstr>A GroupBy object without indexes</vt:lpstr>
      <vt:lpstr>The agg() method</vt:lpstr>
      <vt:lpstr>The GroupBy object</vt:lpstr>
      <vt:lpstr>How to apply aggregate methods  to a single column</vt:lpstr>
      <vt:lpstr>How to apply varied aggregate methods  to numeric columns</vt:lpstr>
      <vt:lpstr>The pivot() method</vt:lpstr>
      <vt:lpstr>The top_states DataFrame</vt:lpstr>
      <vt:lpstr>How to pivot the data</vt:lpstr>
      <vt:lpstr>How to plot the data  with the Pandas plot() method</vt:lpstr>
      <vt:lpstr>The pivot_table() method</vt:lpstr>
      <vt:lpstr>Parameters of the pivot_table() method (cont.)</vt:lpstr>
      <vt:lpstr>How to use the pivot_table() method  to create a DataFrame</vt:lpstr>
      <vt:lpstr>How to plot the data  with the Pandas plot() method </vt:lpstr>
      <vt:lpstr>The cut() method</vt:lpstr>
      <vt:lpstr>The fires_filtered DataFrame</vt:lpstr>
      <vt:lpstr>How to add labels to the bins</vt:lpstr>
      <vt:lpstr>The distribution of values in the bins</vt:lpstr>
      <vt:lpstr>The qcut() method</vt:lpstr>
      <vt:lpstr>How to use four quantiles to bin the data</vt:lpstr>
      <vt:lpstr>The distribution of the values in each bin</vt:lpstr>
      <vt:lpstr>How to assign bin labels to a new column</vt:lpstr>
      <vt:lpstr>A qcut() method that drops duplicate bins</vt:lpstr>
      <vt:lpstr>The DataFrame with a fire_size column  that bins the data</vt:lpstr>
      <vt:lpstr>How to plot the binned data</vt:lpstr>
      <vt:lpstr>The nlargest() method</vt:lpstr>
      <vt:lpstr>How to use the nlargest() method</vt:lpstr>
      <vt:lpstr>Another nlargest() example</vt:lpstr>
      <vt:lpstr>The pct_change() method</vt:lpstr>
      <vt:lpstr>The fires data</vt:lpstr>
      <vt:lpstr>How to use the pct_change() method</vt:lpstr>
      <vt:lpstr>The rank() method</vt:lpstr>
      <vt:lpstr>The state totals</vt:lpstr>
      <vt:lpstr>How to add an acres_rank column based  on acres burned</vt:lpstr>
      <vt:lpstr>How to add a days_rank column based  on days burning</vt:lpstr>
      <vt:lpstr>A Google search for a way to count  the unique values in a column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Joel Murach</cp:lastModifiedBy>
  <cp:revision>108</cp:revision>
  <cp:lastPrinted>2016-01-14T23:03:16Z</cp:lastPrinted>
  <dcterms:created xsi:type="dcterms:W3CDTF">2021-06-22T20:59:38Z</dcterms:created>
  <dcterms:modified xsi:type="dcterms:W3CDTF">2024-04-15T20:43:41Z</dcterms:modified>
</cp:coreProperties>
</file>