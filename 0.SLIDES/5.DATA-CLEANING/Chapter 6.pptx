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bookmarkIdSeed="3">
  <p:sldMasterIdLst>
    <p:sldMasterId id="2147483669" r:id="rId1"/>
  </p:sldMasterIdLst>
  <p:notesMasterIdLst>
    <p:notesMasterId r:id="rId72"/>
  </p:notesMasterIdLst>
  <p:handoutMasterIdLst>
    <p:handoutMasterId r:id="rId73"/>
  </p:handoutMasterIdLst>
  <p:sldIdLst>
    <p:sldId id="256" r:id="rId2"/>
    <p:sldId id="257" r:id="rId3"/>
    <p:sldId id="328" r:id="rId4"/>
    <p:sldId id="258" r:id="rId5"/>
    <p:sldId id="259" r:id="rId6"/>
    <p:sldId id="260" r:id="rId7"/>
    <p:sldId id="261" r:id="rId8"/>
    <p:sldId id="326" r:id="rId9"/>
    <p:sldId id="263" r:id="rId10"/>
    <p:sldId id="264" r:id="rId11"/>
    <p:sldId id="265" r:id="rId12"/>
    <p:sldId id="266" r:id="rId13"/>
    <p:sldId id="267" r:id="rId14"/>
    <p:sldId id="268" r:id="rId15"/>
    <p:sldId id="269" r:id="rId16"/>
    <p:sldId id="270" r:id="rId17"/>
    <p:sldId id="327"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9" r:id="rId36"/>
    <p:sldId id="290" r:id="rId37"/>
    <p:sldId id="292" r:id="rId38"/>
    <p:sldId id="294" r:id="rId39"/>
    <p:sldId id="295" r:id="rId40"/>
    <p:sldId id="296" r:id="rId41"/>
    <p:sldId id="297" r:id="rId42"/>
    <p:sldId id="298" r:id="rId43"/>
    <p:sldId id="299" r:id="rId44"/>
    <p:sldId id="300" r:id="rId45"/>
    <p:sldId id="301" r:id="rId46"/>
    <p:sldId id="303" r:id="rId47"/>
    <p:sldId id="302" r:id="rId48"/>
    <p:sldId id="304" r:id="rId49"/>
    <p:sldId id="329"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Lst>
  <p:sldSz cx="9144000" cy="6858000" type="screen4x3"/>
  <p:notesSz cx="7010400" cy="9296400"/>
  <p:defaultTextStyle>
    <a:defPPr>
      <a:defRPr lang="en-US"/>
    </a:defPPr>
    <a:lvl1pPr algn="l" rtl="0" eaLnBrk="0" fontAlgn="base" hangingPunct="0">
      <a:spcBef>
        <a:spcPct val="0"/>
      </a:spcBef>
      <a:spcAft>
        <a:spcPct val="0"/>
      </a:spcAft>
      <a:defRPr sz="2400" kern="1200">
        <a:solidFill>
          <a:schemeClr val="tx1"/>
        </a:solidFill>
        <a:latin typeface="Times New Roman"/>
        <a:ea typeface="+mn-ea"/>
        <a:cs typeface="+mn-cs"/>
      </a:defRPr>
    </a:lvl1pPr>
    <a:lvl2pPr marL="457200" algn="l" rtl="0" eaLnBrk="0" fontAlgn="base" hangingPunct="0">
      <a:spcBef>
        <a:spcPct val="0"/>
      </a:spcBef>
      <a:spcAft>
        <a:spcPct val="0"/>
      </a:spcAft>
      <a:defRPr sz="2400" kern="1200">
        <a:solidFill>
          <a:schemeClr val="tx1"/>
        </a:solidFill>
        <a:latin typeface="Times New Roman"/>
        <a:ea typeface="+mn-ea"/>
        <a:cs typeface="+mn-cs"/>
      </a:defRPr>
    </a:lvl2pPr>
    <a:lvl3pPr marL="914400" algn="l" rtl="0" eaLnBrk="0" fontAlgn="base" hangingPunct="0">
      <a:spcBef>
        <a:spcPct val="0"/>
      </a:spcBef>
      <a:spcAft>
        <a:spcPct val="0"/>
      </a:spcAft>
      <a:defRPr sz="2400" kern="1200">
        <a:solidFill>
          <a:schemeClr val="tx1"/>
        </a:solidFill>
        <a:latin typeface="Times New Roman"/>
        <a:ea typeface="+mn-ea"/>
        <a:cs typeface="+mn-cs"/>
      </a:defRPr>
    </a:lvl3pPr>
    <a:lvl4pPr marL="1371600" algn="l" rtl="0" eaLnBrk="0" fontAlgn="base" hangingPunct="0">
      <a:spcBef>
        <a:spcPct val="0"/>
      </a:spcBef>
      <a:spcAft>
        <a:spcPct val="0"/>
      </a:spcAft>
      <a:defRPr sz="2400" kern="1200">
        <a:solidFill>
          <a:schemeClr val="tx1"/>
        </a:solidFill>
        <a:latin typeface="Times New Roman"/>
        <a:ea typeface="+mn-ea"/>
        <a:cs typeface="+mn-cs"/>
      </a:defRPr>
    </a:lvl4pPr>
    <a:lvl5pPr marL="1828800" algn="l" rtl="0" eaLnBrk="0" fontAlgn="base" hangingPunct="0">
      <a:spcBef>
        <a:spcPct val="0"/>
      </a:spcBef>
      <a:spcAft>
        <a:spcPct val="0"/>
      </a:spcAft>
      <a:defRPr sz="2400" kern="1200">
        <a:solidFill>
          <a:schemeClr val="tx1"/>
        </a:solidFill>
        <a:latin typeface="Times New Roman"/>
        <a:ea typeface="+mn-ea"/>
        <a:cs typeface="+mn-cs"/>
      </a:defRPr>
    </a:lvl5pPr>
    <a:lvl6pPr marL="2286000" algn="l" defTabSz="914400" rtl="0" eaLnBrk="1" latinLnBrk="0" hangingPunct="1">
      <a:defRPr sz="2400" kern="1200">
        <a:solidFill>
          <a:schemeClr val="tx1"/>
        </a:solidFill>
        <a:latin typeface="Times New Roman"/>
        <a:ea typeface="+mn-ea"/>
        <a:cs typeface="+mn-cs"/>
      </a:defRPr>
    </a:lvl6pPr>
    <a:lvl7pPr marL="2743200" algn="l" defTabSz="914400" rtl="0" eaLnBrk="1" latinLnBrk="0" hangingPunct="1">
      <a:defRPr sz="2400" kern="1200">
        <a:solidFill>
          <a:schemeClr val="tx1"/>
        </a:solidFill>
        <a:latin typeface="Times New Roman"/>
        <a:ea typeface="+mn-ea"/>
        <a:cs typeface="+mn-cs"/>
      </a:defRPr>
    </a:lvl7pPr>
    <a:lvl8pPr marL="3200400" algn="l" defTabSz="914400" rtl="0" eaLnBrk="1" latinLnBrk="0" hangingPunct="1">
      <a:defRPr sz="2400" kern="1200">
        <a:solidFill>
          <a:schemeClr val="tx1"/>
        </a:solidFill>
        <a:latin typeface="Times New Roman"/>
        <a:ea typeface="+mn-ea"/>
        <a:cs typeface="+mn-cs"/>
      </a:defRPr>
    </a:lvl8pPr>
    <a:lvl9pPr marL="3657600" algn="l" defTabSz="914400" rtl="0" eaLnBrk="1" latinLnBrk="0" hangingPunct="1">
      <a:defRPr sz="2400" kern="1200">
        <a:solidFill>
          <a:schemeClr val="tx1"/>
        </a:solidFill>
        <a:latin typeface="Times New Roman"/>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20396D"/>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6414" autoAdjust="0"/>
  </p:normalViewPr>
  <p:slideViewPr>
    <p:cSldViewPr>
      <p:cViewPr>
        <p:scale>
          <a:sx n="190" d="100"/>
          <a:sy n="190" d="100"/>
        </p:scale>
        <p:origin x="138" y="-44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defRPr sz="1200"/>
            </a:lvl1pPr>
          </a:lstStyle>
          <a:p>
            <a:pPr>
              <a:defRPr/>
            </a:pPr>
            <a:endParaRPr lang="en-US"/>
          </a:p>
        </p:txBody>
      </p:sp>
      <p:sp>
        <p:nvSpPr>
          <p:cNvPr id="27651" name="Rectangle 3"/>
          <p:cNvSpPr>
            <a:spLocks noGrp="1" noChangeArrowheads="1"/>
          </p:cNvSpPr>
          <p:nvPr>
            <p:ph type="dt" sz="quarter" idx="1"/>
          </p:nvPr>
        </p:nvSpPr>
        <p:spPr bwMode="auto">
          <a:xfrm>
            <a:off x="3970938" y="0"/>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a:defRPr sz="1200"/>
            </a:lvl1pPr>
          </a:lstStyle>
          <a:p>
            <a:pPr>
              <a:defRPr/>
            </a:pPr>
            <a:fld id="{94633A84-D730-4DB1-B585-7559B92CE5D8}" type="datetimeFigureOut">
              <a:rPr lang="en-US"/>
              <a:pPr>
                <a:defRPr/>
              </a:pPr>
              <a:t>4/15/2024</a:t>
            </a:fld>
            <a:endParaRPr lang="en-US"/>
          </a:p>
        </p:txBody>
      </p:sp>
      <p:sp>
        <p:nvSpPr>
          <p:cNvPr id="27652" name="Rectangle 4"/>
          <p:cNvSpPr>
            <a:spLocks noGrp="1" noChangeArrowheads="1"/>
          </p:cNvSpPr>
          <p:nvPr>
            <p:ph type="ftr" sz="quarter" idx="2"/>
          </p:nvPr>
        </p:nvSpPr>
        <p:spPr bwMode="auto">
          <a:xfrm>
            <a:off x="0" y="8829967"/>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defRPr sz="1200"/>
            </a:lvl1pPr>
          </a:lstStyle>
          <a:p>
            <a:pPr>
              <a:defRPr/>
            </a:pPr>
            <a:endParaRPr lang="en-US"/>
          </a:p>
        </p:txBody>
      </p:sp>
      <p:sp>
        <p:nvSpPr>
          <p:cNvPr id="27653" name="Rectangle 5"/>
          <p:cNvSpPr>
            <a:spLocks noGrp="1" noChangeArrowheads="1"/>
          </p:cNvSpPr>
          <p:nvPr>
            <p:ph type="sldNum" sz="quarter" idx="3"/>
          </p:nvPr>
        </p:nvSpPr>
        <p:spPr bwMode="auto">
          <a:xfrm>
            <a:off x="3970938" y="8829967"/>
            <a:ext cx="303784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a:defRPr sz="1200"/>
            </a:lvl1pPr>
          </a:lstStyle>
          <a:p>
            <a:pPr>
              <a:defRPr/>
            </a:pPr>
            <a:fld id="{1C669EC8-97E7-4C24-A864-1853E75085DC}" type="slidenum">
              <a:rPr lang="en-US"/>
              <a:pPr>
                <a:defRPr/>
              </a:pPr>
              <a:t>‹#›</a:t>
            </a:fld>
            <a:endParaRPr lang="en-US"/>
          </a:p>
        </p:txBody>
      </p:sp>
    </p:spTree>
    <p:extLst>
      <p:ext uri="{BB962C8B-B14F-4D97-AF65-F5344CB8AC3E}">
        <p14:creationId xmlns:p14="http://schemas.microsoft.com/office/powerpoint/2010/main" val="97898575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bwMode="auto">
          <a:xfrm>
            <a:off x="0"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defRPr sz="1200">
                <a:latin typeface="Times New Roman" pitchFamily="18" charset="0"/>
              </a:defRPr>
            </a:lvl1pPr>
          </a:lstStyle>
          <a:p>
            <a:pPr>
              <a:defRPr/>
            </a:pPr>
            <a:endParaRPr lang="en-US"/>
          </a:p>
        </p:txBody>
      </p:sp>
      <p:sp>
        <p:nvSpPr>
          <p:cNvPr id="53251" name="Rectangle 3"/>
          <p:cNvSpPr>
            <a:spLocks noGrp="1" noChangeArrowheads="1"/>
          </p:cNvSpPr>
          <p:nvPr>
            <p:ph type="dt" idx="1"/>
          </p:nvPr>
        </p:nvSpPr>
        <p:spPr bwMode="auto">
          <a:xfrm>
            <a:off x="3972560" y="0"/>
            <a:ext cx="3037840" cy="46482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a:defRPr sz="1200">
                <a:latin typeface="Times New Roman" pitchFamily="18" charset="0"/>
              </a:defRPr>
            </a:lvl1pPr>
          </a:lstStyle>
          <a:p>
            <a:pPr>
              <a:defRPr/>
            </a:pPr>
            <a:endParaRPr lang="en-US"/>
          </a:p>
        </p:txBody>
      </p:sp>
      <p:sp>
        <p:nvSpPr>
          <p:cNvPr id="55300"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3" name="Rectangle 5"/>
          <p:cNvSpPr>
            <a:spLocks noGrp="1" noChangeArrowheads="1"/>
          </p:cNvSpPr>
          <p:nvPr>
            <p:ph type="body" sz="quarter" idx="3"/>
          </p:nvPr>
        </p:nvSpPr>
        <p:spPr bwMode="auto">
          <a:xfrm>
            <a:off x="934720" y="4415790"/>
            <a:ext cx="5140960" cy="418338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3254" name="Rectangle 6"/>
          <p:cNvSpPr>
            <a:spLocks noGrp="1" noChangeArrowheads="1"/>
          </p:cNvSpPr>
          <p:nvPr>
            <p:ph type="ftr" sz="quarter" idx="4"/>
          </p:nvPr>
        </p:nvSpPr>
        <p:spPr bwMode="auto">
          <a:xfrm>
            <a:off x="0" y="8831580"/>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defRPr sz="1200">
                <a:latin typeface="Times New Roman" pitchFamily="18" charset="0"/>
              </a:defRPr>
            </a:lvl1pPr>
          </a:lstStyle>
          <a:p>
            <a:pPr>
              <a:defRPr/>
            </a:pPr>
            <a:endParaRPr lang="en-US"/>
          </a:p>
        </p:txBody>
      </p:sp>
      <p:sp>
        <p:nvSpPr>
          <p:cNvPr id="53255" name="Rectangle 7"/>
          <p:cNvSpPr>
            <a:spLocks noGrp="1" noChangeArrowheads="1"/>
          </p:cNvSpPr>
          <p:nvPr>
            <p:ph type="sldNum" sz="quarter" idx="5"/>
          </p:nvPr>
        </p:nvSpPr>
        <p:spPr bwMode="auto">
          <a:xfrm>
            <a:off x="3972560" y="8831580"/>
            <a:ext cx="3037840" cy="464820"/>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a:defRPr sz="1200">
                <a:latin typeface="Times New Roman" pitchFamily="18" charset="0"/>
              </a:defRPr>
            </a:lvl1pPr>
          </a:lstStyle>
          <a:p>
            <a:pPr>
              <a:defRPr/>
            </a:pPr>
            <a:fld id="{82C5A2EE-74B4-4329-B2EC-6DFE0575EDC9}" type="slidenum">
              <a:rPr lang="en-US"/>
              <a:pPr>
                <a:defRPr/>
              </a:pPr>
              <a:t>‹#›</a:t>
            </a:fld>
            <a:endParaRPr lang="en-US"/>
          </a:p>
        </p:txBody>
      </p:sp>
    </p:spTree>
    <p:extLst>
      <p:ext uri="{BB962C8B-B14F-4D97-AF65-F5344CB8AC3E}">
        <p14:creationId xmlns:p14="http://schemas.microsoft.com/office/powerpoint/2010/main" val="239245560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_number_layout">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685800" y="1143000"/>
            <a:ext cx="7772400" cy="553998"/>
          </a:xfrm>
        </p:spPr>
        <p:txBody>
          <a:bodyPr lIns="0" tIns="0" rIns="0" bIns="0" anchor="t" anchorCtr="0">
            <a:spAutoFit/>
          </a:bodyPr>
          <a:lstStyle>
            <a:lvl1pPr>
              <a:defRPr sz="3600" b="1" i="0" baseline="0">
                <a:solidFill>
                  <a:srgbClr val="000099"/>
                </a:solidFill>
              </a:defRPr>
            </a:lvl1pPr>
          </a:lstStyle>
          <a:p>
            <a:r>
              <a:rPr lang="en-US" dirty="0"/>
              <a:t>Chapter number</a:t>
            </a:r>
          </a:p>
        </p:txBody>
      </p:sp>
      <p:sp>
        <p:nvSpPr>
          <p:cNvPr id="7" name="Text Placeholder 7"/>
          <p:cNvSpPr>
            <a:spLocks noGrp="1"/>
          </p:cNvSpPr>
          <p:nvPr>
            <p:ph type="body" sz="quarter" idx="13" hasCustomPrompt="1"/>
          </p:nvPr>
        </p:nvSpPr>
        <p:spPr>
          <a:xfrm>
            <a:off x="1905000" y="2209800"/>
            <a:ext cx="5334000" cy="2971800"/>
          </a:xfrm>
        </p:spPr>
        <p:txBody>
          <a:bodyPr/>
          <a:lstStyle>
            <a:lvl1pPr marL="0" indent="0" algn="ctr">
              <a:buNone/>
              <a:defRPr sz="4800" b="1" baseline="0"/>
            </a:lvl1pPr>
          </a:lstStyle>
          <a:p>
            <a:pPr lvl="0"/>
            <a:r>
              <a:rPr lang="en-US" dirty="0"/>
              <a:t>Chapter title</a:t>
            </a:r>
          </a:p>
        </p:txBody>
      </p:sp>
      <p:sp>
        <p:nvSpPr>
          <p:cNvPr id="3" name="Date Placeholder 2"/>
          <p:cNvSpPr>
            <a:spLocks noGrp="1"/>
          </p:cNvSpPr>
          <p:nvPr>
            <p:ph type="dt" sz="half" idx="10"/>
          </p:nvPr>
        </p:nvSpPr>
        <p:spPr/>
        <p:txBody>
          <a:bodyPr/>
          <a:lstStyle/>
          <a:p>
            <a:pPr>
              <a:defRPr/>
            </a:pPr>
            <a:r>
              <a:rPr lang="en-US" dirty="0" err="1"/>
              <a:t>Murach's</a:t>
            </a:r>
            <a:r>
              <a:rPr lang="en-US" dirty="0"/>
              <a:t> Python for Data Science</a:t>
            </a:r>
          </a:p>
        </p:txBody>
      </p:sp>
      <p:sp>
        <p:nvSpPr>
          <p:cNvPr id="4" name="Footer Placeholder 3"/>
          <p:cNvSpPr>
            <a:spLocks noGrp="1"/>
          </p:cNvSpPr>
          <p:nvPr>
            <p:ph type="ftr" sz="quarter" idx="11"/>
          </p:nvPr>
        </p:nvSpPr>
        <p:spPr/>
        <p:txBody>
          <a:bodyPr/>
          <a:lstStyle/>
          <a:p>
            <a:pPr>
              <a:defRPr/>
            </a:pPr>
            <a:r>
              <a:rPr lang="en-US"/>
              <a:t>© 2021, Mike Murach &amp; Associates, Inc.</a:t>
            </a:r>
            <a:endParaRPr lang="en-US" dirty="0"/>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C6,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903205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_layout">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Text Placeholder 6"/>
          <p:cNvSpPr>
            <a:spLocks noGrp="1"/>
          </p:cNvSpPr>
          <p:nvPr>
            <p:ph type="body" sz="quarter" idx="13"/>
          </p:nvPr>
        </p:nvSpPr>
        <p:spPr>
          <a:xfrm>
            <a:off x="838200" y="1066800"/>
            <a:ext cx="7391400" cy="4876800"/>
          </a:xfrm>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pPr>
              <a:defRPr/>
            </a:pPr>
            <a:r>
              <a:rPr lang="en-US" dirty="0" err="1"/>
              <a:t>Murach's</a:t>
            </a:r>
            <a:r>
              <a:rPr lang="en-US" dirty="0"/>
              <a:t> Python for Data Science</a:t>
            </a:r>
          </a:p>
        </p:txBody>
      </p:sp>
      <p:sp>
        <p:nvSpPr>
          <p:cNvPr id="4" name="Footer Placeholder 3"/>
          <p:cNvSpPr>
            <a:spLocks noGrp="1"/>
          </p:cNvSpPr>
          <p:nvPr>
            <p:ph type="ftr" sz="quarter" idx="11"/>
          </p:nvPr>
        </p:nvSpPr>
        <p:spPr/>
        <p:txBody>
          <a:bodyPr/>
          <a:lstStyle/>
          <a:p>
            <a:pPr>
              <a:defRPr/>
            </a:pPr>
            <a:r>
              <a:rPr lang="en-US"/>
              <a:t>© 2021, Mike Murach &amp; Associates, Inc.</a:t>
            </a:r>
            <a:endParaRPr lang="en-US" dirty="0"/>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C6,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50173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_layout_2-line_title">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740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Text Placeholder 6"/>
          <p:cNvSpPr>
            <a:spLocks noGrp="1"/>
          </p:cNvSpPr>
          <p:nvPr>
            <p:ph type="body" sz="quarter" idx="13"/>
          </p:nvPr>
        </p:nvSpPr>
        <p:spPr>
          <a:xfrm>
            <a:off x="838200" y="1463040"/>
            <a:ext cx="7391400" cy="4495800"/>
          </a:xfrm>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pPr>
              <a:defRPr/>
            </a:pPr>
            <a:r>
              <a:rPr lang="en-US" dirty="0" err="1"/>
              <a:t>Murach's</a:t>
            </a:r>
            <a:r>
              <a:rPr lang="en-US" dirty="0"/>
              <a:t> Python for Data Science</a:t>
            </a:r>
          </a:p>
        </p:txBody>
      </p:sp>
      <p:sp>
        <p:nvSpPr>
          <p:cNvPr id="4" name="Footer Placeholder 3"/>
          <p:cNvSpPr>
            <a:spLocks noGrp="1"/>
          </p:cNvSpPr>
          <p:nvPr>
            <p:ph type="ftr" sz="quarter" idx="11"/>
          </p:nvPr>
        </p:nvSpPr>
        <p:spPr/>
        <p:txBody>
          <a:bodyPr/>
          <a:lstStyle/>
          <a:p>
            <a:pPr>
              <a:defRPr/>
            </a:pPr>
            <a:r>
              <a:rPr lang="en-US"/>
              <a:t>© 2021, Mike Murach &amp; Associates, Inc.</a:t>
            </a:r>
            <a:endParaRPr lang="en-US" dirty="0"/>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C6,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3749648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age_layout">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Content Placeholder 6"/>
          <p:cNvSpPr>
            <a:spLocks noGrp="1"/>
          </p:cNvSpPr>
          <p:nvPr>
            <p:ph sz="quarter" idx="13" hasCustomPrompt="1"/>
          </p:nvPr>
        </p:nvSpPr>
        <p:spPr>
          <a:xfrm>
            <a:off x="914400" y="1143000"/>
            <a:ext cx="7315200" cy="4800600"/>
          </a:xfrm>
        </p:spPr>
        <p:txBody>
          <a:bodyPr/>
          <a:lstStyle>
            <a:lvl1pPr marL="0" indent="0">
              <a:buNone/>
              <a:defRPr/>
            </a:lvl1pPr>
          </a:lstStyle>
          <a:p>
            <a:pPr lvl="0"/>
            <a:r>
              <a:rPr lang="en-US" dirty="0"/>
              <a:t>Click to insert image</a:t>
            </a:r>
          </a:p>
        </p:txBody>
      </p:sp>
      <p:sp>
        <p:nvSpPr>
          <p:cNvPr id="3" name="Date Placeholder 2"/>
          <p:cNvSpPr>
            <a:spLocks noGrp="1"/>
          </p:cNvSpPr>
          <p:nvPr>
            <p:ph type="dt" sz="half" idx="10"/>
          </p:nvPr>
        </p:nvSpPr>
        <p:spPr/>
        <p:txBody>
          <a:bodyPr/>
          <a:lstStyle/>
          <a:p>
            <a:pPr>
              <a:defRPr/>
            </a:pPr>
            <a:r>
              <a:rPr lang="en-US" dirty="0" err="1"/>
              <a:t>Murach's</a:t>
            </a:r>
            <a:r>
              <a:rPr lang="en-US" dirty="0"/>
              <a:t> Python for Data Science</a:t>
            </a:r>
          </a:p>
        </p:txBody>
      </p:sp>
      <p:sp>
        <p:nvSpPr>
          <p:cNvPr id="4" name="Footer Placeholder 3"/>
          <p:cNvSpPr>
            <a:spLocks noGrp="1"/>
          </p:cNvSpPr>
          <p:nvPr>
            <p:ph type="ftr" sz="quarter" idx="11"/>
          </p:nvPr>
        </p:nvSpPr>
        <p:spPr/>
        <p:txBody>
          <a:bodyPr/>
          <a:lstStyle/>
          <a:p>
            <a:pPr>
              <a:defRPr/>
            </a:pPr>
            <a:r>
              <a:rPr lang="en-US"/>
              <a:t>© 2021, Mike Murach &amp; Associates, Inc.</a:t>
            </a:r>
            <a:endParaRPr lang="en-US" dirty="0"/>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C6,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3575222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able_layout">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8" name="Table Placeholder 7">
            <a:extLst>
              <a:ext uri="{FF2B5EF4-FFF2-40B4-BE49-F238E27FC236}">
                <a16:creationId xmlns:a16="http://schemas.microsoft.com/office/drawing/2014/main" id="{B67ED070-8611-4D83-A3C6-478B69003052}"/>
              </a:ext>
            </a:extLst>
          </p:cNvPr>
          <p:cNvSpPr>
            <a:spLocks noGrp="1"/>
          </p:cNvSpPr>
          <p:nvPr>
            <p:ph type="tbl" sz="quarter" idx="13" hasCustomPrompt="1"/>
          </p:nvPr>
        </p:nvSpPr>
        <p:spPr>
          <a:xfrm>
            <a:off x="914400" y="1143000"/>
            <a:ext cx="7315200" cy="4495800"/>
          </a:xfrm>
        </p:spPr>
        <p:txBody>
          <a:bodyPr/>
          <a:lstStyle>
            <a:lvl1pPr marL="0" indent="0">
              <a:buNone/>
              <a:defRPr/>
            </a:lvl1pPr>
          </a:lstStyle>
          <a:p>
            <a:r>
              <a:rPr lang="en-US" dirty="0"/>
              <a:t>Click to insert table</a:t>
            </a:r>
          </a:p>
        </p:txBody>
      </p:sp>
      <p:sp>
        <p:nvSpPr>
          <p:cNvPr id="3" name="Date Placeholder 2"/>
          <p:cNvSpPr>
            <a:spLocks noGrp="1"/>
          </p:cNvSpPr>
          <p:nvPr>
            <p:ph type="dt" sz="half" idx="10"/>
          </p:nvPr>
        </p:nvSpPr>
        <p:spPr/>
        <p:txBody>
          <a:bodyPr/>
          <a:lstStyle/>
          <a:p>
            <a:pPr>
              <a:defRPr/>
            </a:pPr>
            <a:r>
              <a:rPr lang="en-US" dirty="0" err="1"/>
              <a:t>Murach's</a:t>
            </a:r>
            <a:r>
              <a:rPr lang="en-US" dirty="0"/>
              <a:t> Python for Data Science</a:t>
            </a:r>
          </a:p>
        </p:txBody>
      </p:sp>
      <p:sp>
        <p:nvSpPr>
          <p:cNvPr id="4" name="Footer Placeholder 3"/>
          <p:cNvSpPr>
            <a:spLocks noGrp="1"/>
          </p:cNvSpPr>
          <p:nvPr>
            <p:ph type="ftr" sz="quarter" idx="11"/>
          </p:nvPr>
        </p:nvSpPr>
        <p:spPr/>
        <p:txBody>
          <a:bodyPr/>
          <a:lstStyle/>
          <a:p>
            <a:pPr>
              <a:defRPr/>
            </a:pPr>
            <a:r>
              <a:rPr lang="en-US"/>
              <a:t>© 2021, Mike Murach &amp; Associates, Inc.</a:t>
            </a:r>
            <a:endParaRPr lang="en-US" dirty="0"/>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C6,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95467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_Table_layout">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8" name="Table Placeholder 7">
            <a:extLst>
              <a:ext uri="{FF2B5EF4-FFF2-40B4-BE49-F238E27FC236}">
                <a16:creationId xmlns:a16="http://schemas.microsoft.com/office/drawing/2014/main" id="{B67ED070-8611-4D83-A3C6-478B69003052}"/>
              </a:ext>
            </a:extLst>
          </p:cNvPr>
          <p:cNvSpPr>
            <a:spLocks noGrp="1"/>
          </p:cNvSpPr>
          <p:nvPr>
            <p:ph type="tbl" sz="quarter" idx="13" hasCustomPrompt="1"/>
          </p:nvPr>
        </p:nvSpPr>
        <p:spPr>
          <a:xfrm>
            <a:off x="914400" y="1143000"/>
            <a:ext cx="7315200" cy="4495800"/>
          </a:xfrm>
        </p:spPr>
        <p:txBody>
          <a:bodyPr/>
          <a:lstStyle>
            <a:lvl1pPr marL="0" indent="0">
              <a:buNone/>
              <a:defRPr/>
            </a:lvl1pPr>
          </a:lstStyle>
          <a:p>
            <a:r>
              <a:rPr lang="en-US" dirty="0"/>
              <a:t>Click to insert table</a:t>
            </a:r>
          </a:p>
        </p:txBody>
      </p:sp>
      <p:sp>
        <p:nvSpPr>
          <p:cNvPr id="3" name="Date Placeholder 2"/>
          <p:cNvSpPr>
            <a:spLocks noGrp="1"/>
          </p:cNvSpPr>
          <p:nvPr>
            <p:ph type="dt" sz="half" idx="10"/>
          </p:nvPr>
        </p:nvSpPr>
        <p:spPr/>
        <p:txBody>
          <a:bodyPr/>
          <a:lstStyle/>
          <a:p>
            <a:pPr>
              <a:defRPr/>
            </a:pPr>
            <a:r>
              <a:rPr lang="en-US" dirty="0" err="1"/>
              <a:t>Murach's</a:t>
            </a:r>
            <a:r>
              <a:rPr lang="en-US" dirty="0"/>
              <a:t> Python for Data Science</a:t>
            </a:r>
          </a:p>
        </p:txBody>
      </p:sp>
      <p:sp>
        <p:nvSpPr>
          <p:cNvPr id="4" name="Footer Placeholder 3"/>
          <p:cNvSpPr>
            <a:spLocks noGrp="1"/>
          </p:cNvSpPr>
          <p:nvPr>
            <p:ph type="ftr" sz="quarter" idx="11"/>
          </p:nvPr>
        </p:nvSpPr>
        <p:spPr/>
        <p:txBody>
          <a:bodyPr/>
          <a:lstStyle/>
          <a:p>
            <a:pPr>
              <a:defRPr/>
            </a:pPr>
            <a:r>
              <a:rPr lang="en-US"/>
              <a:t>© 2021, Mike Murach &amp; Associates, Inc.</a:t>
            </a:r>
            <a:endParaRPr lang="en-US" dirty="0"/>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C6, Slide </a:t>
            </a:r>
            <a:fld id="{BF5C1183-B085-4070-A402-C03A3F977D3D}" type="slidenum">
              <a:rPr lang="en-US" smtClean="0">
                <a:solidFill>
                  <a:schemeClr val="bg1"/>
                </a:solidFill>
              </a:rPr>
              <a:pPr>
                <a:defRPr/>
              </a:pPr>
              <a:t>‹#›</a:t>
            </a:fld>
            <a:endParaRPr lang="en-US" dirty="0">
              <a:solidFill>
                <a:schemeClr val="bg1"/>
              </a:solidFill>
            </a:endParaRPr>
          </a:p>
        </p:txBody>
      </p:sp>
      <p:sp>
        <p:nvSpPr>
          <p:cNvPr id="7" name="Table Placeholder 7">
            <a:extLst>
              <a:ext uri="{FF2B5EF4-FFF2-40B4-BE49-F238E27FC236}">
                <a16:creationId xmlns:a16="http://schemas.microsoft.com/office/drawing/2014/main" id="{1BAA420C-3471-4D6A-BE62-30BE07634CDD}"/>
              </a:ext>
            </a:extLst>
          </p:cNvPr>
          <p:cNvSpPr>
            <a:spLocks noGrp="1"/>
          </p:cNvSpPr>
          <p:nvPr>
            <p:ph type="tbl" sz="quarter" idx="14" hasCustomPrompt="1"/>
          </p:nvPr>
        </p:nvSpPr>
        <p:spPr>
          <a:xfrm>
            <a:off x="1066800" y="1295400"/>
            <a:ext cx="7315200" cy="4495800"/>
          </a:xfrm>
        </p:spPr>
        <p:txBody>
          <a:bodyPr/>
          <a:lstStyle>
            <a:lvl1pPr marL="0" indent="0">
              <a:buNone/>
              <a:defRPr/>
            </a:lvl1pPr>
          </a:lstStyle>
          <a:p>
            <a:r>
              <a:rPr lang="en-US" dirty="0"/>
              <a:t>Click to insert table</a:t>
            </a:r>
          </a:p>
        </p:txBody>
      </p:sp>
    </p:spTree>
    <p:extLst>
      <p:ext uri="{BB962C8B-B14F-4D97-AF65-F5344CB8AC3E}">
        <p14:creationId xmlns:p14="http://schemas.microsoft.com/office/powerpoint/2010/main" val="4213631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_Text_Table_layout">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8" name="Table Placeholder 7">
            <a:extLst>
              <a:ext uri="{FF2B5EF4-FFF2-40B4-BE49-F238E27FC236}">
                <a16:creationId xmlns:a16="http://schemas.microsoft.com/office/drawing/2014/main" id="{B67ED070-8611-4D83-A3C6-478B69003052}"/>
              </a:ext>
            </a:extLst>
          </p:cNvPr>
          <p:cNvSpPr>
            <a:spLocks noGrp="1"/>
          </p:cNvSpPr>
          <p:nvPr>
            <p:ph type="tbl" sz="quarter" idx="13" hasCustomPrompt="1"/>
          </p:nvPr>
        </p:nvSpPr>
        <p:spPr>
          <a:xfrm>
            <a:off x="914400" y="1143000"/>
            <a:ext cx="7315200" cy="1496734"/>
          </a:xfrm>
        </p:spPr>
        <p:txBody>
          <a:bodyPr/>
          <a:lstStyle>
            <a:lvl1pPr marL="0" indent="0">
              <a:buNone/>
              <a:defRPr/>
            </a:lvl1pPr>
          </a:lstStyle>
          <a:p>
            <a:r>
              <a:rPr lang="en-US" dirty="0"/>
              <a:t>Click to insert table</a:t>
            </a:r>
          </a:p>
        </p:txBody>
      </p:sp>
      <p:sp>
        <p:nvSpPr>
          <p:cNvPr id="3" name="Date Placeholder 2"/>
          <p:cNvSpPr>
            <a:spLocks noGrp="1"/>
          </p:cNvSpPr>
          <p:nvPr>
            <p:ph type="dt" sz="half" idx="10"/>
          </p:nvPr>
        </p:nvSpPr>
        <p:spPr/>
        <p:txBody>
          <a:bodyPr/>
          <a:lstStyle/>
          <a:p>
            <a:pPr>
              <a:defRPr/>
            </a:pPr>
            <a:r>
              <a:rPr lang="en-US" dirty="0" err="1"/>
              <a:t>Murach's</a:t>
            </a:r>
            <a:r>
              <a:rPr lang="en-US" dirty="0"/>
              <a:t> Python for Data Science</a:t>
            </a:r>
          </a:p>
        </p:txBody>
      </p:sp>
      <p:sp>
        <p:nvSpPr>
          <p:cNvPr id="4" name="Footer Placeholder 3"/>
          <p:cNvSpPr>
            <a:spLocks noGrp="1"/>
          </p:cNvSpPr>
          <p:nvPr>
            <p:ph type="ftr" sz="quarter" idx="11"/>
          </p:nvPr>
        </p:nvSpPr>
        <p:spPr/>
        <p:txBody>
          <a:bodyPr/>
          <a:lstStyle/>
          <a:p>
            <a:pPr>
              <a:defRPr/>
            </a:pPr>
            <a:r>
              <a:rPr lang="en-US"/>
              <a:t>© 2021, Mike Murach &amp; Associates, Inc.</a:t>
            </a:r>
            <a:endParaRPr lang="en-US" dirty="0"/>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C6, Slide </a:t>
            </a:r>
            <a:fld id="{BF5C1183-B085-4070-A402-C03A3F977D3D}" type="slidenum">
              <a:rPr lang="en-US" smtClean="0">
                <a:solidFill>
                  <a:schemeClr val="bg1"/>
                </a:solidFill>
              </a:rPr>
              <a:pPr>
                <a:defRPr/>
              </a:pPr>
              <a:t>‹#›</a:t>
            </a:fld>
            <a:endParaRPr lang="en-US" dirty="0">
              <a:solidFill>
                <a:schemeClr val="bg1"/>
              </a:solidFill>
            </a:endParaRPr>
          </a:p>
        </p:txBody>
      </p:sp>
      <p:sp>
        <p:nvSpPr>
          <p:cNvPr id="7" name="Table Placeholder 7">
            <a:extLst>
              <a:ext uri="{FF2B5EF4-FFF2-40B4-BE49-F238E27FC236}">
                <a16:creationId xmlns:a16="http://schemas.microsoft.com/office/drawing/2014/main" id="{1BAA420C-3471-4D6A-BE62-30BE07634CDD}"/>
              </a:ext>
            </a:extLst>
          </p:cNvPr>
          <p:cNvSpPr>
            <a:spLocks noGrp="1"/>
          </p:cNvSpPr>
          <p:nvPr>
            <p:ph type="tbl" sz="quarter" idx="14" hasCustomPrompt="1"/>
          </p:nvPr>
        </p:nvSpPr>
        <p:spPr>
          <a:xfrm>
            <a:off x="914400" y="3597780"/>
            <a:ext cx="7315200" cy="1507620"/>
          </a:xfrm>
        </p:spPr>
        <p:txBody>
          <a:bodyPr/>
          <a:lstStyle>
            <a:lvl1pPr marL="0" indent="0">
              <a:buNone/>
              <a:defRPr/>
            </a:lvl1pPr>
          </a:lstStyle>
          <a:p>
            <a:r>
              <a:rPr lang="en-US" dirty="0"/>
              <a:t>Click to insert table</a:t>
            </a:r>
          </a:p>
        </p:txBody>
      </p:sp>
      <p:sp>
        <p:nvSpPr>
          <p:cNvPr id="9" name="Text Placeholder 6">
            <a:extLst>
              <a:ext uri="{FF2B5EF4-FFF2-40B4-BE49-F238E27FC236}">
                <a16:creationId xmlns:a16="http://schemas.microsoft.com/office/drawing/2014/main" id="{343F8196-C45E-4101-8642-53DC9DFF59B8}"/>
              </a:ext>
            </a:extLst>
          </p:cNvPr>
          <p:cNvSpPr>
            <a:spLocks noGrp="1"/>
          </p:cNvSpPr>
          <p:nvPr>
            <p:ph type="body" sz="quarter" idx="17"/>
          </p:nvPr>
        </p:nvSpPr>
        <p:spPr>
          <a:xfrm>
            <a:off x="838200" y="2743200"/>
            <a:ext cx="7391400" cy="685800"/>
          </a:xfrm>
          <a:solidFill>
            <a:schemeClr val="bg1"/>
          </a:solidFill>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2450841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_Text_Image_layout">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8" name="Table Placeholder 7">
            <a:extLst>
              <a:ext uri="{FF2B5EF4-FFF2-40B4-BE49-F238E27FC236}">
                <a16:creationId xmlns:a16="http://schemas.microsoft.com/office/drawing/2014/main" id="{B67ED070-8611-4D83-A3C6-478B69003052}"/>
              </a:ext>
            </a:extLst>
          </p:cNvPr>
          <p:cNvSpPr>
            <a:spLocks noGrp="1"/>
          </p:cNvSpPr>
          <p:nvPr>
            <p:ph type="tbl" sz="quarter" idx="13" hasCustomPrompt="1"/>
          </p:nvPr>
        </p:nvSpPr>
        <p:spPr>
          <a:xfrm>
            <a:off x="914400" y="1143000"/>
            <a:ext cx="7315200" cy="1496734"/>
          </a:xfrm>
        </p:spPr>
        <p:txBody>
          <a:bodyPr/>
          <a:lstStyle>
            <a:lvl1pPr marL="0" indent="0">
              <a:buNone/>
              <a:defRPr/>
            </a:lvl1pPr>
          </a:lstStyle>
          <a:p>
            <a:r>
              <a:rPr lang="en-US" dirty="0"/>
              <a:t>Click to insert table</a:t>
            </a:r>
          </a:p>
        </p:txBody>
      </p:sp>
      <p:sp>
        <p:nvSpPr>
          <p:cNvPr id="3" name="Date Placeholder 2"/>
          <p:cNvSpPr>
            <a:spLocks noGrp="1"/>
          </p:cNvSpPr>
          <p:nvPr>
            <p:ph type="dt" sz="half" idx="10"/>
          </p:nvPr>
        </p:nvSpPr>
        <p:spPr/>
        <p:txBody>
          <a:bodyPr/>
          <a:lstStyle/>
          <a:p>
            <a:pPr>
              <a:defRPr/>
            </a:pPr>
            <a:r>
              <a:rPr lang="en-US" dirty="0" err="1"/>
              <a:t>Murach's</a:t>
            </a:r>
            <a:r>
              <a:rPr lang="en-US" dirty="0"/>
              <a:t> Python for Data Science</a:t>
            </a:r>
          </a:p>
        </p:txBody>
      </p:sp>
      <p:sp>
        <p:nvSpPr>
          <p:cNvPr id="4" name="Footer Placeholder 3"/>
          <p:cNvSpPr>
            <a:spLocks noGrp="1"/>
          </p:cNvSpPr>
          <p:nvPr>
            <p:ph type="ftr" sz="quarter" idx="11"/>
          </p:nvPr>
        </p:nvSpPr>
        <p:spPr/>
        <p:txBody>
          <a:bodyPr/>
          <a:lstStyle/>
          <a:p>
            <a:pPr>
              <a:defRPr/>
            </a:pPr>
            <a:r>
              <a:rPr lang="en-US"/>
              <a:t>© 2021, Mike Murach &amp; Associates, Inc.</a:t>
            </a:r>
            <a:endParaRPr lang="en-US" dirty="0"/>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C6, Slide </a:t>
            </a:r>
            <a:fld id="{BF5C1183-B085-4070-A402-C03A3F977D3D}" type="slidenum">
              <a:rPr lang="en-US" smtClean="0">
                <a:solidFill>
                  <a:schemeClr val="bg1"/>
                </a:solidFill>
              </a:rPr>
              <a:pPr>
                <a:defRPr/>
              </a:pPr>
              <a:t>‹#›</a:t>
            </a:fld>
            <a:endParaRPr lang="en-US" dirty="0">
              <a:solidFill>
                <a:schemeClr val="bg1"/>
              </a:solidFill>
            </a:endParaRPr>
          </a:p>
        </p:txBody>
      </p:sp>
      <p:sp>
        <p:nvSpPr>
          <p:cNvPr id="9" name="Text Placeholder 6">
            <a:extLst>
              <a:ext uri="{FF2B5EF4-FFF2-40B4-BE49-F238E27FC236}">
                <a16:creationId xmlns:a16="http://schemas.microsoft.com/office/drawing/2014/main" id="{343F8196-C45E-4101-8642-53DC9DFF59B8}"/>
              </a:ext>
            </a:extLst>
          </p:cNvPr>
          <p:cNvSpPr>
            <a:spLocks noGrp="1"/>
          </p:cNvSpPr>
          <p:nvPr>
            <p:ph type="body" sz="quarter" idx="17"/>
          </p:nvPr>
        </p:nvSpPr>
        <p:spPr>
          <a:xfrm>
            <a:off x="838200" y="2743200"/>
            <a:ext cx="7391400" cy="685800"/>
          </a:xfrm>
          <a:solidFill>
            <a:schemeClr val="bg1"/>
          </a:solidFill>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0" name="Content Placeholder 6">
            <a:extLst>
              <a:ext uri="{FF2B5EF4-FFF2-40B4-BE49-F238E27FC236}">
                <a16:creationId xmlns:a16="http://schemas.microsoft.com/office/drawing/2014/main" id="{B39D1673-5FDF-4D83-ADBE-97ACF8D227BA}"/>
              </a:ext>
            </a:extLst>
          </p:cNvPr>
          <p:cNvSpPr>
            <a:spLocks noGrp="1"/>
          </p:cNvSpPr>
          <p:nvPr>
            <p:ph sz="quarter" idx="18" hasCustomPrompt="1"/>
          </p:nvPr>
        </p:nvSpPr>
        <p:spPr>
          <a:xfrm>
            <a:off x="876300" y="3532466"/>
            <a:ext cx="7315200" cy="2514600"/>
          </a:xfrm>
        </p:spPr>
        <p:txBody>
          <a:bodyPr/>
          <a:lstStyle>
            <a:lvl1pPr marL="0" indent="0">
              <a:buNone/>
              <a:defRPr/>
            </a:lvl1pPr>
          </a:lstStyle>
          <a:p>
            <a:pPr lvl="0"/>
            <a:r>
              <a:rPr lang="en-US" dirty="0"/>
              <a:t>Click to insert image</a:t>
            </a:r>
          </a:p>
        </p:txBody>
      </p:sp>
    </p:spTree>
    <p:extLst>
      <p:ext uri="{BB962C8B-B14F-4D97-AF65-F5344CB8AC3E}">
        <p14:creationId xmlns:p14="http://schemas.microsoft.com/office/powerpoint/2010/main" val="3368246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_Console_layout">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Text Placeholder 6"/>
          <p:cNvSpPr>
            <a:spLocks noGrp="1"/>
          </p:cNvSpPr>
          <p:nvPr>
            <p:ph type="body" sz="quarter" idx="13"/>
          </p:nvPr>
        </p:nvSpPr>
        <p:spPr>
          <a:xfrm>
            <a:off x="838200" y="1066800"/>
            <a:ext cx="7391400" cy="2743200"/>
          </a:xfrm>
          <a:solidFill>
            <a:schemeClr val="bg1"/>
          </a:solidFill>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9" name="Text Placeholder 14"/>
          <p:cNvSpPr>
            <a:spLocks noGrp="1"/>
          </p:cNvSpPr>
          <p:nvPr>
            <p:ph type="body" sz="quarter" idx="15"/>
          </p:nvPr>
        </p:nvSpPr>
        <p:spPr>
          <a:xfrm>
            <a:off x="1295400" y="3892100"/>
            <a:ext cx="6934200" cy="2049956"/>
          </a:xfrm>
          <a:solidFill>
            <a:schemeClr val="bg1">
              <a:lumMod val="95000"/>
            </a:schemeClr>
          </a:solidFill>
          <a:ln w="31750" cmpd="thickThin">
            <a:solidFill>
              <a:schemeClr val="tx1"/>
            </a:solidFill>
          </a:ln>
        </p:spPr>
        <p:txBody>
          <a:bodyPr/>
          <a:lstStyle>
            <a:lvl1pPr marL="0" indent="0">
              <a:buNone/>
              <a:defRPr sz="2000"/>
            </a:lvl1pPr>
          </a:lstStyle>
          <a:p>
            <a:pPr lvl="0"/>
            <a:r>
              <a:rPr lang="en-US"/>
              <a:t>Click to edit Master text styles</a:t>
            </a:r>
          </a:p>
        </p:txBody>
      </p:sp>
      <p:sp>
        <p:nvSpPr>
          <p:cNvPr id="3" name="Date Placeholder 2"/>
          <p:cNvSpPr>
            <a:spLocks noGrp="1"/>
          </p:cNvSpPr>
          <p:nvPr>
            <p:ph type="dt" sz="half" idx="10"/>
          </p:nvPr>
        </p:nvSpPr>
        <p:spPr/>
        <p:txBody>
          <a:bodyPr/>
          <a:lstStyle/>
          <a:p>
            <a:pPr>
              <a:defRPr/>
            </a:pPr>
            <a:r>
              <a:rPr lang="en-US" dirty="0" err="1"/>
              <a:t>Murach's</a:t>
            </a:r>
            <a:r>
              <a:rPr lang="en-US" dirty="0"/>
              <a:t> Python for Data Science</a:t>
            </a:r>
          </a:p>
        </p:txBody>
      </p:sp>
      <p:sp>
        <p:nvSpPr>
          <p:cNvPr id="4" name="Footer Placeholder 3"/>
          <p:cNvSpPr>
            <a:spLocks noGrp="1"/>
          </p:cNvSpPr>
          <p:nvPr>
            <p:ph type="ftr" sz="quarter" idx="11"/>
          </p:nvPr>
        </p:nvSpPr>
        <p:spPr/>
        <p:txBody>
          <a:bodyPr/>
          <a:lstStyle/>
          <a:p>
            <a:pPr>
              <a:defRPr/>
            </a:pPr>
            <a:r>
              <a:rPr lang="en-US"/>
              <a:t>© 2021, Mike Murach &amp; Associates, Inc.</a:t>
            </a:r>
            <a:endParaRPr lang="en-US" dirty="0"/>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C6,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4273112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_Console_Text_Console_layout">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Text Placeholder 6"/>
          <p:cNvSpPr>
            <a:spLocks noGrp="1"/>
          </p:cNvSpPr>
          <p:nvPr>
            <p:ph type="body" sz="quarter" idx="13"/>
          </p:nvPr>
        </p:nvSpPr>
        <p:spPr>
          <a:xfrm>
            <a:off x="838200" y="1066800"/>
            <a:ext cx="7391400" cy="990600"/>
          </a:xfrm>
          <a:solidFill>
            <a:schemeClr val="bg1"/>
          </a:solidFill>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0" name="Text Placeholder 14"/>
          <p:cNvSpPr>
            <a:spLocks noGrp="1"/>
          </p:cNvSpPr>
          <p:nvPr>
            <p:ph type="body" sz="quarter" idx="16"/>
          </p:nvPr>
        </p:nvSpPr>
        <p:spPr>
          <a:xfrm>
            <a:off x="1295400" y="2150899"/>
            <a:ext cx="6934200" cy="815635"/>
          </a:xfrm>
          <a:solidFill>
            <a:schemeClr val="bg1">
              <a:lumMod val="95000"/>
            </a:schemeClr>
          </a:solidFill>
          <a:ln w="31750" cmpd="thickThin">
            <a:solidFill>
              <a:schemeClr val="tx1"/>
            </a:solidFill>
          </a:ln>
        </p:spPr>
        <p:txBody>
          <a:bodyPr/>
          <a:lstStyle>
            <a:lvl1pPr marL="0" indent="0">
              <a:buNone/>
              <a:defRPr sz="2000"/>
            </a:lvl1pPr>
          </a:lstStyle>
          <a:p>
            <a:pPr lvl="0"/>
            <a:r>
              <a:rPr lang="en-US"/>
              <a:t>Click to edit Master text styles</a:t>
            </a:r>
          </a:p>
        </p:txBody>
      </p:sp>
      <p:sp>
        <p:nvSpPr>
          <p:cNvPr id="11" name="Text Placeholder 6"/>
          <p:cNvSpPr>
            <a:spLocks noGrp="1"/>
          </p:cNvSpPr>
          <p:nvPr>
            <p:ph type="body" sz="quarter" idx="17"/>
          </p:nvPr>
        </p:nvSpPr>
        <p:spPr>
          <a:xfrm>
            <a:off x="838200" y="3347534"/>
            <a:ext cx="7391400" cy="1496734"/>
          </a:xfrm>
          <a:solidFill>
            <a:schemeClr val="bg1"/>
          </a:solidFill>
        </p:spPr>
        <p:txBody>
          <a:bodyPr/>
          <a:lstStyle>
            <a:lvl1pPr marL="0" indent="0">
              <a:buNone/>
              <a:defRPr sz="20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9" name="Text Placeholder 14"/>
          <p:cNvSpPr>
            <a:spLocks noGrp="1"/>
          </p:cNvSpPr>
          <p:nvPr>
            <p:ph type="body" sz="quarter" idx="15"/>
          </p:nvPr>
        </p:nvSpPr>
        <p:spPr>
          <a:xfrm>
            <a:off x="1295400" y="4982112"/>
            <a:ext cx="6934200" cy="885288"/>
          </a:xfrm>
          <a:solidFill>
            <a:schemeClr val="bg1">
              <a:lumMod val="95000"/>
            </a:schemeClr>
          </a:solidFill>
          <a:ln w="31750" cmpd="thickThin">
            <a:solidFill>
              <a:schemeClr val="tx1"/>
            </a:solidFill>
          </a:ln>
        </p:spPr>
        <p:txBody>
          <a:bodyPr/>
          <a:lstStyle>
            <a:lvl1pPr marL="0" indent="0">
              <a:buNone/>
              <a:defRPr sz="2000"/>
            </a:lvl1pPr>
          </a:lstStyle>
          <a:p>
            <a:pPr lvl="0"/>
            <a:r>
              <a:rPr lang="en-US"/>
              <a:t>Click to edit Master text styles</a:t>
            </a:r>
          </a:p>
        </p:txBody>
      </p:sp>
      <p:sp>
        <p:nvSpPr>
          <p:cNvPr id="3" name="Date Placeholder 2"/>
          <p:cNvSpPr>
            <a:spLocks noGrp="1"/>
          </p:cNvSpPr>
          <p:nvPr>
            <p:ph type="dt" sz="half" idx="10"/>
          </p:nvPr>
        </p:nvSpPr>
        <p:spPr/>
        <p:txBody>
          <a:bodyPr/>
          <a:lstStyle/>
          <a:p>
            <a:pPr>
              <a:defRPr/>
            </a:pPr>
            <a:r>
              <a:rPr lang="en-US" dirty="0" err="1"/>
              <a:t>Murach's</a:t>
            </a:r>
            <a:r>
              <a:rPr lang="en-US" dirty="0"/>
              <a:t> Python for Data Science</a:t>
            </a:r>
          </a:p>
        </p:txBody>
      </p:sp>
      <p:sp>
        <p:nvSpPr>
          <p:cNvPr id="4" name="Footer Placeholder 3"/>
          <p:cNvSpPr>
            <a:spLocks noGrp="1"/>
          </p:cNvSpPr>
          <p:nvPr>
            <p:ph type="ftr" sz="quarter" idx="11"/>
          </p:nvPr>
        </p:nvSpPr>
        <p:spPr/>
        <p:txBody>
          <a:bodyPr/>
          <a:lstStyle/>
          <a:p>
            <a:pPr>
              <a:defRPr/>
            </a:pPr>
            <a:r>
              <a:rPr lang="en-US"/>
              <a:t>© 2021, Mike Murach &amp; Associates, Inc.</a:t>
            </a:r>
            <a:endParaRPr lang="en-US" dirty="0"/>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C6,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2704291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sole_layout">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Text Placeholder 14"/>
          <p:cNvSpPr>
            <a:spLocks noGrp="1"/>
          </p:cNvSpPr>
          <p:nvPr>
            <p:ph type="body" sz="quarter" idx="15"/>
          </p:nvPr>
        </p:nvSpPr>
        <p:spPr>
          <a:xfrm>
            <a:off x="1295400" y="1143000"/>
            <a:ext cx="6934200" cy="3200400"/>
          </a:xfrm>
          <a:solidFill>
            <a:schemeClr val="bg1">
              <a:lumMod val="95000"/>
            </a:schemeClr>
          </a:solidFill>
          <a:ln w="31750" cmpd="thickThin">
            <a:solidFill>
              <a:schemeClr val="tx1"/>
            </a:solidFill>
          </a:ln>
        </p:spPr>
        <p:txBody>
          <a:bodyPr/>
          <a:lstStyle>
            <a:lvl1pPr marL="0" indent="0">
              <a:buNone/>
              <a:defRPr sz="2000"/>
            </a:lvl1pPr>
          </a:lstStyle>
          <a:p>
            <a:pPr lvl="0"/>
            <a:r>
              <a:rPr lang="en-US"/>
              <a:t>Click to edit Master text styles</a:t>
            </a:r>
          </a:p>
        </p:txBody>
      </p:sp>
      <p:sp>
        <p:nvSpPr>
          <p:cNvPr id="3" name="Date Placeholder 2"/>
          <p:cNvSpPr>
            <a:spLocks noGrp="1"/>
          </p:cNvSpPr>
          <p:nvPr>
            <p:ph type="dt" sz="half" idx="10"/>
          </p:nvPr>
        </p:nvSpPr>
        <p:spPr/>
        <p:txBody>
          <a:bodyPr/>
          <a:lstStyle/>
          <a:p>
            <a:pPr>
              <a:defRPr/>
            </a:pPr>
            <a:r>
              <a:rPr lang="en-US" dirty="0" err="1"/>
              <a:t>Murach's</a:t>
            </a:r>
            <a:r>
              <a:rPr lang="en-US" dirty="0"/>
              <a:t> Python for Data Science</a:t>
            </a:r>
          </a:p>
        </p:txBody>
      </p:sp>
      <p:sp>
        <p:nvSpPr>
          <p:cNvPr id="4" name="Footer Placeholder 3"/>
          <p:cNvSpPr>
            <a:spLocks noGrp="1"/>
          </p:cNvSpPr>
          <p:nvPr>
            <p:ph type="ftr" sz="quarter" idx="11"/>
          </p:nvPr>
        </p:nvSpPr>
        <p:spPr/>
        <p:txBody>
          <a:bodyPr/>
          <a:lstStyle/>
          <a:p>
            <a:pPr>
              <a:defRPr/>
            </a:pPr>
            <a:r>
              <a:rPr lang="en-US"/>
              <a:t>© 2021, Mike Murach &amp; Associates, Inc.</a:t>
            </a:r>
            <a:endParaRPr lang="en-US" dirty="0"/>
          </a:p>
        </p:txBody>
      </p:sp>
      <p:sp>
        <p:nvSpPr>
          <p:cNvPr id="5" name="Slide Number Placeholder 4"/>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C6, Slide </a:t>
            </a:r>
            <a:fld id="{BF5C1183-B085-4070-A402-C03A3F977D3D}" type="slidenum">
              <a:rPr lang="en-US" smtClean="0">
                <a:solidFill>
                  <a:schemeClr val="bg1"/>
                </a:solidFill>
              </a:rPr>
              <a:pPr>
                <a:defRPr/>
              </a:pPr>
              <a:t>‹#›</a:t>
            </a:fld>
            <a:endParaRPr lang="en-US" dirty="0">
              <a:solidFill>
                <a:schemeClr val="bg1"/>
              </a:solidFill>
            </a:endParaRPr>
          </a:p>
        </p:txBody>
      </p:sp>
    </p:spTree>
    <p:extLst>
      <p:ext uri="{BB962C8B-B14F-4D97-AF65-F5344CB8AC3E}">
        <p14:creationId xmlns:p14="http://schemas.microsoft.com/office/powerpoint/2010/main" val="36109015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_Text_layout">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Content Placeholder 6"/>
          <p:cNvSpPr>
            <a:spLocks noGrp="1"/>
          </p:cNvSpPr>
          <p:nvPr>
            <p:ph sz="quarter" idx="13" hasCustomPrompt="1"/>
          </p:nvPr>
        </p:nvSpPr>
        <p:spPr>
          <a:xfrm>
            <a:off x="914400" y="1066800"/>
            <a:ext cx="7315200" cy="2514600"/>
          </a:xfrm>
        </p:spPr>
        <p:txBody>
          <a:bodyPr/>
          <a:lstStyle>
            <a:lvl1pPr marL="0" indent="0">
              <a:buNone/>
              <a:defRPr/>
            </a:lvl1pPr>
          </a:lstStyle>
          <a:p>
            <a:pPr lvl="0"/>
            <a:r>
              <a:rPr lang="en-US" dirty="0"/>
              <a:t>Click to insert image</a:t>
            </a:r>
          </a:p>
        </p:txBody>
      </p:sp>
      <p:sp>
        <p:nvSpPr>
          <p:cNvPr id="10" name="Text Placeholder 9"/>
          <p:cNvSpPr>
            <a:spLocks noGrp="1"/>
          </p:cNvSpPr>
          <p:nvPr>
            <p:ph type="body" sz="quarter" idx="15"/>
          </p:nvPr>
        </p:nvSpPr>
        <p:spPr>
          <a:xfrm>
            <a:off x="838200" y="3733800"/>
            <a:ext cx="7391400" cy="2209799"/>
          </a:xfrm>
        </p:spPr>
        <p:txBody>
          <a:bodyPr/>
          <a:lstStyle>
            <a:lvl1pPr marL="0" indent="0">
              <a:buNone/>
              <a:defRPr sz="2000"/>
            </a:lvl1pPr>
          </a:lstStyle>
          <a:p>
            <a:pPr lvl="0"/>
            <a:r>
              <a:rPr lang="en-US"/>
              <a:t>Click to edit Master text styles</a:t>
            </a:r>
          </a:p>
        </p:txBody>
      </p:sp>
      <p:sp>
        <p:nvSpPr>
          <p:cNvPr id="3" name="Date Placeholder 1"/>
          <p:cNvSpPr>
            <a:spLocks noGrp="1"/>
          </p:cNvSpPr>
          <p:nvPr>
            <p:ph type="dt" sz="half" idx="10"/>
          </p:nvPr>
        </p:nvSpPr>
        <p:spPr>
          <a:ln/>
        </p:spPr>
        <p:txBody>
          <a:bodyPr/>
          <a:lstStyle>
            <a:lvl1pPr>
              <a:defRPr sz="1800"/>
            </a:lvl1pPr>
          </a:lstStyle>
          <a:p>
            <a:pPr>
              <a:defRPr/>
            </a:pPr>
            <a:r>
              <a:rPr lang="en-US" dirty="0" err="1"/>
              <a:t>Murach's</a:t>
            </a:r>
            <a:r>
              <a:rPr lang="en-US" dirty="0"/>
              <a:t> Python for Data Science</a:t>
            </a:r>
          </a:p>
        </p:txBody>
      </p:sp>
      <p:sp>
        <p:nvSpPr>
          <p:cNvPr id="4" name="Footer Placeholder 2"/>
          <p:cNvSpPr>
            <a:spLocks noGrp="1"/>
          </p:cNvSpPr>
          <p:nvPr>
            <p:ph type="ftr" sz="quarter" idx="11"/>
          </p:nvPr>
        </p:nvSpPr>
        <p:spPr>
          <a:ln/>
        </p:spPr>
        <p:txBody>
          <a:bodyPr/>
          <a:lstStyle>
            <a:lvl1pPr>
              <a:defRPr/>
            </a:lvl1pPr>
          </a:lstStyle>
          <a:p>
            <a:pPr>
              <a:defRPr/>
            </a:pPr>
            <a:r>
              <a:rPr lang="en-US"/>
              <a:t>© 2021, Mike Murach &amp; Associates, Inc.</a:t>
            </a:r>
          </a:p>
        </p:txBody>
      </p:sp>
      <p:sp>
        <p:nvSpPr>
          <p:cNvPr id="6" name="Slide Number Placeholder 3"/>
          <p:cNvSpPr>
            <a:spLocks noGrp="1"/>
          </p:cNvSpPr>
          <p:nvPr>
            <p:ph type="sldNum" sz="quarter" idx="12"/>
          </p:nvPr>
        </p:nvSpPr>
        <p:spPr>
          <a:ln/>
        </p:spPr>
        <p:txBody>
          <a:bodyPr/>
          <a:lstStyle>
            <a:lvl1pPr algn="l">
              <a:defRPr sz="1400">
                <a:latin typeface="Times New Roman"/>
              </a:defRPr>
            </a:lvl1pPr>
          </a:lstStyle>
          <a:p>
            <a:pPr>
              <a:defRPr/>
            </a:pPr>
            <a:endParaRPr lang="en-US" dirty="0"/>
          </a:p>
          <a:p>
            <a:pPr algn="r">
              <a:defRPr/>
            </a:pPr>
            <a:r>
              <a:rPr lang="en-US" sz="900" dirty="0">
                <a:solidFill>
                  <a:schemeClr val="bg1"/>
                </a:solidFill>
                <a:latin typeface="Arial Narrow" pitchFamily="34" charset="0"/>
              </a:rPr>
              <a:t>C6, Slide </a:t>
            </a:r>
            <a:fld id="{5ECE9829-65B2-40C6-AEFF-7C648FF56A9C}" type="slidenum">
              <a:rPr lang="en-US" sz="900" smtClean="0">
                <a:solidFill>
                  <a:schemeClr val="bg1"/>
                </a:solidFill>
                <a:latin typeface="Arial Narrow" pitchFamily="34" charset="0"/>
              </a:rPr>
              <a:pPr algn="r">
                <a:defRPr/>
              </a:pPr>
              <a:t>‹#›</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15412028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able_Text_layout">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8" name="Table Placeholder 7">
            <a:extLst>
              <a:ext uri="{FF2B5EF4-FFF2-40B4-BE49-F238E27FC236}">
                <a16:creationId xmlns:a16="http://schemas.microsoft.com/office/drawing/2014/main" id="{BA428B99-D0BB-4B7F-A30C-E347F02920DF}"/>
              </a:ext>
            </a:extLst>
          </p:cNvPr>
          <p:cNvSpPr>
            <a:spLocks noGrp="1"/>
          </p:cNvSpPr>
          <p:nvPr>
            <p:ph type="tbl" sz="quarter" idx="16" hasCustomPrompt="1"/>
          </p:nvPr>
        </p:nvSpPr>
        <p:spPr>
          <a:xfrm>
            <a:off x="914400" y="1143000"/>
            <a:ext cx="7315200" cy="2438400"/>
          </a:xfrm>
        </p:spPr>
        <p:txBody>
          <a:bodyPr/>
          <a:lstStyle>
            <a:lvl1pPr marL="0" indent="0">
              <a:buNone/>
              <a:defRPr/>
            </a:lvl1pPr>
          </a:lstStyle>
          <a:p>
            <a:r>
              <a:rPr lang="en-US" dirty="0"/>
              <a:t>Click to insert table</a:t>
            </a:r>
          </a:p>
        </p:txBody>
      </p:sp>
      <p:sp>
        <p:nvSpPr>
          <p:cNvPr id="10" name="Text Placeholder 9"/>
          <p:cNvSpPr>
            <a:spLocks noGrp="1"/>
          </p:cNvSpPr>
          <p:nvPr>
            <p:ph type="body" sz="quarter" idx="15"/>
          </p:nvPr>
        </p:nvSpPr>
        <p:spPr>
          <a:xfrm>
            <a:off x="838200" y="3733800"/>
            <a:ext cx="7391400" cy="2209799"/>
          </a:xfrm>
        </p:spPr>
        <p:txBody>
          <a:bodyPr/>
          <a:lstStyle>
            <a:lvl1pPr marL="0" indent="0">
              <a:buNone/>
              <a:defRPr sz="2000"/>
            </a:lvl1pPr>
          </a:lstStyle>
          <a:p>
            <a:pPr lvl="0"/>
            <a:r>
              <a:rPr lang="en-US"/>
              <a:t>Click to edit Master text styles</a:t>
            </a:r>
          </a:p>
        </p:txBody>
      </p:sp>
      <p:sp>
        <p:nvSpPr>
          <p:cNvPr id="3" name="Date Placeholder 1"/>
          <p:cNvSpPr>
            <a:spLocks noGrp="1"/>
          </p:cNvSpPr>
          <p:nvPr>
            <p:ph type="dt" sz="half" idx="10"/>
          </p:nvPr>
        </p:nvSpPr>
        <p:spPr>
          <a:ln/>
        </p:spPr>
        <p:txBody>
          <a:bodyPr/>
          <a:lstStyle>
            <a:lvl1pPr>
              <a:defRPr sz="1800"/>
            </a:lvl1pPr>
          </a:lstStyle>
          <a:p>
            <a:pPr>
              <a:defRPr/>
            </a:pPr>
            <a:r>
              <a:rPr lang="en-US" dirty="0" err="1"/>
              <a:t>Murach's</a:t>
            </a:r>
            <a:r>
              <a:rPr lang="en-US" dirty="0"/>
              <a:t> Python for Data Science</a:t>
            </a:r>
          </a:p>
        </p:txBody>
      </p:sp>
      <p:sp>
        <p:nvSpPr>
          <p:cNvPr id="4" name="Footer Placeholder 2"/>
          <p:cNvSpPr>
            <a:spLocks noGrp="1"/>
          </p:cNvSpPr>
          <p:nvPr>
            <p:ph type="ftr" sz="quarter" idx="11"/>
          </p:nvPr>
        </p:nvSpPr>
        <p:spPr>
          <a:ln/>
        </p:spPr>
        <p:txBody>
          <a:bodyPr/>
          <a:lstStyle>
            <a:lvl1pPr>
              <a:defRPr/>
            </a:lvl1pPr>
          </a:lstStyle>
          <a:p>
            <a:pPr>
              <a:defRPr/>
            </a:pPr>
            <a:r>
              <a:rPr lang="en-US"/>
              <a:t>© 2021, Mike Murach &amp; Associates, Inc.</a:t>
            </a:r>
          </a:p>
        </p:txBody>
      </p:sp>
      <p:sp>
        <p:nvSpPr>
          <p:cNvPr id="6" name="Slide Number Placeholder 3"/>
          <p:cNvSpPr>
            <a:spLocks noGrp="1"/>
          </p:cNvSpPr>
          <p:nvPr>
            <p:ph type="sldNum" sz="quarter" idx="12"/>
          </p:nvPr>
        </p:nvSpPr>
        <p:spPr>
          <a:ln/>
        </p:spPr>
        <p:txBody>
          <a:bodyPr/>
          <a:lstStyle>
            <a:lvl1pPr algn="l">
              <a:defRPr sz="1400">
                <a:latin typeface="Times New Roman"/>
              </a:defRPr>
            </a:lvl1pPr>
          </a:lstStyle>
          <a:p>
            <a:pPr>
              <a:defRPr/>
            </a:pPr>
            <a:endParaRPr lang="en-US" dirty="0"/>
          </a:p>
          <a:p>
            <a:pPr algn="r">
              <a:defRPr/>
            </a:pPr>
            <a:r>
              <a:rPr lang="en-US" sz="900" dirty="0">
                <a:solidFill>
                  <a:schemeClr val="bg1"/>
                </a:solidFill>
                <a:latin typeface="Arial Narrow" pitchFamily="34" charset="0"/>
              </a:rPr>
              <a:t>C6, Slide </a:t>
            </a:r>
            <a:fld id="{5ECE9829-65B2-40C6-AEFF-7C648FF56A9C}" type="slidenum">
              <a:rPr lang="en-US" sz="900" smtClean="0">
                <a:solidFill>
                  <a:schemeClr val="bg1"/>
                </a:solidFill>
                <a:latin typeface="Arial Narrow" pitchFamily="34" charset="0"/>
              </a:rPr>
              <a:pPr algn="r">
                <a:defRPr/>
              </a:pPr>
              <a:t>‹#›</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7093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mage_Image_layout">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Content Placeholder 6"/>
          <p:cNvSpPr>
            <a:spLocks noGrp="1"/>
          </p:cNvSpPr>
          <p:nvPr>
            <p:ph sz="quarter" idx="13" hasCustomPrompt="1"/>
          </p:nvPr>
        </p:nvSpPr>
        <p:spPr>
          <a:xfrm>
            <a:off x="914400" y="1066800"/>
            <a:ext cx="7315200" cy="2514600"/>
          </a:xfrm>
        </p:spPr>
        <p:txBody>
          <a:bodyPr/>
          <a:lstStyle>
            <a:lvl1pPr marL="0" indent="0">
              <a:buNone/>
              <a:defRPr/>
            </a:lvl1pPr>
          </a:lstStyle>
          <a:p>
            <a:pPr lvl="0"/>
            <a:r>
              <a:rPr lang="en-US" dirty="0"/>
              <a:t>Click to insert image</a:t>
            </a:r>
          </a:p>
        </p:txBody>
      </p:sp>
      <p:sp>
        <p:nvSpPr>
          <p:cNvPr id="8" name="Text Placeholder 7"/>
          <p:cNvSpPr>
            <a:spLocks noGrp="1"/>
          </p:cNvSpPr>
          <p:nvPr>
            <p:ph type="body" sz="quarter" idx="14" hasCustomPrompt="1"/>
          </p:nvPr>
        </p:nvSpPr>
        <p:spPr>
          <a:xfrm>
            <a:off x="838200" y="3730079"/>
            <a:ext cx="7391400" cy="457200"/>
          </a:xfrm>
        </p:spPr>
        <p:txBody>
          <a:bodyPr/>
          <a:lstStyle>
            <a:lvl1pPr marL="0" indent="0">
              <a:buNone/>
              <a:defRPr sz="2400" b="1">
                <a:solidFill>
                  <a:srgbClr val="000099"/>
                </a:solidFill>
                <a:latin typeface="+mj-lt"/>
              </a:defRPr>
            </a:lvl1pPr>
          </a:lstStyle>
          <a:p>
            <a:pPr lvl="0"/>
            <a:r>
              <a:rPr lang="en-US" dirty="0"/>
              <a:t>Click to edit Master heading style</a:t>
            </a:r>
          </a:p>
        </p:txBody>
      </p:sp>
      <p:sp>
        <p:nvSpPr>
          <p:cNvPr id="9" name="Content Placeholder 8"/>
          <p:cNvSpPr>
            <a:spLocks noGrp="1"/>
          </p:cNvSpPr>
          <p:nvPr>
            <p:ph sz="quarter" idx="15" hasCustomPrompt="1"/>
          </p:nvPr>
        </p:nvSpPr>
        <p:spPr>
          <a:xfrm>
            <a:off x="914400" y="4267200"/>
            <a:ext cx="7315200" cy="1676400"/>
          </a:xfrm>
        </p:spPr>
        <p:txBody>
          <a:bodyPr/>
          <a:lstStyle>
            <a:lvl1pPr marL="0" indent="0">
              <a:buNone/>
              <a:defRPr/>
            </a:lvl1pPr>
          </a:lstStyle>
          <a:p>
            <a:pPr lvl="0"/>
            <a:r>
              <a:rPr lang="en-US" dirty="0"/>
              <a:t>Click to insert image</a:t>
            </a:r>
          </a:p>
        </p:txBody>
      </p:sp>
      <p:sp>
        <p:nvSpPr>
          <p:cNvPr id="3" name="Date Placeholder 1"/>
          <p:cNvSpPr>
            <a:spLocks noGrp="1"/>
          </p:cNvSpPr>
          <p:nvPr>
            <p:ph type="dt" sz="half" idx="10"/>
          </p:nvPr>
        </p:nvSpPr>
        <p:spPr>
          <a:ln/>
        </p:spPr>
        <p:txBody>
          <a:bodyPr/>
          <a:lstStyle>
            <a:lvl1pPr>
              <a:defRPr sz="1800"/>
            </a:lvl1pPr>
          </a:lstStyle>
          <a:p>
            <a:pPr>
              <a:defRPr/>
            </a:pPr>
            <a:r>
              <a:rPr lang="en-US" dirty="0" err="1"/>
              <a:t>Murach's</a:t>
            </a:r>
            <a:r>
              <a:rPr lang="en-US" dirty="0"/>
              <a:t> Python for Data Science</a:t>
            </a:r>
          </a:p>
        </p:txBody>
      </p:sp>
      <p:sp>
        <p:nvSpPr>
          <p:cNvPr id="4" name="Footer Placeholder 2"/>
          <p:cNvSpPr>
            <a:spLocks noGrp="1"/>
          </p:cNvSpPr>
          <p:nvPr>
            <p:ph type="ftr" sz="quarter" idx="11"/>
          </p:nvPr>
        </p:nvSpPr>
        <p:spPr>
          <a:ln/>
        </p:spPr>
        <p:txBody>
          <a:bodyPr/>
          <a:lstStyle>
            <a:lvl1pPr>
              <a:defRPr/>
            </a:lvl1pPr>
          </a:lstStyle>
          <a:p>
            <a:pPr>
              <a:defRPr/>
            </a:pPr>
            <a:r>
              <a:rPr lang="en-US"/>
              <a:t>© 2021, Mike Murach &amp; Associates, Inc.</a:t>
            </a:r>
          </a:p>
        </p:txBody>
      </p:sp>
      <p:sp>
        <p:nvSpPr>
          <p:cNvPr id="6" name="Slide Number Placeholder 3"/>
          <p:cNvSpPr>
            <a:spLocks noGrp="1"/>
          </p:cNvSpPr>
          <p:nvPr>
            <p:ph type="sldNum" sz="quarter" idx="12"/>
          </p:nvPr>
        </p:nvSpPr>
        <p:spPr>
          <a:ln/>
        </p:spPr>
        <p:txBody>
          <a:bodyPr/>
          <a:lstStyle>
            <a:lvl1pPr algn="l">
              <a:defRPr sz="1400">
                <a:latin typeface="Times New Roman"/>
              </a:defRPr>
            </a:lvl1pPr>
          </a:lstStyle>
          <a:p>
            <a:pPr>
              <a:defRPr/>
            </a:pPr>
            <a:endParaRPr lang="en-US" dirty="0"/>
          </a:p>
          <a:p>
            <a:pPr algn="r">
              <a:defRPr/>
            </a:pPr>
            <a:r>
              <a:rPr lang="en-US" sz="900" dirty="0">
                <a:solidFill>
                  <a:schemeClr val="bg1"/>
                </a:solidFill>
                <a:latin typeface="Arial Narrow" pitchFamily="34" charset="0"/>
              </a:rPr>
              <a:t>C6, Slide </a:t>
            </a:r>
            <a:fld id="{5ECE9829-65B2-40C6-AEFF-7C648FF56A9C}" type="slidenum">
              <a:rPr lang="en-US" sz="900" smtClean="0">
                <a:solidFill>
                  <a:schemeClr val="bg1"/>
                </a:solidFill>
                <a:latin typeface="Arial Narrow" pitchFamily="34" charset="0"/>
              </a:rPr>
              <a:pPr algn="r">
                <a:defRPr/>
              </a:pPr>
              <a:t>‹#›</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10681478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_Image_Text_Image_layout">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7" name="Content Placeholder 6"/>
          <p:cNvSpPr>
            <a:spLocks noGrp="1"/>
          </p:cNvSpPr>
          <p:nvPr>
            <p:ph sz="quarter" idx="13" hasCustomPrompt="1"/>
          </p:nvPr>
        </p:nvSpPr>
        <p:spPr>
          <a:xfrm>
            <a:off x="914400" y="1752600"/>
            <a:ext cx="7315200" cy="1524000"/>
          </a:xfrm>
        </p:spPr>
        <p:txBody>
          <a:bodyPr/>
          <a:lstStyle>
            <a:lvl1pPr marL="0" indent="0">
              <a:buNone/>
              <a:defRPr/>
            </a:lvl1pPr>
          </a:lstStyle>
          <a:p>
            <a:pPr lvl="0"/>
            <a:r>
              <a:rPr lang="en-US" dirty="0"/>
              <a:t>Click to insert image</a:t>
            </a:r>
          </a:p>
        </p:txBody>
      </p:sp>
      <p:sp>
        <p:nvSpPr>
          <p:cNvPr id="8" name="Text Placeholder 7"/>
          <p:cNvSpPr>
            <a:spLocks noGrp="1"/>
          </p:cNvSpPr>
          <p:nvPr>
            <p:ph type="body" sz="quarter" idx="14" hasCustomPrompt="1"/>
          </p:nvPr>
        </p:nvSpPr>
        <p:spPr>
          <a:xfrm>
            <a:off x="838200" y="3352800"/>
            <a:ext cx="7391400" cy="457200"/>
          </a:xfrm>
        </p:spPr>
        <p:txBody>
          <a:bodyPr/>
          <a:lstStyle>
            <a:lvl1pPr marL="0" indent="0">
              <a:buNone/>
              <a:defRPr sz="2400" b="1">
                <a:solidFill>
                  <a:srgbClr val="000099"/>
                </a:solidFill>
                <a:latin typeface="+mj-lt"/>
              </a:defRPr>
            </a:lvl1pPr>
          </a:lstStyle>
          <a:p>
            <a:pPr lvl="0"/>
            <a:r>
              <a:rPr lang="en-US" dirty="0"/>
              <a:t>Click to edit Master heading style</a:t>
            </a:r>
          </a:p>
        </p:txBody>
      </p:sp>
      <p:sp>
        <p:nvSpPr>
          <p:cNvPr id="9" name="Content Placeholder 8"/>
          <p:cNvSpPr>
            <a:spLocks noGrp="1"/>
          </p:cNvSpPr>
          <p:nvPr>
            <p:ph sz="quarter" idx="15" hasCustomPrompt="1"/>
          </p:nvPr>
        </p:nvSpPr>
        <p:spPr>
          <a:xfrm>
            <a:off x="914400" y="3886200"/>
            <a:ext cx="7315200" cy="1676400"/>
          </a:xfrm>
        </p:spPr>
        <p:txBody>
          <a:bodyPr/>
          <a:lstStyle>
            <a:lvl1pPr marL="0" indent="0">
              <a:buNone/>
              <a:defRPr/>
            </a:lvl1pPr>
          </a:lstStyle>
          <a:p>
            <a:pPr lvl="0"/>
            <a:r>
              <a:rPr lang="en-US" dirty="0"/>
              <a:t>Click to insert image</a:t>
            </a:r>
          </a:p>
        </p:txBody>
      </p:sp>
      <p:sp>
        <p:nvSpPr>
          <p:cNvPr id="3" name="Date Placeholder 1"/>
          <p:cNvSpPr>
            <a:spLocks noGrp="1"/>
          </p:cNvSpPr>
          <p:nvPr>
            <p:ph type="dt" sz="half" idx="10"/>
          </p:nvPr>
        </p:nvSpPr>
        <p:spPr>
          <a:ln/>
        </p:spPr>
        <p:txBody>
          <a:bodyPr/>
          <a:lstStyle>
            <a:lvl1pPr>
              <a:defRPr sz="1800"/>
            </a:lvl1pPr>
          </a:lstStyle>
          <a:p>
            <a:pPr>
              <a:defRPr/>
            </a:pPr>
            <a:r>
              <a:rPr lang="en-US" dirty="0" err="1"/>
              <a:t>Murach's</a:t>
            </a:r>
            <a:r>
              <a:rPr lang="en-US" dirty="0"/>
              <a:t> Python for Data Science</a:t>
            </a:r>
          </a:p>
        </p:txBody>
      </p:sp>
      <p:sp>
        <p:nvSpPr>
          <p:cNvPr id="4" name="Footer Placeholder 2"/>
          <p:cNvSpPr>
            <a:spLocks noGrp="1"/>
          </p:cNvSpPr>
          <p:nvPr>
            <p:ph type="ftr" sz="quarter" idx="11"/>
          </p:nvPr>
        </p:nvSpPr>
        <p:spPr>
          <a:ln/>
        </p:spPr>
        <p:txBody>
          <a:bodyPr/>
          <a:lstStyle>
            <a:lvl1pPr>
              <a:defRPr/>
            </a:lvl1pPr>
          </a:lstStyle>
          <a:p>
            <a:pPr>
              <a:defRPr/>
            </a:pPr>
            <a:r>
              <a:rPr lang="en-US"/>
              <a:t>© 2021, Mike Murach &amp; Associates, Inc.</a:t>
            </a:r>
          </a:p>
        </p:txBody>
      </p:sp>
      <p:sp>
        <p:nvSpPr>
          <p:cNvPr id="6" name="Slide Number Placeholder 3"/>
          <p:cNvSpPr>
            <a:spLocks noGrp="1"/>
          </p:cNvSpPr>
          <p:nvPr>
            <p:ph type="sldNum" sz="quarter" idx="12"/>
          </p:nvPr>
        </p:nvSpPr>
        <p:spPr>
          <a:ln/>
        </p:spPr>
        <p:txBody>
          <a:bodyPr/>
          <a:lstStyle>
            <a:lvl1pPr algn="l">
              <a:defRPr sz="1400">
                <a:latin typeface="Times New Roman"/>
              </a:defRPr>
            </a:lvl1pPr>
          </a:lstStyle>
          <a:p>
            <a:pPr>
              <a:defRPr/>
            </a:pPr>
            <a:endParaRPr lang="en-US" dirty="0"/>
          </a:p>
          <a:p>
            <a:pPr algn="r">
              <a:defRPr/>
            </a:pPr>
            <a:r>
              <a:rPr lang="en-US" sz="900" dirty="0">
                <a:solidFill>
                  <a:schemeClr val="bg1"/>
                </a:solidFill>
                <a:latin typeface="Arial Narrow" pitchFamily="34" charset="0"/>
              </a:rPr>
              <a:t>C6, Slide </a:t>
            </a:r>
            <a:fld id="{5ECE9829-65B2-40C6-AEFF-7C648FF56A9C}" type="slidenum">
              <a:rPr lang="en-US" sz="900" smtClean="0">
                <a:solidFill>
                  <a:schemeClr val="bg1"/>
                </a:solidFill>
                <a:latin typeface="Arial Narrow" pitchFamily="34" charset="0"/>
              </a:rPr>
              <a:pPr algn="r">
                <a:defRPr/>
              </a:pPr>
              <a:t>‹#›</a:t>
            </a:fld>
            <a:endParaRPr lang="en-US" sz="900" dirty="0">
              <a:solidFill>
                <a:schemeClr val="bg1"/>
              </a:solidFill>
              <a:latin typeface="Arial Narrow" pitchFamily="34" charset="0"/>
            </a:endParaRPr>
          </a:p>
        </p:txBody>
      </p:sp>
      <p:sp>
        <p:nvSpPr>
          <p:cNvPr id="10" name="Text Placeholder 9">
            <a:extLst>
              <a:ext uri="{FF2B5EF4-FFF2-40B4-BE49-F238E27FC236}">
                <a16:creationId xmlns:a16="http://schemas.microsoft.com/office/drawing/2014/main" id="{6E3D78B2-A2B3-4F14-970F-D4E0D43533E5}"/>
              </a:ext>
            </a:extLst>
          </p:cNvPr>
          <p:cNvSpPr>
            <a:spLocks noGrp="1"/>
          </p:cNvSpPr>
          <p:nvPr>
            <p:ph type="body" sz="quarter" idx="16"/>
          </p:nvPr>
        </p:nvSpPr>
        <p:spPr>
          <a:xfrm>
            <a:off x="812800" y="1062758"/>
            <a:ext cx="7391400" cy="606200"/>
          </a:xfrm>
        </p:spPr>
        <p:txBody>
          <a:bodyPr/>
          <a:lstStyle>
            <a:lvl1pPr marL="0" indent="0">
              <a:buNone/>
              <a:defRPr sz="2000"/>
            </a:lvl1pPr>
          </a:lstStyle>
          <a:p>
            <a:pPr lvl="0"/>
            <a:r>
              <a:rPr lang="en-US"/>
              <a:t>Click to edit Master text styles</a:t>
            </a:r>
          </a:p>
        </p:txBody>
      </p:sp>
    </p:spTree>
    <p:extLst>
      <p:ext uri="{BB962C8B-B14F-4D97-AF65-F5344CB8AC3E}">
        <p14:creationId xmlns:p14="http://schemas.microsoft.com/office/powerpoint/2010/main" val="12761027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_Image_layout">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10" name="Text Placeholder 9"/>
          <p:cNvSpPr>
            <a:spLocks noGrp="1"/>
          </p:cNvSpPr>
          <p:nvPr>
            <p:ph type="body" sz="quarter" idx="15"/>
          </p:nvPr>
        </p:nvSpPr>
        <p:spPr>
          <a:xfrm>
            <a:off x="812800" y="1062758"/>
            <a:ext cx="7391400" cy="2213842"/>
          </a:xfrm>
        </p:spPr>
        <p:txBody>
          <a:bodyPr/>
          <a:lstStyle>
            <a:lvl1pPr marL="0" indent="0">
              <a:buNone/>
              <a:defRPr sz="2000"/>
            </a:lvl1pPr>
          </a:lstStyle>
          <a:p>
            <a:pPr lvl="0"/>
            <a:r>
              <a:rPr lang="en-US"/>
              <a:t>Click to edit Master text styles</a:t>
            </a:r>
          </a:p>
        </p:txBody>
      </p:sp>
      <p:sp>
        <p:nvSpPr>
          <p:cNvPr id="7" name="Content Placeholder 6"/>
          <p:cNvSpPr>
            <a:spLocks noGrp="1"/>
          </p:cNvSpPr>
          <p:nvPr>
            <p:ph sz="quarter" idx="13" hasCustomPrompt="1"/>
          </p:nvPr>
        </p:nvSpPr>
        <p:spPr>
          <a:xfrm>
            <a:off x="812800" y="3319598"/>
            <a:ext cx="7315200" cy="2438400"/>
          </a:xfrm>
        </p:spPr>
        <p:txBody>
          <a:bodyPr/>
          <a:lstStyle>
            <a:lvl1pPr marL="0" indent="0">
              <a:buNone/>
              <a:defRPr/>
            </a:lvl1pPr>
          </a:lstStyle>
          <a:p>
            <a:pPr lvl="0"/>
            <a:r>
              <a:rPr lang="en-US" dirty="0"/>
              <a:t>Click to insert image</a:t>
            </a:r>
          </a:p>
        </p:txBody>
      </p:sp>
      <p:sp>
        <p:nvSpPr>
          <p:cNvPr id="3" name="Date Placeholder 1"/>
          <p:cNvSpPr>
            <a:spLocks noGrp="1"/>
          </p:cNvSpPr>
          <p:nvPr>
            <p:ph type="dt" sz="half" idx="10"/>
          </p:nvPr>
        </p:nvSpPr>
        <p:spPr>
          <a:ln/>
        </p:spPr>
        <p:txBody>
          <a:bodyPr/>
          <a:lstStyle>
            <a:lvl1pPr>
              <a:defRPr sz="1800"/>
            </a:lvl1pPr>
          </a:lstStyle>
          <a:p>
            <a:pPr>
              <a:defRPr/>
            </a:pPr>
            <a:r>
              <a:rPr lang="en-US" dirty="0" err="1"/>
              <a:t>Murach's</a:t>
            </a:r>
            <a:r>
              <a:rPr lang="en-US" dirty="0"/>
              <a:t> Python for Data Science</a:t>
            </a:r>
          </a:p>
        </p:txBody>
      </p:sp>
      <p:sp>
        <p:nvSpPr>
          <p:cNvPr id="4" name="Footer Placeholder 2"/>
          <p:cNvSpPr>
            <a:spLocks noGrp="1"/>
          </p:cNvSpPr>
          <p:nvPr>
            <p:ph type="ftr" sz="quarter" idx="11"/>
          </p:nvPr>
        </p:nvSpPr>
        <p:spPr>
          <a:ln/>
        </p:spPr>
        <p:txBody>
          <a:bodyPr/>
          <a:lstStyle>
            <a:lvl1pPr>
              <a:defRPr/>
            </a:lvl1pPr>
          </a:lstStyle>
          <a:p>
            <a:pPr>
              <a:defRPr/>
            </a:pPr>
            <a:r>
              <a:rPr lang="en-US"/>
              <a:t>© 2021, Mike Murach &amp; Associates, Inc.</a:t>
            </a:r>
          </a:p>
        </p:txBody>
      </p:sp>
      <p:sp>
        <p:nvSpPr>
          <p:cNvPr id="6" name="Slide Number Placeholder 3"/>
          <p:cNvSpPr>
            <a:spLocks noGrp="1"/>
          </p:cNvSpPr>
          <p:nvPr>
            <p:ph type="sldNum" sz="quarter" idx="12"/>
          </p:nvPr>
        </p:nvSpPr>
        <p:spPr>
          <a:ln/>
        </p:spPr>
        <p:txBody>
          <a:bodyPr/>
          <a:lstStyle>
            <a:lvl1pPr algn="l">
              <a:defRPr sz="1400">
                <a:latin typeface="Times New Roman"/>
              </a:defRPr>
            </a:lvl1pPr>
          </a:lstStyle>
          <a:p>
            <a:pPr>
              <a:defRPr/>
            </a:pPr>
            <a:endParaRPr lang="en-US" dirty="0"/>
          </a:p>
          <a:p>
            <a:pPr algn="r">
              <a:defRPr/>
            </a:pPr>
            <a:r>
              <a:rPr lang="en-US" sz="900" dirty="0">
                <a:solidFill>
                  <a:schemeClr val="bg1"/>
                </a:solidFill>
                <a:latin typeface="Arial Narrow" pitchFamily="34" charset="0"/>
              </a:rPr>
              <a:t>C6, Slide </a:t>
            </a:r>
            <a:fld id="{5ECE9829-65B2-40C6-AEFF-7C648FF56A9C}" type="slidenum">
              <a:rPr lang="en-US" sz="900" smtClean="0">
                <a:solidFill>
                  <a:schemeClr val="bg1"/>
                </a:solidFill>
                <a:latin typeface="Arial Narrow" pitchFamily="34" charset="0"/>
              </a:rPr>
              <a:pPr algn="r">
                <a:defRPr/>
              </a:pPr>
              <a:t>‹#›</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5140972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_Image_Text_layout">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914400" y="624989"/>
            <a:ext cx="7315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400" b="1" i="0" baseline="0">
                <a:solidFill>
                  <a:srgbClr val="000099"/>
                </a:solidFill>
              </a:defRPr>
            </a:lvl1pPr>
          </a:lstStyle>
          <a:p>
            <a:pPr lvl="0"/>
            <a:r>
              <a:rPr lang="en-US"/>
              <a:t>Click to edit Master title style</a:t>
            </a:r>
            <a:endParaRPr lang="en-US" dirty="0"/>
          </a:p>
        </p:txBody>
      </p:sp>
      <p:sp>
        <p:nvSpPr>
          <p:cNvPr id="10" name="Text Placeholder 9"/>
          <p:cNvSpPr>
            <a:spLocks noGrp="1"/>
          </p:cNvSpPr>
          <p:nvPr>
            <p:ph type="body" sz="quarter" idx="15"/>
          </p:nvPr>
        </p:nvSpPr>
        <p:spPr>
          <a:xfrm>
            <a:off x="812800" y="1062758"/>
            <a:ext cx="7391400" cy="1756642"/>
          </a:xfrm>
        </p:spPr>
        <p:txBody>
          <a:bodyPr/>
          <a:lstStyle>
            <a:lvl1pPr marL="0" indent="0">
              <a:buNone/>
              <a:defRPr sz="2000"/>
            </a:lvl1pPr>
          </a:lstStyle>
          <a:p>
            <a:pPr lvl="0"/>
            <a:r>
              <a:rPr lang="en-US"/>
              <a:t>Click to edit Master text styles</a:t>
            </a:r>
          </a:p>
        </p:txBody>
      </p:sp>
      <p:sp>
        <p:nvSpPr>
          <p:cNvPr id="7" name="Content Placeholder 6"/>
          <p:cNvSpPr>
            <a:spLocks noGrp="1"/>
          </p:cNvSpPr>
          <p:nvPr>
            <p:ph sz="quarter" idx="13" hasCustomPrompt="1"/>
          </p:nvPr>
        </p:nvSpPr>
        <p:spPr>
          <a:xfrm>
            <a:off x="812800" y="2895600"/>
            <a:ext cx="7315200" cy="1633402"/>
          </a:xfrm>
        </p:spPr>
        <p:txBody>
          <a:bodyPr/>
          <a:lstStyle>
            <a:lvl1pPr marL="0" indent="0">
              <a:buNone/>
              <a:defRPr/>
            </a:lvl1pPr>
          </a:lstStyle>
          <a:p>
            <a:pPr lvl="0"/>
            <a:r>
              <a:rPr lang="en-US" dirty="0"/>
              <a:t>Click to insert image</a:t>
            </a:r>
          </a:p>
        </p:txBody>
      </p:sp>
      <p:sp>
        <p:nvSpPr>
          <p:cNvPr id="9" name="Text Placeholder 9"/>
          <p:cNvSpPr>
            <a:spLocks noGrp="1"/>
          </p:cNvSpPr>
          <p:nvPr>
            <p:ph type="body" sz="quarter" idx="16"/>
          </p:nvPr>
        </p:nvSpPr>
        <p:spPr>
          <a:xfrm>
            <a:off x="812800" y="4605202"/>
            <a:ext cx="7391400" cy="1414598"/>
          </a:xfrm>
        </p:spPr>
        <p:txBody>
          <a:bodyPr/>
          <a:lstStyle>
            <a:lvl1pPr marL="0" indent="0">
              <a:buNone/>
              <a:defRPr sz="2000"/>
            </a:lvl1pPr>
          </a:lstStyle>
          <a:p>
            <a:pPr lvl="0"/>
            <a:r>
              <a:rPr lang="en-US"/>
              <a:t>Click to edit Master text styles</a:t>
            </a:r>
          </a:p>
        </p:txBody>
      </p:sp>
      <p:sp>
        <p:nvSpPr>
          <p:cNvPr id="3" name="Date Placeholder 1"/>
          <p:cNvSpPr>
            <a:spLocks noGrp="1"/>
          </p:cNvSpPr>
          <p:nvPr>
            <p:ph type="dt" sz="half" idx="10"/>
          </p:nvPr>
        </p:nvSpPr>
        <p:spPr>
          <a:ln/>
        </p:spPr>
        <p:txBody>
          <a:bodyPr/>
          <a:lstStyle>
            <a:lvl1pPr>
              <a:defRPr sz="1800"/>
            </a:lvl1pPr>
          </a:lstStyle>
          <a:p>
            <a:pPr>
              <a:defRPr/>
            </a:pPr>
            <a:r>
              <a:rPr lang="en-US" dirty="0" err="1"/>
              <a:t>Murach's</a:t>
            </a:r>
            <a:r>
              <a:rPr lang="en-US" dirty="0"/>
              <a:t> Python for Data Science</a:t>
            </a:r>
          </a:p>
        </p:txBody>
      </p:sp>
      <p:sp>
        <p:nvSpPr>
          <p:cNvPr id="4" name="Footer Placeholder 2"/>
          <p:cNvSpPr>
            <a:spLocks noGrp="1"/>
          </p:cNvSpPr>
          <p:nvPr>
            <p:ph type="ftr" sz="quarter" idx="11"/>
          </p:nvPr>
        </p:nvSpPr>
        <p:spPr>
          <a:ln/>
        </p:spPr>
        <p:txBody>
          <a:bodyPr/>
          <a:lstStyle>
            <a:lvl1pPr>
              <a:defRPr/>
            </a:lvl1pPr>
          </a:lstStyle>
          <a:p>
            <a:pPr>
              <a:defRPr/>
            </a:pPr>
            <a:r>
              <a:rPr lang="en-US"/>
              <a:t>© 2021, Mike Murach &amp; Associates, Inc.</a:t>
            </a:r>
          </a:p>
        </p:txBody>
      </p:sp>
      <p:sp>
        <p:nvSpPr>
          <p:cNvPr id="6" name="Slide Number Placeholder 3"/>
          <p:cNvSpPr>
            <a:spLocks noGrp="1"/>
          </p:cNvSpPr>
          <p:nvPr>
            <p:ph type="sldNum" sz="quarter" idx="12"/>
          </p:nvPr>
        </p:nvSpPr>
        <p:spPr>
          <a:ln/>
        </p:spPr>
        <p:txBody>
          <a:bodyPr/>
          <a:lstStyle>
            <a:lvl1pPr algn="l">
              <a:defRPr sz="1400">
                <a:latin typeface="Times New Roman"/>
              </a:defRPr>
            </a:lvl1pPr>
          </a:lstStyle>
          <a:p>
            <a:pPr>
              <a:defRPr/>
            </a:pPr>
            <a:endParaRPr lang="en-US" dirty="0"/>
          </a:p>
          <a:p>
            <a:pPr algn="r">
              <a:defRPr/>
            </a:pPr>
            <a:r>
              <a:rPr lang="en-US" sz="900" dirty="0">
                <a:solidFill>
                  <a:schemeClr val="bg1"/>
                </a:solidFill>
                <a:latin typeface="Arial Narrow" pitchFamily="34" charset="0"/>
              </a:rPr>
              <a:t>C6, Slide </a:t>
            </a:r>
            <a:fld id="{5ECE9829-65B2-40C6-AEFF-7C648FF56A9C}" type="slidenum">
              <a:rPr lang="en-US" sz="900" smtClean="0">
                <a:solidFill>
                  <a:schemeClr val="bg1"/>
                </a:solidFill>
                <a:latin typeface="Arial Narrow" pitchFamily="34" charset="0"/>
              </a:rPr>
              <a:pPr algn="r">
                <a:defRPr/>
              </a:pPr>
              <a:t>‹#›</a:t>
            </a:fld>
            <a:endParaRPr lang="en-US" sz="900" dirty="0">
              <a:solidFill>
                <a:schemeClr val="bg1"/>
              </a:solidFill>
              <a:latin typeface="Arial Narrow" pitchFamily="34" charset="0"/>
            </a:endParaRPr>
          </a:p>
        </p:txBody>
      </p:sp>
    </p:spTree>
    <p:extLst>
      <p:ext uri="{BB962C8B-B14F-4D97-AF65-F5344CB8AC3E}">
        <p14:creationId xmlns:p14="http://schemas.microsoft.com/office/powerpoint/2010/main" val="2602246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p:cNvSpPr/>
          <p:nvPr/>
        </p:nvSpPr>
        <p:spPr bwMode="auto">
          <a:xfrm>
            <a:off x="0" y="6172200"/>
            <a:ext cx="9144000" cy="685800"/>
          </a:xfrm>
          <a:prstGeom prst="rect">
            <a:avLst/>
          </a:prstGeom>
          <a:solidFill>
            <a:srgbClr val="20396D"/>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7" name="Date Placeholder 1"/>
          <p:cNvSpPr>
            <a:spLocks noGrp="1"/>
          </p:cNvSpPr>
          <p:nvPr>
            <p:ph type="dt" sz="half" idx="2"/>
          </p:nvPr>
        </p:nvSpPr>
        <p:spPr bwMode="auto">
          <a:xfrm>
            <a:off x="2743200" y="6248400"/>
            <a:ext cx="3657600" cy="457200"/>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algn="ctr">
              <a:defRPr sz="1800" b="1" i="1">
                <a:solidFill>
                  <a:schemeClr val="bg1"/>
                </a:solidFill>
                <a:latin typeface="Arial Narrow" panose="020B0606020202030204" pitchFamily="34" charset="0"/>
                <a:cs typeface="Arial" panose="020B0604020202020204" pitchFamily="34" charset="0"/>
              </a:defRPr>
            </a:lvl1pPr>
          </a:lstStyle>
          <a:p>
            <a:pPr>
              <a:defRPr/>
            </a:pPr>
            <a:r>
              <a:rPr lang="en-US" dirty="0" err="1"/>
              <a:t>Murach's</a:t>
            </a:r>
            <a:r>
              <a:rPr lang="en-US" dirty="0"/>
              <a:t> Python for Data Science</a:t>
            </a:r>
          </a:p>
        </p:txBody>
      </p:sp>
      <p:sp>
        <p:nvSpPr>
          <p:cNvPr id="8" name="Footer Placeholder 2"/>
          <p:cNvSpPr>
            <a:spLocks noGrp="1"/>
          </p:cNvSpPr>
          <p:nvPr>
            <p:ph type="ftr" sz="quarter" idx="3"/>
          </p:nvPr>
        </p:nvSpPr>
        <p:spPr bwMode="auto">
          <a:xfrm>
            <a:off x="76200" y="6248400"/>
            <a:ext cx="2743200" cy="457200"/>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algn="ctr">
              <a:defRPr sz="500">
                <a:solidFill>
                  <a:schemeClr val="bg1"/>
                </a:solidFill>
                <a:latin typeface="Arial Narrow" pitchFamily="34" charset="0"/>
              </a:defRPr>
            </a:lvl1pPr>
          </a:lstStyle>
          <a:p>
            <a:pPr>
              <a:defRPr/>
            </a:pPr>
            <a:r>
              <a:rPr lang="en-US"/>
              <a:t>© 2021, Mike Murach &amp; Associates, Inc.</a:t>
            </a:r>
            <a:endParaRPr lang="en-US" dirty="0"/>
          </a:p>
        </p:txBody>
      </p:sp>
      <p:sp>
        <p:nvSpPr>
          <p:cNvPr id="9" name="Slide Number Placeholder 3"/>
          <p:cNvSpPr>
            <a:spLocks noGrp="1"/>
          </p:cNvSpPr>
          <p:nvPr>
            <p:ph type="sldNum" sz="quarter" idx="4"/>
          </p:nvPr>
        </p:nvSpPr>
        <p:spPr bwMode="auto">
          <a:xfrm>
            <a:off x="6629400" y="6248400"/>
            <a:ext cx="1905000" cy="457200"/>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algn="r">
              <a:defRPr sz="900">
                <a:latin typeface="Arial Narrow" pitchFamily="34" charset="0"/>
              </a:defRPr>
            </a:lvl1pPr>
          </a:lstStyle>
          <a:p>
            <a:pPr algn="l">
              <a:defRPr/>
            </a:pPr>
            <a:endParaRPr lang="en-US" sz="1400" dirty="0">
              <a:latin typeface="Times New Roman"/>
            </a:endParaRPr>
          </a:p>
          <a:p>
            <a:pPr>
              <a:defRPr/>
            </a:pPr>
            <a:r>
              <a:rPr lang="en-US" dirty="0">
                <a:solidFill>
                  <a:schemeClr val="bg1"/>
                </a:solidFill>
              </a:rPr>
              <a:t>C6, Slide </a:t>
            </a:r>
            <a:fld id="{BF5C1183-B085-4070-A402-C03A3F977D3D}" type="slidenum">
              <a:rPr lang="en-US" smtClean="0">
                <a:solidFill>
                  <a:schemeClr val="bg1"/>
                </a:solidFill>
              </a:rPr>
              <a:pPr>
                <a:defRPr/>
              </a:pPr>
              <a:t>‹#›</a:t>
            </a:fld>
            <a:endParaRPr lang="en-US" dirty="0">
              <a:solidFill>
                <a:schemeClr val="bg1"/>
              </a:solidFill>
            </a:endParaRPr>
          </a:p>
        </p:txBody>
      </p:sp>
      <p:pic>
        <p:nvPicPr>
          <p:cNvPr id="3" name="Picture 2"/>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676830" y="6397412"/>
            <a:ext cx="1228170" cy="231988"/>
          </a:xfrm>
          <a:prstGeom prst="rect">
            <a:avLst/>
          </a:prstGeom>
        </p:spPr>
      </p:pic>
    </p:spTree>
  </p:cSld>
  <p:clrMap bg1="lt1" tx1="dk1" bg2="lt2" tx2="dk2" accent1="accent1" accent2="accent2" accent3="accent3" accent4="accent4" accent5="accent5" accent6="accent6" hlink="hlink" folHlink="folHlink"/>
  <p:sldLayoutIdLst>
    <p:sldLayoutId id="2147483677" r:id="rId1"/>
    <p:sldLayoutId id="2147483678" r:id="rId2"/>
    <p:sldLayoutId id="2147483685" r:id="rId3"/>
    <p:sldLayoutId id="2147483679" r:id="rId4"/>
    <p:sldLayoutId id="2147483686" r:id="rId5"/>
    <p:sldLayoutId id="2147483688" r:id="rId6"/>
    <p:sldLayoutId id="2147483689" r:id="rId7"/>
    <p:sldLayoutId id="2147483690" r:id="rId8"/>
    <p:sldLayoutId id="2147483680" r:id="rId9"/>
    <p:sldLayoutId id="2147483683" r:id="rId10"/>
    <p:sldLayoutId id="2147483681" r:id="rId11"/>
    <p:sldLayoutId id="2147483674" r:id="rId12"/>
    <p:sldLayoutId id="2147483687" r:id="rId13"/>
    <p:sldLayoutId id="2147483676" r:id="rId14"/>
    <p:sldLayoutId id="2147483691" r:id="rId15"/>
    <p:sldLayoutId id="2147483675" r:id="rId16"/>
    <p:sldLayoutId id="2147483684" r:id="rId17"/>
  </p:sldLayoutIdLst>
  <p:hf hdr="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200" algn="ctr" rtl="0" eaLnBrk="1" fontAlgn="base" hangingPunct="1">
        <a:spcBef>
          <a:spcPct val="0"/>
        </a:spcBef>
        <a:spcAft>
          <a:spcPct val="0"/>
        </a:spcAft>
        <a:defRPr sz="4400">
          <a:solidFill>
            <a:schemeClr val="tx2"/>
          </a:solidFill>
          <a:latin typeface="Times New Roman" pitchFamily="18" charset="0"/>
        </a:defRPr>
      </a:lvl6pPr>
      <a:lvl7pPr marL="914400" algn="ctr" rtl="0" eaLnBrk="1" fontAlgn="base" hangingPunct="1">
        <a:spcBef>
          <a:spcPct val="0"/>
        </a:spcBef>
        <a:spcAft>
          <a:spcPct val="0"/>
        </a:spcAft>
        <a:defRPr sz="4400">
          <a:solidFill>
            <a:schemeClr val="tx2"/>
          </a:solidFill>
          <a:latin typeface="Times New Roman" pitchFamily="18" charset="0"/>
        </a:defRPr>
      </a:lvl7pPr>
      <a:lvl8pPr marL="1371600" algn="ctr" rtl="0" eaLnBrk="1" fontAlgn="base" hangingPunct="1">
        <a:spcBef>
          <a:spcPct val="0"/>
        </a:spcBef>
        <a:spcAft>
          <a:spcPct val="0"/>
        </a:spcAft>
        <a:defRPr sz="4400">
          <a:solidFill>
            <a:schemeClr val="tx2"/>
          </a:solidFill>
          <a:latin typeface="Times New Roman" pitchFamily="18" charset="0"/>
        </a:defRPr>
      </a:lvl8pPr>
      <a:lvl9pPr marL="1828800" algn="ctr" rtl="0" eaLnBrk="1" fontAlgn="base" hangingPunct="1">
        <a:spcBef>
          <a:spcPct val="0"/>
        </a:spcBef>
        <a:spcAft>
          <a:spcPct val="0"/>
        </a:spcAft>
        <a:defRPr sz="4400">
          <a:solidFill>
            <a:schemeClr val="tx2"/>
          </a:solidFill>
          <a:latin typeface="Times New Roman" pitchFamily="18"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000">
          <a:solidFill>
            <a:schemeClr val="tx1"/>
          </a:solidFill>
          <a:latin typeface="+mn-lt"/>
        </a:defRPr>
      </a:lvl4pPr>
      <a:lvl5pPr marL="2057400" indent="-228600" algn="l" rtl="0" eaLnBrk="1" fontAlgn="base" hangingPunct="1">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6.xml"/></Relationships>
</file>

<file path=ppt/slides/_rels/slide6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6.xml"/></Relationships>
</file>

<file path=ppt/slides/_rels/slide6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6.xml"/></Relationships>
</file>

<file path=ppt/slides/_rels/slide6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6.xml"/></Relationships>
</file>

<file path=ppt/slides/_rels/slide7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Chapter 6</a:t>
            </a:r>
          </a:p>
        </p:txBody>
      </p:sp>
      <p:sp>
        <p:nvSpPr>
          <p:cNvPr id="6" name="Text Placeholder 5"/>
          <p:cNvSpPr>
            <a:spLocks noGrp="1"/>
          </p:cNvSpPr>
          <p:nvPr>
            <p:ph type="body" sz="quarter" idx="13"/>
          </p:nvPr>
        </p:nvSpPr>
        <p:spPr>
          <a:xfrm>
            <a:off x="1066800" y="2209800"/>
            <a:ext cx="7086600" cy="2971800"/>
          </a:xfrm>
        </p:spPr>
        <p:txBody>
          <a:bodyPr/>
          <a:lstStyle/>
          <a:p>
            <a:pPr marL="0" marR="0" algn="ctr">
              <a:spcBef>
                <a:spcPts val="2400"/>
              </a:spcBef>
              <a:spcAft>
                <a:spcPts val="600"/>
              </a:spcAft>
              <a:tabLst>
                <a:tab pos="1371600" algn="l"/>
              </a:tabLst>
            </a:pPr>
            <a:r>
              <a:rPr lang="en-US" sz="48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How to clean the data</a:t>
            </a:r>
            <a:endParaRPr lang="en-US" sz="4800" b="1" dirty="0">
              <a:solidFill>
                <a:srgbClr val="000000"/>
              </a:solidFill>
              <a:effectLst/>
              <a:latin typeface="Montserrat Medium"/>
              <a:ea typeface="Times New Roman" panose="02020603050405020304" pitchFamily="18" charset="0"/>
              <a:cs typeface="Times New Roman" panose="02020603050405020304" pitchFamily="18" charset="0"/>
            </a:endParaRPr>
          </a:p>
          <a:p>
            <a:endParaRPr lang="en-US" dirty="0"/>
          </a:p>
        </p:txBody>
      </p:sp>
      <p:sp>
        <p:nvSpPr>
          <p:cNvPr id="2" name="Date Placeholder 1"/>
          <p:cNvSpPr>
            <a:spLocks noGrp="1"/>
          </p:cNvSpPr>
          <p:nvPr>
            <p:ph type="dt" sz="half" idx="10"/>
          </p:nvPr>
        </p:nvSpPr>
        <p:spPr>
          <a:xfrm>
            <a:off x="2743200" y="6248400"/>
            <a:ext cx="4038600" cy="457200"/>
          </a:xfrm>
        </p:spPr>
        <p:txBody>
          <a:bodyPr/>
          <a:lstStyle/>
          <a:p>
            <a:pPr>
              <a:defRPr/>
            </a:pPr>
            <a:r>
              <a:rPr lang="en-US" dirty="0" err="1"/>
              <a:t>Murach's</a:t>
            </a:r>
            <a:r>
              <a:rPr lang="en-US" dirty="0"/>
              <a:t> Python for Data Science (2</a:t>
            </a:r>
            <a:r>
              <a:rPr lang="en-US" baseline="30000" dirty="0"/>
              <a:t>nd</a:t>
            </a:r>
            <a:r>
              <a:rPr lang="en-US" dirty="0"/>
              <a:t> Ed)</a:t>
            </a:r>
          </a:p>
        </p:txBody>
      </p:sp>
      <p:sp>
        <p:nvSpPr>
          <p:cNvPr id="3" name="Footer Placeholder 2"/>
          <p:cNvSpPr>
            <a:spLocks noGrp="1"/>
          </p:cNvSpPr>
          <p:nvPr>
            <p:ph type="ftr" sz="quarter" idx="11"/>
          </p:nvPr>
        </p:nvSpPr>
        <p:spPr/>
        <p:txBody>
          <a:bodyPr/>
          <a:lstStyle/>
          <a:p>
            <a:pPr>
              <a:defRPr/>
            </a:pPr>
            <a:r>
              <a:rPr lang="en-US" dirty="0"/>
              <a:t>© 2024, Mike Murach &amp; Associates, Inc.</a:t>
            </a:r>
          </a:p>
        </p:txBody>
      </p:sp>
      <p:sp>
        <p:nvSpPr>
          <p:cNvPr id="7" name="Slide Number Placeholder 6">
            <a:extLst>
              <a:ext uri="{FF2B5EF4-FFF2-40B4-BE49-F238E27FC236}">
                <a16:creationId xmlns:a16="http://schemas.microsoft.com/office/drawing/2014/main" id="{D8FC50B9-DF0E-4649-98E3-BC0A95CC2635}"/>
              </a:ext>
            </a:extLst>
          </p:cNvPr>
          <p:cNvSpPr>
            <a:spLocks noGrp="1"/>
          </p:cNvSpPr>
          <p:nvPr>
            <p:ph type="sldNum" sz="quarter" idx="12"/>
          </p:nvPr>
        </p:nvSpPr>
        <p:spPr/>
        <p:txBody>
          <a:bodyPr/>
          <a:lstStyle/>
          <a:p>
            <a:pPr algn="l">
              <a:defRPr/>
            </a:pPr>
            <a:endParaRPr lang="en-US" sz="1400" dirty="0">
              <a:latin typeface="Times New Roman"/>
            </a:endParaRPr>
          </a:p>
          <a:p>
            <a:pPr>
              <a:defRPr/>
            </a:pPr>
            <a:r>
              <a:rPr lang="en-US" dirty="0">
                <a:solidFill>
                  <a:schemeClr val="bg1"/>
                </a:solidFill>
              </a:rPr>
              <a:t>C6, Slide </a:t>
            </a:r>
            <a:fld id="{BF5C1183-B085-4070-A402-C03A3F977D3D}" type="slidenum">
              <a:rPr lang="en-US" smtClean="0">
                <a:solidFill>
                  <a:schemeClr val="bg1"/>
                </a:solidFill>
              </a:rPr>
              <a:pPr>
                <a:defRPr/>
              </a:pPr>
              <a:t>1</a:t>
            </a:fld>
            <a:endParaRPr lang="en-US" dirty="0">
              <a:solidFill>
                <a:schemeClr val="bg1"/>
              </a:solidFill>
            </a:endParaRPr>
          </a:p>
        </p:txBody>
      </p:sp>
    </p:spTree>
    <p:extLst>
      <p:ext uri="{BB962C8B-B14F-4D97-AF65-F5344CB8AC3E}">
        <p14:creationId xmlns:p14="http://schemas.microsoft.com/office/powerpoint/2010/main" val="68226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338EE-2B03-43AD-A32E-CBCA466F3090}"/>
              </a:ext>
            </a:extLst>
          </p:cNvPr>
          <p:cNvSpPr>
            <a:spLocks noGrp="1"/>
          </p:cNvSpPr>
          <p:nvPr>
            <p:ph type="title"/>
          </p:nvPr>
        </p:nvSpPr>
        <p:spPr/>
        <p:txBody>
          <a:bodyPr/>
          <a:lstStyle/>
          <a:p>
            <a:r>
              <a:rPr lang="en-US" dirty="0"/>
              <a:t>Objectives</a:t>
            </a:r>
          </a:p>
        </p:txBody>
      </p:sp>
      <p:sp>
        <p:nvSpPr>
          <p:cNvPr id="3" name="Text Placeholder 2">
            <a:extLst>
              <a:ext uri="{FF2B5EF4-FFF2-40B4-BE49-F238E27FC236}">
                <a16:creationId xmlns:a16="http://schemas.microsoft.com/office/drawing/2014/main" id="{4130202D-4017-480F-A3D4-F511DEAF1762}"/>
              </a:ext>
            </a:extLst>
          </p:cNvPr>
          <p:cNvSpPr>
            <a:spLocks noGrp="1"/>
          </p:cNvSpPr>
          <p:nvPr>
            <p:ph type="body" sz="quarter" idx="13"/>
          </p:nvPr>
        </p:nvSpPr>
        <p:spPr/>
        <p:txBody>
          <a:bodyPr/>
          <a:lstStyle/>
          <a:p>
            <a:pPr marL="0" marR="0">
              <a:spcBef>
                <a:spcPts val="1500"/>
              </a:spcBef>
              <a:spcAft>
                <a:spcPts val="600"/>
              </a:spcAft>
              <a:tabLst>
                <a:tab pos="1371600" algn="l"/>
              </a:tabLst>
            </a:pPr>
            <a:r>
              <a:rPr lang="en-US" sz="2000" b="1" dirty="0">
                <a:effectLst/>
                <a:latin typeface="Arial" panose="020B0604020202020204" pitchFamily="34" charset="0"/>
                <a:ea typeface="Times New Roman" panose="02020603050405020304" pitchFamily="18" charset="0"/>
                <a:cs typeface="Times New Roman" panose="02020603050405020304" pitchFamily="18" charset="0"/>
              </a:rPr>
              <a:t>Applied</a:t>
            </a:r>
            <a:endParaRPr lang="en-US" sz="2000" b="1" dirty="0">
              <a:effectLst/>
              <a:latin typeface="Montserrat Medium"/>
              <a:ea typeface="Times New Roman" panose="02020603050405020304" pitchFamily="18" charset="0"/>
              <a:cs typeface="Times New Roman" panose="02020603050405020304" pitchFamily="18" charset="0"/>
            </a:endParaRPr>
          </a:p>
          <a:p>
            <a:pPr marL="342900" marR="228600" lvl="0" indent="-342900">
              <a:spcBef>
                <a:spcPts val="0"/>
              </a:spcBef>
              <a:spcAft>
                <a:spcPts val="600"/>
              </a:spcAft>
              <a:buFont typeface="+mj-lt"/>
              <a:buAutoNum type="arabicPeriod"/>
            </a:pPr>
            <a:r>
              <a:rPr lang="en-US" sz="2000" dirty="0">
                <a:effectLst/>
                <a:latin typeface="Times New Roman" panose="02020603050405020304" pitchFamily="18" charset="0"/>
                <a:ea typeface="Times New Roman" panose="02020603050405020304" pitchFamily="18" charset="0"/>
              </a:rPr>
              <a:t>Identify the data problems in a </a:t>
            </a:r>
            <a:r>
              <a:rPr lang="en-US" sz="2000" dirty="0" err="1">
                <a:effectLst/>
                <a:latin typeface="Times New Roman" panose="02020603050405020304" pitchFamily="18" charset="0"/>
                <a:ea typeface="Times New Roman" panose="02020603050405020304" pitchFamily="18" charset="0"/>
              </a:rPr>
              <a:t>DataFrame</a:t>
            </a:r>
            <a:r>
              <a:rPr lang="en-US" sz="2000" dirty="0">
                <a:effectLst/>
                <a:latin typeface="Times New Roman" panose="02020603050405020304" pitchFamily="18" charset="0"/>
                <a:ea typeface="Times New Roman" panose="02020603050405020304" pitchFamily="18" charset="0"/>
              </a:rPr>
              <a:t> by using the info(), unique(), </a:t>
            </a:r>
            <a:r>
              <a:rPr lang="en-US" sz="2000" dirty="0" err="1">
                <a:effectLst/>
                <a:latin typeface="Times New Roman" panose="02020603050405020304" pitchFamily="18" charset="0"/>
                <a:ea typeface="Times New Roman" panose="02020603050405020304" pitchFamily="18" charset="0"/>
              </a:rPr>
              <a:t>nunique</a:t>
            </a:r>
            <a:r>
              <a:rPr lang="en-US" sz="2000" dirty="0">
                <a:effectLst/>
                <a:latin typeface="Times New Roman" panose="02020603050405020304" pitchFamily="18" charset="0"/>
                <a:ea typeface="Times New Roman" panose="02020603050405020304" pitchFamily="18" charset="0"/>
              </a:rPr>
              <a:t>(), and </a:t>
            </a:r>
            <a:r>
              <a:rPr lang="en-US" sz="2000" dirty="0" err="1">
                <a:effectLst/>
                <a:latin typeface="Times New Roman" panose="02020603050405020304" pitchFamily="18" charset="0"/>
                <a:ea typeface="Times New Roman" panose="02020603050405020304" pitchFamily="18" charset="0"/>
              </a:rPr>
              <a:t>value_counts</a:t>
            </a:r>
            <a:r>
              <a:rPr lang="en-US" sz="2000" dirty="0">
                <a:effectLst/>
                <a:latin typeface="Times New Roman" panose="02020603050405020304" pitchFamily="18" charset="0"/>
                <a:ea typeface="Times New Roman" panose="02020603050405020304" pitchFamily="18" charset="0"/>
              </a:rPr>
              <a:t>() methods.</a:t>
            </a:r>
            <a:endParaRPr lang="en-US" sz="1100" dirty="0">
              <a:effectLst/>
              <a:latin typeface="Times New Roman" panose="02020603050405020304" pitchFamily="18" charset="0"/>
              <a:ea typeface="Times New Roman" panose="02020603050405020304" pitchFamily="18" charset="0"/>
            </a:endParaRPr>
          </a:p>
          <a:p>
            <a:pPr marL="342900" marR="228600" lvl="0" indent="-342900">
              <a:spcBef>
                <a:spcPts val="0"/>
              </a:spcBef>
              <a:spcAft>
                <a:spcPts val="600"/>
              </a:spcAft>
              <a:buFont typeface="+mj-lt"/>
              <a:buAutoNum type="arabicPeriod"/>
            </a:pPr>
            <a:r>
              <a:rPr lang="en-US" sz="2000" dirty="0">
                <a:effectLst/>
                <a:latin typeface="Times New Roman" panose="02020603050405020304" pitchFamily="18" charset="0"/>
                <a:ea typeface="Times New Roman" panose="02020603050405020304" pitchFamily="18" charset="0"/>
              </a:rPr>
              <a:t>Remove duplicate rows from a </a:t>
            </a:r>
            <a:r>
              <a:rPr lang="en-US" sz="2000" dirty="0" err="1">
                <a:effectLst/>
                <a:latin typeface="Times New Roman" panose="02020603050405020304" pitchFamily="18" charset="0"/>
                <a:ea typeface="Times New Roman" panose="02020603050405020304" pitchFamily="18" charset="0"/>
              </a:rPr>
              <a:t>DataFrame</a:t>
            </a:r>
            <a:r>
              <a:rPr lang="en-US" sz="2000" dirty="0">
                <a:effectLst/>
                <a:latin typeface="Times New Roman" panose="02020603050405020304" pitchFamily="18" charset="0"/>
                <a:ea typeface="Times New Roman" panose="02020603050405020304" pitchFamily="18" charset="0"/>
              </a:rPr>
              <a:t>.</a:t>
            </a:r>
            <a:endParaRPr lang="en-US" sz="1100" dirty="0">
              <a:effectLst/>
              <a:latin typeface="Times New Roman" panose="02020603050405020304" pitchFamily="18" charset="0"/>
              <a:ea typeface="Times New Roman" panose="02020603050405020304" pitchFamily="18" charset="0"/>
            </a:endParaRPr>
          </a:p>
          <a:p>
            <a:pPr marL="342900" marR="228600" lvl="0" indent="-342900">
              <a:spcBef>
                <a:spcPts val="0"/>
              </a:spcBef>
              <a:spcAft>
                <a:spcPts val="600"/>
              </a:spcAft>
              <a:buFont typeface="+mj-lt"/>
              <a:buAutoNum type="arabicPeriod"/>
            </a:pPr>
            <a:r>
              <a:rPr lang="en-US" sz="2000" dirty="0">
                <a:effectLst/>
                <a:latin typeface="Times New Roman" panose="02020603050405020304" pitchFamily="18" charset="0"/>
                <a:ea typeface="Times New Roman" panose="02020603050405020304" pitchFamily="18" charset="0"/>
              </a:rPr>
              <a:t>Drop unnecessary rows and columns in a </a:t>
            </a:r>
            <a:r>
              <a:rPr lang="en-US" sz="2000" dirty="0" err="1">
                <a:effectLst/>
                <a:latin typeface="Times New Roman" panose="02020603050405020304" pitchFamily="18" charset="0"/>
                <a:ea typeface="Times New Roman" panose="02020603050405020304" pitchFamily="18" charset="0"/>
              </a:rPr>
              <a:t>DataFrame</a:t>
            </a:r>
            <a:r>
              <a:rPr lang="en-US" sz="2000" dirty="0">
                <a:effectLst/>
                <a:latin typeface="Times New Roman" panose="02020603050405020304" pitchFamily="18" charset="0"/>
                <a:ea typeface="Times New Roman" panose="02020603050405020304" pitchFamily="18" charset="0"/>
              </a:rPr>
              <a:t>.</a:t>
            </a:r>
            <a:endParaRPr lang="en-US" sz="1100" dirty="0">
              <a:effectLst/>
              <a:latin typeface="Times New Roman" panose="02020603050405020304" pitchFamily="18" charset="0"/>
              <a:ea typeface="Times New Roman" panose="02020603050405020304" pitchFamily="18" charset="0"/>
            </a:endParaRPr>
          </a:p>
          <a:p>
            <a:pPr marL="342900" marR="228600" lvl="0" indent="-342900">
              <a:spcBef>
                <a:spcPts val="0"/>
              </a:spcBef>
              <a:spcAft>
                <a:spcPts val="600"/>
              </a:spcAft>
              <a:buFont typeface="+mj-lt"/>
              <a:buAutoNum type="arabicPeriod"/>
            </a:pPr>
            <a:r>
              <a:rPr lang="en-US" sz="2000" dirty="0">
                <a:effectLst/>
                <a:latin typeface="Times New Roman" panose="02020603050405020304" pitchFamily="18" charset="0"/>
                <a:ea typeface="Times New Roman" panose="02020603050405020304" pitchFamily="18" charset="0"/>
              </a:rPr>
              <a:t>Rename columns so the names are easier to understand.</a:t>
            </a:r>
            <a:endParaRPr lang="en-US" sz="1100" dirty="0">
              <a:effectLst/>
              <a:latin typeface="Times New Roman" panose="02020603050405020304" pitchFamily="18" charset="0"/>
              <a:ea typeface="Times New Roman" panose="02020603050405020304" pitchFamily="18" charset="0"/>
            </a:endParaRPr>
          </a:p>
          <a:p>
            <a:pPr marL="342900" marR="228600" lvl="0" indent="-342900">
              <a:spcBef>
                <a:spcPts val="0"/>
              </a:spcBef>
              <a:spcAft>
                <a:spcPts val="600"/>
              </a:spcAft>
              <a:buFont typeface="+mj-lt"/>
              <a:buAutoNum type="arabicPeriod"/>
            </a:pPr>
            <a:r>
              <a:rPr lang="en-US" sz="2000" dirty="0">
                <a:effectLst/>
                <a:latin typeface="Times New Roman" panose="02020603050405020304" pitchFamily="18" charset="0"/>
                <a:ea typeface="Times New Roman" panose="02020603050405020304" pitchFamily="18" charset="0"/>
              </a:rPr>
              <a:t>Find and fix the missing values in a </a:t>
            </a:r>
            <a:r>
              <a:rPr lang="en-US" sz="2000" dirty="0" err="1">
                <a:effectLst/>
                <a:latin typeface="Times New Roman" panose="02020603050405020304" pitchFamily="18" charset="0"/>
                <a:ea typeface="Times New Roman" panose="02020603050405020304" pitchFamily="18" charset="0"/>
              </a:rPr>
              <a:t>DataFrame</a:t>
            </a:r>
            <a:r>
              <a:rPr lang="en-US" sz="2000" dirty="0">
                <a:effectLst/>
                <a:latin typeface="Times New Roman" panose="02020603050405020304" pitchFamily="18" charset="0"/>
                <a:ea typeface="Times New Roman" panose="02020603050405020304" pitchFamily="18" charset="0"/>
              </a:rPr>
              <a:t>.</a:t>
            </a:r>
            <a:endParaRPr lang="en-US" sz="1100" dirty="0">
              <a:effectLst/>
              <a:latin typeface="Times New Roman" panose="02020603050405020304" pitchFamily="18" charset="0"/>
              <a:ea typeface="Times New Roman" panose="02020603050405020304" pitchFamily="18" charset="0"/>
            </a:endParaRPr>
          </a:p>
          <a:p>
            <a:pPr marL="342900" marR="228600" lvl="0" indent="-342900">
              <a:spcBef>
                <a:spcPts val="0"/>
              </a:spcBef>
              <a:spcAft>
                <a:spcPts val="600"/>
              </a:spcAft>
              <a:buFont typeface="+mj-lt"/>
              <a:buAutoNum type="arabicPeriod"/>
            </a:pPr>
            <a:r>
              <a:rPr lang="en-US" sz="2000" dirty="0">
                <a:effectLst/>
                <a:latin typeface="Times New Roman" panose="02020603050405020304" pitchFamily="18" charset="0"/>
                <a:ea typeface="Times New Roman" panose="02020603050405020304" pitchFamily="18" charset="0"/>
              </a:rPr>
              <a:t>Find and fix datetime and numeric columns that are imported as object data types.</a:t>
            </a:r>
            <a:endParaRPr lang="en-US" sz="1100" dirty="0">
              <a:effectLst/>
              <a:latin typeface="Times New Roman" panose="02020603050405020304" pitchFamily="18" charset="0"/>
              <a:ea typeface="Times New Roman" panose="02020603050405020304" pitchFamily="18" charset="0"/>
            </a:endParaRPr>
          </a:p>
          <a:p>
            <a:pPr marL="342900" marR="228600" lvl="0" indent="-342900">
              <a:spcBef>
                <a:spcPts val="0"/>
              </a:spcBef>
              <a:spcAft>
                <a:spcPts val="600"/>
              </a:spcAft>
              <a:buFont typeface="+mj-lt"/>
              <a:buAutoNum type="arabicPeriod"/>
            </a:pPr>
            <a:r>
              <a:rPr lang="en-US" sz="2000" dirty="0">
                <a:effectLst/>
                <a:latin typeface="Times New Roman" panose="02020603050405020304" pitchFamily="18" charset="0"/>
                <a:ea typeface="Times New Roman" panose="02020603050405020304" pitchFamily="18" charset="0"/>
              </a:rPr>
              <a:t>Replace the invalid values in a column and convert the column to the right data type.</a:t>
            </a:r>
            <a:endParaRPr lang="en-US" sz="1100" dirty="0">
              <a:effectLst/>
              <a:latin typeface="Times New Roman" panose="02020603050405020304" pitchFamily="18" charset="0"/>
              <a:ea typeface="Times New Roman" panose="02020603050405020304" pitchFamily="18" charset="0"/>
            </a:endParaRPr>
          </a:p>
          <a:p>
            <a:pPr marL="342900" marR="228600" lvl="0" indent="-342900">
              <a:spcBef>
                <a:spcPts val="0"/>
              </a:spcBef>
              <a:spcAft>
                <a:spcPts val="600"/>
              </a:spcAft>
              <a:buFont typeface="+mj-lt"/>
              <a:buAutoNum type="arabicPeriod"/>
            </a:pPr>
            <a:r>
              <a:rPr lang="en-US" sz="2000" dirty="0">
                <a:effectLst/>
                <a:latin typeface="Times New Roman" panose="02020603050405020304" pitchFamily="18" charset="0"/>
                <a:ea typeface="Times New Roman" panose="02020603050405020304" pitchFamily="18" charset="0"/>
              </a:rPr>
              <a:t>Find and fix outliers.</a:t>
            </a:r>
            <a:endParaRPr lang="en-US" sz="1100" dirty="0">
              <a:effectLst/>
              <a:latin typeface="Times New Roman" panose="02020603050405020304" pitchFamily="18" charset="0"/>
              <a:ea typeface="Times New Roman" panose="02020603050405020304" pitchFamily="18" charset="0"/>
            </a:endParaRPr>
          </a:p>
          <a:p>
            <a:endParaRPr lang="en-US" dirty="0"/>
          </a:p>
        </p:txBody>
      </p:sp>
      <p:sp>
        <p:nvSpPr>
          <p:cNvPr id="4" name="Date Placeholder 3">
            <a:extLst>
              <a:ext uri="{FF2B5EF4-FFF2-40B4-BE49-F238E27FC236}">
                <a16:creationId xmlns:a16="http://schemas.microsoft.com/office/drawing/2014/main" id="{5B0EE5D2-AF37-45DD-95D3-722BA028C27E}"/>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DAE42832-913D-4A43-9E73-3C3939954AA2}"/>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FA11DFC0-7EE6-4DA6-86D0-03C3539283A1}"/>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2</a:t>
            </a:fld>
            <a:endParaRPr lang="en-US" dirty="0">
              <a:solidFill>
                <a:schemeClr val="bg1"/>
              </a:solidFill>
            </a:endParaRPr>
          </a:p>
        </p:txBody>
      </p:sp>
    </p:spTree>
    <p:extLst>
      <p:ext uri="{BB962C8B-B14F-4D97-AF65-F5344CB8AC3E}">
        <p14:creationId xmlns:p14="http://schemas.microsoft.com/office/powerpoint/2010/main" val="72304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93909-EF31-4924-9A9B-5F9177B1B85E}"/>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Objectives (continued)</a:t>
            </a:r>
            <a:endParaRPr lang="en-US" dirty="0"/>
          </a:p>
        </p:txBody>
      </p:sp>
      <p:sp>
        <p:nvSpPr>
          <p:cNvPr id="3" name="Text Placeholder 2">
            <a:extLst>
              <a:ext uri="{FF2B5EF4-FFF2-40B4-BE49-F238E27FC236}">
                <a16:creationId xmlns:a16="http://schemas.microsoft.com/office/drawing/2014/main" id="{196804F9-0900-41F2-9E84-74FE4B33E8BA}"/>
              </a:ext>
            </a:extLst>
          </p:cNvPr>
          <p:cNvSpPr>
            <a:spLocks noGrp="1"/>
          </p:cNvSpPr>
          <p:nvPr>
            <p:ph type="body" sz="quarter" idx="13"/>
          </p:nvPr>
        </p:nvSpPr>
        <p:spPr/>
        <p:txBody>
          <a:bodyPr/>
          <a:lstStyle/>
          <a:p>
            <a:pPr marL="0" marR="0">
              <a:spcBef>
                <a:spcPts val="1500"/>
              </a:spcBef>
              <a:spcAft>
                <a:spcPts val="600"/>
              </a:spcAft>
              <a:tabLst>
                <a:tab pos="1371600" algn="l"/>
              </a:tabLst>
            </a:pPr>
            <a:r>
              <a:rPr lang="en-US" sz="2000" b="1" dirty="0">
                <a:effectLst/>
                <a:latin typeface="Arial" panose="020B0604020202020204" pitchFamily="34" charset="0"/>
                <a:ea typeface="Times New Roman" panose="02020603050405020304" pitchFamily="18" charset="0"/>
                <a:cs typeface="Times New Roman" panose="02020603050405020304" pitchFamily="18" charset="0"/>
              </a:rPr>
              <a:t>Knowledge</a:t>
            </a:r>
            <a:endParaRPr lang="en-US" sz="2000" b="1" dirty="0">
              <a:effectLst/>
              <a:latin typeface="Montserrat Medium"/>
              <a:ea typeface="Times New Roman" panose="02020603050405020304" pitchFamily="18" charset="0"/>
              <a:cs typeface="Times New Roman" panose="02020603050405020304" pitchFamily="18" charset="0"/>
            </a:endParaRPr>
          </a:p>
          <a:p>
            <a:pPr marL="342900" marR="228600" lvl="0" indent="-342900">
              <a:spcBef>
                <a:spcPts val="0"/>
              </a:spcBef>
              <a:spcAft>
                <a:spcPts val="600"/>
              </a:spcAft>
              <a:buFont typeface="+mj-lt"/>
              <a:buAutoNum type="arabicPeriod"/>
            </a:pPr>
            <a:r>
              <a:rPr lang="en-US" sz="2000" dirty="0">
                <a:effectLst/>
                <a:latin typeface="Times New Roman" panose="02020603050405020304" pitchFamily="18" charset="0"/>
                <a:ea typeface="Times New Roman" panose="02020603050405020304" pitchFamily="18" charset="0"/>
              </a:rPr>
              <a:t>Describe the ways that you can simplify the data in a </a:t>
            </a:r>
            <a:r>
              <a:rPr lang="en-US" sz="2000" dirty="0" err="1">
                <a:effectLst/>
                <a:latin typeface="Times New Roman" panose="02020603050405020304" pitchFamily="18" charset="0"/>
                <a:ea typeface="Times New Roman" panose="02020603050405020304" pitchFamily="18" charset="0"/>
              </a:rPr>
              <a:t>DataFrame</a:t>
            </a:r>
            <a:r>
              <a:rPr lang="en-US" sz="2000" dirty="0">
                <a:effectLst/>
                <a:latin typeface="Times New Roman" panose="02020603050405020304" pitchFamily="18" charset="0"/>
                <a:ea typeface="Times New Roman" panose="02020603050405020304" pitchFamily="18" charset="0"/>
              </a:rPr>
              <a:t>.</a:t>
            </a:r>
            <a:endParaRPr lang="en-US" sz="1100" dirty="0">
              <a:effectLst/>
              <a:latin typeface="Times New Roman" panose="02020603050405020304" pitchFamily="18" charset="0"/>
              <a:ea typeface="Times New Roman" panose="02020603050405020304" pitchFamily="18" charset="0"/>
            </a:endParaRPr>
          </a:p>
          <a:p>
            <a:pPr marL="342900" marR="228600" lvl="0" indent="-342900">
              <a:spcBef>
                <a:spcPts val="0"/>
              </a:spcBef>
              <a:spcAft>
                <a:spcPts val="600"/>
              </a:spcAft>
              <a:buFont typeface="+mj-lt"/>
              <a:buAutoNum type="arabicPeriod"/>
            </a:pPr>
            <a:r>
              <a:rPr lang="en-US" sz="2000" dirty="0">
                <a:effectLst/>
                <a:latin typeface="Times New Roman" panose="02020603050405020304" pitchFamily="18" charset="0"/>
                <a:ea typeface="Times New Roman" panose="02020603050405020304" pitchFamily="18" charset="0"/>
              </a:rPr>
              <a:t>Describe the ways that you can handle missing values.</a:t>
            </a:r>
            <a:endParaRPr lang="en-US" sz="1100" dirty="0">
              <a:effectLst/>
              <a:latin typeface="Times New Roman" panose="02020603050405020304" pitchFamily="18" charset="0"/>
              <a:ea typeface="Times New Roman" panose="02020603050405020304" pitchFamily="18" charset="0"/>
            </a:endParaRPr>
          </a:p>
          <a:p>
            <a:pPr marL="342900" marR="228600" lvl="0" indent="-342900">
              <a:spcBef>
                <a:spcPts val="0"/>
              </a:spcBef>
              <a:spcAft>
                <a:spcPts val="600"/>
              </a:spcAft>
              <a:buFont typeface="+mj-lt"/>
              <a:buAutoNum type="arabicPeriod"/>
            </a:pPr>
            <a:r>
              <a:rPr lang="en-US" sz="2000" dirty="0">
                <a:effectLst/>
                <a:latin typeface="Times New Roman" panose="02020603050405020304" pitchFamily="18" charset="0"/>
                <a:ea typeface="Times New Roman" panose="02020603050405020304" pitchFamily="18" charset="0"/>
              </a:rPr>
              <a:t>Describe two common data type problems and how best to fix them.</a:t>
            </a:r>
            <a:endParaRPr lang="en-US" sz="1100" dirty="0">
              <a:effectLst/>
              <a:latin typeface="Times New Roman" panose="02020603050405020304" pitchFamily="18" charset="0"/>
              <a:ea typeface="Times New Roman" panose="02020603050405020304" pitchFamily="18" charset="0"/>
            </a:endParaRPr>
          </a:p>
          <a:p>
            <a:pPr marL="342900" marR="228600" lvl="0" indent="-342900">
              <a:spcBef>
                <a:spcPts val="0"/>
              </a:spcBef>
              <a:spcAft>
                <a:spcPts val="600"/>
              </a:spcAft>
              <a:buFont typeface="+mj-lt"/>
              <a:buAutoNum type="arabicPeriod"/>
            </a:pPr>
            <a:r>
              <a:rPr lang="en-US" sz="2000" dirty="0">
                <a:effectLst/>
                <a:latin typeface="Times New Roman" panose="02020603050405020304" pitchFamily="18" charset="0"/>
                <a:ea typeface="Times New Roman" panose="02020603050405020304" pitchFamily="18" charset="0"/>
              </a:rPr>
              <a:t>Describe the ways to handle outliers.</a:t>
            </a:r>
            <a:endParaRPr lang="en-US" sz="1100" dirty="0">
              <a:effectLst/>
              <a:latin typeface="Times New Roman" panose="02020603050405020304" pitchFamily="18" charset="0"/>
              <a:ea typeface="Times New Roman" panose="02020603050405020304" pitchFamily="18" charset="0"/>
            </a:endParaRPr>
          </a:p>
          <a:p>
            <a:pPr marL="342900" marR="228600" lvl="0" indent="-342900">
              <a:spcBef>
                <a:spcPts val="0"/>
              </a:spcBef>
              <a:spcAft>
                <a:spcPts val="600"/>
              </a:spcAft>
              <a:buFont typeface="+mj-lt"/>
              <a:buAutoNum type="arabicPeriod"/>
            </a:pPr>
            <a:r>
              <a:rPr lang="en-US" sz="2000">
                <a:effectLst/>
                <a:latin typeface="Times New Roman" panose="02020603050405020304" pitchFamily="18" charset="0"/>
                <a:ea typeface="Times New Roman" panose="02020603050405020304" pitchFamily="18" charset="0"/>
              </a:rPr>
              <a:t>Describe the category data type.</a:t>
            </a:r>
            <a:endParaRPr lang="en-US" sz="1100">
              <a:effectLst/>
              <a:latin typeface="Times New Roman" panose="02020603050405020304" pitchFamily="18" charset="0"/>
              <a:ea typeface="Times New Roman" panose="02020603050405020304" pitchFamily="18" charset="0"/>
            </a:endParaRPr>
          </a:p>
          <a:p>
            <a:endParaRPr lang="en-US"/>
          </a:p>
        </p:txBody>
      </p:sp>
      <p:sp>
        <p:nvSpPr>
          <p:cNvPr id="4" name="Date Placeholder 3">
            <a:extLst>
              <a:ext uri="{FF2B5EF4-FFF2-40B4-BE49-F238E27FC236}">
                <a16:creationId xmlns:a16="http://schemas.microsoft.com/office/drawing/2014/main" id="{F86E6D3E-FA8C-400C-AA2A-1906B89CD336}"/>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8ACB1CF2-E581-4879-AC28-210E31A2BDC1}"/>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E6281CD5-17BC-49E8-8821-75CEF02121FB}"/>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3</a:t>
            </a:fld>
            <a:endParaRPr lang="en-US" dirty="0">
              <a:solidFill>
                <a:schemeClr val="bg1"/>
              </a:solidFill>
            </a:endParaRPr>
          </a:p>
        </p:txBody>
      </p:sp>
    </p:spTree>
    <p:extLst>
      <p:ext uri="{BB962C8B-B14F-4D97-AF65-F5344CB8AC3E}">
        <p14:creationId xmlns:p14="http://schemas.microsoft.com/office/powerpoint/2010/main" val="1315817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663AA-342E-46C5-8666-1C5E70EDC369}"/>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general plan for cleaning a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DataFrame</a:t>
            </a:r>
            <a:endParaRPr lang="en-US" dirty="0"/>
          </a:p>
        </p:txBody>
      </p:sp>
      <p:sp>
        <p:nvSpPr>
          <p:cNvPr id="3" name="Text Placeholder 2">
            <a:extLst>
              <a:ext uri="{FF2B5EF4-FFF2-40B4-BE49-F238E27FC236}">
                <a16:creationId xmlns:a16="http://schemas.microsoft.com/office/drawing/2014/main" id="{98E681A1-3450-4EC0-8D19-EE05FF68F12A}"/>
              </a:ext>
            </a:extLst>
          </p:cNvPr>
          <p:cNvSpPr>
            <a:spLocks noGrp="1"/>
          </p:cNvSpPr>
          <p:nvPr>
            <p:ph type="body" sz="quarter" idx="13"/>
          </p:nvPr>
        </p:nvSpPr>
        <p:spPr/>
        <p:txBody>
          <a:bodyPr/>
          <a:lstStyle/>
          <a:p>
            <a:pPr marL="347345" marR="0">
              <a:spcBef>
                <a:spcPts val="900"/>
              </a:spcBef>
              <a:spcAft>
                <a:spcPts val="600"/>
              </a:spcAft>
              <a:tabLst>
                <a:tab pos="1371600" algn="l"/>
                <a:tab pos="2743200" algn="l"/>
              </a:tabLst>
            </a:pPr>
            <a:r>
              <a:rPr lang="en-US" sz="20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Identify the problems</a:t>
            </a:r>
            <a:endParaRPr lang="en-US" sz="2000" b="1" spc="-10" dirty="0">
              <a:solidFill>
                <a:srgbClr val="000099"/>
              </a:solidFill>
              <a:effectLst/>
              <a:latin typeface="Montserrat Medium"/>
              <a:ea typeface="Times New Roman" panose="02020603050405020304" pitchFamily="18" charset="0"/>
              <a:cs typeface="Times New Roman" panose="02020603050405020304" pitchFamily="18" charset="0"/>
            </a:endParaRPr>
          </a:p>
          <a:p>
            <a:pPr marL="694944" marR="347345" lvl="1" indent="-342900">
              <a:spcBef>
                <a:spcPts val="0"/>
              </a:spcBef>
              <a:spcAft>
                <a:spcPts val="300"/>
              </a:spcAft>
              <a:buFont typeface="+mj-lt"/>
              <a:buAutoNum type="arabicPeriod"/>
              <a:tabLst>
                <a:tab pos="347345" algn="l"/>
                <a:tab pos="457200" algn="l"/>
              </a:tabLst>
            </a:pPr>
            <a:r>
              <a:rPr lang="en-US" sz="2000" dirty="0">
                <a:effectLst/>
                <a:latin typeface="Times New Roman" panose="02020603050405020304" pitchFamily="18" charset="0"/>
                <a:ea typeface="Times New Roman" panose="02020603050405020304" pitchFamily="18" charset="0"/>
              </a:rPr>
              <a:t>Review whatever documentation is available to help you understand the data.</a:t>
            </a:r>
          </a:p>
          <a:p>
            <a:pPr marL="694944" marR="347345" lvl="1" indent="-342900">
              <a:spcBef>
                <a:spcPts val="0"/>
              </a:spcBef>
              <a:spcAft>
                <a:spcPts val="300"/>
              </a:spcAft>
              <a:buFont typeface="+mj-lt"/>
              <a:buAutoNum type="arabicPeriod"/>
              <a:tabLst>
                <a:tab pos="347345" algn="l"/>
                <a:tab pos="457200" algn="l"/>
              </a:tabLst>
            </a:pPr>
            <a:r>
              <a:rPr lang="en-US" sz="2000" dirty="0">
                <a:effectLst/>
                <a:latin typeface="Times New Roman" panose="02020603050405020304" pitchFamily="18" charset="0"/>
                <a:ea typeface="Times New Roman" panose="02020603050405020304" pitchFamily="18" charset="0"/>
              </a:rPr>
              <a:t>Examine the data after you import it into a </a:t>
            </a:r>
            <a:r>
              <a:rPr lang="en-US" sz="2000" dirty="0" err="1">
                <a:effectLst/>
                <a:latin typeface="Times New Roman" panose="02020603050405020304" pitchFamily="18" charset="0"/>
                <a:ea typeface="Times New Roman" panose="02020603050405020304" pitchFamily="18" charset="0"/>
              </a:rPr>
              <a:t>DataFrame</a:t>
            </a:r>
            <a:r>
              <a:rPr lang="en-US" sz="2000" dirty="0">
                <a:effectLst/>
                <a:latin typeface="Times New Roman" panose="02020603050405020304" pitchFamily="18" charset="0"/>
                <a:ea typeface="Times New Roman" panose="02020603050405020304" pitchFamily="18" charset="0"/>
              </a:rPr>
              <a:t>.</a:t>
            </a:r>
          </a:p>
          <a:p>
            <a:pPr marL="694944" marR="347345" lvl="1" indent="-342900">
              <a:spcBef>
                <a:spcPts val="0"/>
              </a:spcBef>
              <a:spcAft>
                <a:spcPts val="300"/>
              </a:spcAft>
              <a:buFont typeface="+mj-lt"/>
              <a:buAutoNum type="arabicPeriod"/>
              <a:tabLst>
                <a:tab pos="347345" algn="l"/>
                <a:tab pos="457200" algn="l"/>
              </a:tabLst>
            </a:pPr>
            <a:r>
              <a:rPr lang="en-US" sz="2000" dirty="0">
                <a:effectLst/>
                <a:latin typeface="Times New Roman" panose="02020603050405020304" pitchFamily="18" charset="0"/>
                <a:ea typeface="Times New Roman" panose="02020603050405020304" pitchFamily="18" charset="0"/>
              </a:rPr>
              <a:t>Plan the cleaning that needs to be done.</a:t>
            </a:r>
          </a:p>
          <a:p>
            <a:pPr marL="347345" marR="0">
              <a:spcBef>
                <a:spcPts val="900"/>
              </a:spcBef>
              <a:spcAft>
                <a:spcPts val="600"/>
              </a:spcAft>
              <a:tabLst>
                <a:tab pos="1371600" algn="l"/>
                <a:tab pos="2743200" algn="l"/>
              </a:tabLst>
            </a:pPr>
            <a:r>
              <a:rPr lang="en-US" sz="20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Simplify the data</a:t>
            </a:r>
            <a:endParaRPr lang="en-US" sz="2000" b="1" spc="-10" dirty="0">
              <a:solidFill>
                <a:srgbClr val="000099"/>
              </a:solidFill>
              <a:effectLst/>
              <a:latin typeface="Montserrat Medium"/>
              <a:ea typeface="Times New Roman" panose="02020603050405020304" pitchFamily="18" charset="0"/>
              <a:cs typeface="Times New Roman" panose="02020603050405020304" pitchFamily="18" charset="0"/>
            </a:endParaRPr>
          </a:p>
          <a:p>
            <a:pPr marL="694944" marR="347345" lvl="1" indent="-347472">
              <a:spcBef>
                <a:spcPts val="0"/>
              </a:spcBef>
              <a:spcAft>
                <a:spcPts val="300"/>
              </a:spcAft>
              <a:buFont typeface="+mj-lt"/>
              <a:buAutoNum type="arabicPeriod" startAt="4"/>
              <a:tabLst>
                <a:tab pos="347345" algn="l"/>
                <a:tab pos="457200" algn="l"/>
              </a:tabLst>
            </a:pPr>
            <a:r>
              <a:rPr lang="en-US" sz="2000" dirty="0">
                <a:effectLst/>
                <a:latin typeface="Times New Roman" panose="02020603050405020304" pitchFamily="18" charset="0"/>
                <a:ea typeface="Times New Roman" panose="02020603050405020304" pitchFamily="18" charset="0"/>
              </a:rPr>
              <a:t>Drop duplicate rows.</a:t>
            </a:r>
          </a:p>
          <a:p>
            <a:pPr marL="694944" marR="347345" lvl="1" indent="-347472">
              <a:spcBef>
                <a:spcPts val="0"/>
              </a:spcBef>
              <a:spcAft>
                <a:spcPts val="300"/>
              </a:spcAft>
              <a:buFont typeface="+mj-lt"/>
              <a:buAutoNum type="arabicPeriod" startAt="4"/>
              <a:tabLst>
                <a:tab pos="347345" algn="l"/>
                <a:tab pos="457200" algn="l"/>
              </a:tabLst>
            </a:pPr>
            <a:r>
              <a:rPr lang="en-US" sz="2000" dirty="0">
                <a:effectLst/>
                <a:latin typeface="Times New Roman" panose="02020603050405020304" pitchFamily="18" charset="0"/>
                <a:ea typeface="Times New Roman" panose="02020603050405020304" pitchFamily="18" charset="0"/>
              </a:rPr>
              <a:t>Drop rows that aren’t needed for the analysis.</a:t>
            </a:r>
          </a:p>
          <a:p>
            <a:pPr marL="694944" marR="347345" lvl="1" indent="-347472">
              <a:spcBef>
                <a:spcPts val="0"/>
              </a:spcBef>
              <a:spcAft>
                <a:spcPts val="300"/>
              </a:spcAft>
              <a:buFont typeface="+mj-lt"/>
              <a:buAutoNum type="arabicPeriod" startAt="4"/>
              <a:tabLst>
                <a:tab pos="347345" algn="l"/>
                <a:tab pos="457200" algn="l"/>
              </a:tabLst>
            </a:pPr>
            <a:r>
              <a:rPr lang="en-US" sz="2000" dirty="0">
                <a:effectLst/>
                <a:latin typeface="Times New Roman" panose="02020603050405020304" pitchFamily="18" charset="0"/>
                <a:ea typeface="Times New Roman" panose="02020603050405020304" pitchFamily="18" charset="0"/>
              </a:rPr>
              <a:t>Drop columns that aren’t needed for the analysis.</a:t>
            </a:r>
          </a:p>
          <a:p>
            <a:pPr marL="694944" marR="347345" lvl="1" indent="-347472">
              <a:spcBef>
                <a:spcPts val="0"/>
              </a:spcBef>
              <a:spcAft>
                <a:spcPts val="300"/>
              </a:spcAft>
              <a:buFont typeface="+mj-lt"/>
              <a:buAutoNum type="arabicPeriod" startAt="4"/>
              <a:tabLst>
                <a:tab pos="347345" algn="l"/>
                <a:tab pos="457200" algn="l"/>
              </a:tabLst>
            </a:pPr>
            <a:r>
              <a:rPr lang="en-US" sz="2000" dirty="0">
                <a:effectLst/>
                <a:latin typeface="Times New Roman" panose="02020603050405020304" pitchFamily="18" charset="0"/>
                <a:ea typeface="Times New Roman" panose="02020603050405020304" pitchFamily="18" charset="0"/>
              </a:rPr>
              <a:t>Rename columns so the names are easier to understand. </a:t>
            </a:r>
          </a:p>
          <a:p>
            <a:endParaRPr lang="en-US" dirty="0"/>
          </a:p>
        </p:txBody>
      </p:sp>
      <p:sp>
        <p:nvSpPr>
          <p:cNvPr id="4" name="Date Placeholder 3">
            <a:extLst>
              <a:ext uri="{FF2B5EF4-FFF2-40B4-BE49-F238E27FC236}">
                <a16:creationId xmlns:a16="http://schemas.microsoft.com/office/drawing/2014/main" id="{820F82E3-3747-40AD-A34A-54B02F54B95C}"/>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1BC8842C-36E7-4030-88D4-616ABE3AE1E4}"/>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D3081B62-8294-4019-9027-14CE2AE74596}"/>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4</a:t>
            </a:fld>
            <a:endParaRPr lang="en-US" dirty="0">
              <a:solidFill>
                <a:schemeClr val="bg1"/>
              </a:solidFill>
            </a:endParaRPr>
          </a:p>
        </p:txBody>
      </p:sp>
    </p:spTree>
    <p:extLst>
      <p:ext uri="{BB962C8B-B14F-4D97-AF65-F5344CB8AC3E}">
        <p14:creationId xmlns:p14="http://schemas.microsoft.com/office/powerpoint/2010/main" val="48448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590A1-C17A-4083-8945-D08E73413B1D}"/>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general plan for cleaning a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DataFrame</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(cont.)</a:t>
            </a:r>
            <a:endParaRPr lang="en-US" dirty="0"/>
          </a:p>
        </p:txBody>
      </p:sp>
      <p:sp>
        <p:nvSpPr>
          <p:cNvPr id="3" name="Text Placeholder 2">
            <a:extLst>
              <a:ext uri="{FF2B5EF4-FFF2-40B4-BE49-F238E27FC236}">
                <a16:creationId xmlns:a16="http://schemas.microsoft.com/office/drawing/2014/main" id="{247B7F02-8AD8-4147-8333-53986693993B}"/>
              </a:ext>
            </a:extLst>
          </p:cNvPr>
          <p:cNvSpPr>
            <a:spLocks noGrp="1"/>
          </p:cNvSpPr>
          <p:nvPr>
            <p:ph type="body" sz="quarter" idx="13"/>
          </p:nvPr>
        </p:nvSpPr>
        <p:spPr>
          <a:xfrm>
            <a:off x="838200" y="1066800"/>
            <a:ext cx="7391400" cy="4876800"/>
          </a:xfrm>
        </p:spPr>
        <p:txBody>
          <a:bodyPr/>
          <a:lstStyle/>
          <a:p>
            <a:pPr marL="347345" marR="0">
              <a:spcBef>
                <a:spcPts val="900"/>
              </a:spcBef>
              <a:spcAft>
                <a:spcPts val="600"/>
              </a:spcAft>
              <a:tabLst>
                <a:tab pos="1371600" algn="l"/>
                <a:tab pos="2743200" algn="l"/>
              </a:tabLst>
            </a:pPr>
            <a:r>
              <a:rPr lang="en-US" sz="2000"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Fix data problems</a:t>
            </a:r>
            <a:endParaRPr lang="en-US" sz="2000" b="1" spc="-10" dirty="0">
              <a:solidFill>
                <a:srgbClr val="000099"/>
              </a:solidFill>
              <a:effectLst/>
              <a:latin typeface="Montserrat Medium"/>
              <a:ea typeface="Times New Roman" panose="02020603050405020304" pitchFamily="18" charset="0"/>
              <a:cs typeface="Times New Roman" panose="02020603050405020304" pitchFamily="18" charset="0"/>
            </a:endParaRPr>
          </a:p>
          <a:p>
            <a:pPr marL="694944" marR="347345" lvl="1" indent="-347472">
              <a:spcBef>
                <a:spcPts val="0"/>
              </a:spcBef>
              <a:spcAft>
                <a:spcPts val="300"/>
              </a:spcAft>
              <a:buFont typeface="+mj-lt"/>
              <a:buAutoNum type="arabicPeriod" startAt="8"/>
              <a:tabLst>
                <a:tab pos="347345" algn="l"/>
                <a:tab pos="457200" algn="l"/>
              </a:tabLst>
            </a:pPr>
            <a:r>
              <a:rPr lang="en-US" sz="2000" dirty="0">
                <a:effectLst/>
                <a:latin typeface="Times New Roman" panose="02020603050405020304" pitchFamily="18" charset="0"/>
                <a:ea typeface="Times New Roman" panose="02020603050405020304" pitchFamily="18" charset="0"/>
              </a:rPr>
              <a:t>Find and fix missing values.</a:t>
            </a:r>
          </a:p>
          <a:p>
            <a:pPr marL="694944" marR="347345" lvl="1" indent="-347472">
              <a:spcBef>
                <a:spcPts val="0"/>
              </a:spcBef>
              <a:spcAft>
                <a:spcPts val="300"/>
              </a:spcAft>
              <a:buFont typeface="+mj-lt"/>
              <a:buAutoNum type="arabicPeriod" startAt="8"/>
              <a:tabLst>
                <a:tab pos="347345" algn="l"/>
                <a:tab pos="457200" algn="l"/>
              </a:tabLst>
            </a:pPr>
            <a:r>
              <a:rPr lang="en-US" sz="2000" dirty="0">
                <a:effectLst/>
                <a:latin typeface="Times New Roman" panose="02020603050405020304" pitchFamily="18" charset="0"/>
                <a:ea typeface="Times New Roman" panose="02020603050405020304" pitchFamily="18" charset="0"/>
              </a:rPr>
              <a:t>Fix data type problems like dates or numbers that are imported as strings.</a:t>
            </a:r>
          </a:p>
          <a:p>
            <a:pPr marL="694944" marR="347345" lvl="1" indent="-347472">
              <a:spcBef>
                <a:spcPts val="0"/>
              </a:spcBef>
              <a:spcAft>
                <a:spcPts val="300"/>
              </a:spcAft>
              <a:buFont typeface="+mj-lt"/>
              <a:buAutoNum type="arabicPeriod" startAt="8"/>
              <a:tabLst>
                <a:tab pos="347345" algn="l"/>
                <a:tab pos="457200" algn="l"/>
              </a:tabLst>
            </a:pPr>
            <a:r>
              <a:rPr lang="en-US" sz="2000" dirty="0">
                <a:effectLst/>
                <a:latin typeface="Times New Roman" panose="02020603050405020304" pitchFamily="18" charset="0"/>
                <a:ea typeface="Times New Roman" panose="02020603050405020304" pitchFamily="18" charset="0"/>
              </a:rPr>
              <a:t>Find and fix outliers.</a:t>
            </a:r>
          </a:p>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But before you start cleaning...</a:t>
            </a:r>
            <a:endParaRPr lang="en-US" sz="2400" b="1" dirty="0">
              <a:solidFill>
                <a:srgbClr val="000099"/>
              </a:solidFill>
              <a:effectLst/>
              <a:latin typeface="Montserrat Medium"/>
              <a:ea typeface="Times New Roman" panose="02020603050405020304" pitchFamily="18" charset="0"/>
              <a:cs typeface="Times New Roman" panose="02020603050405020304" pitchFamily="18" charset="0"/>
            </a:endParaRPr>
          </a:p>
          <a:p>
            <a:pPr marL="342900" marR="274320" lvl="0" indent="-342900">
              <a:spcBef>
                <a:spcPts val="0"/>
              </a:spcBef>
              <a:spcAft>
                <a:spcPts val="600"/>
              </a:spcAft>
              <a:buFont typeface="Symbol" panose="05050102010706020507" pitchFamily="18" charset="2"/>
              <a:buChar char=""/>
            </a:pPr>
            <a:r>
              <a:rPr lang="en-US" sz="2000" spc="-10" dirty="0">
                <a:effectLst/>
                <a:latin typeface="Times New Roman" panose="02020603050405020304" pitchFamily="18" charset="0"/>
                <a:ea typeface="Times New Roman" panose="02020603050405020304" pitchFamily="18" charset="0"/>
              </a:rPr>
              <a:t>Be sure that you’ve set the goals for your analysis. That will help you decide what cleaning needs to be done.</a:t>
            </a:r>
          </a:p>
          <a:p>
            <a:endParaRPr lang="en-US" dirty="0"/>
          </a:p>
        </p:txBody>
      </p:sp>
      <p:sp>
        <p:nvSpPr>
          <p:cNvPr id="4" name="Date Placeholder 3">
            <a:extLst>
              <a:ext uri="{FF2B5EF4-FFF2-40B4-BE49-F238E27FC236}">
                <a16:creationId xmlns:a16="http://schemas.microsoft.com/office/drawing/2014/main" id="{2ADF25AA-78BC-4830-A356-BF1A008B90D2}"/>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473AA847-2AE7-4D6C-B248-7F9769917A53}"/>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67E97FD0-1BB7-4391-8450-8DE73ED76FCF}"/>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5</a:t>
            </a:fld>
            <a:endParaRPr lang="en-US" dirty="0">
              <a:solidFill>
                <a:schemeClr val="bg1"/>
              </a:solidFill>
            </a:endParaRPr>
          </a:p>
        </p:txBody>
      </p:sp>
    </p:spTree>
    <p:extLst>
      <p:ext uri="{BB962C8B-B14F-4D97-AF65-F5344CB8AC3E}">
        <p14:creationId xmlns:p14="http://schemas.microsoft.com/office/powerpoint/2010/main" val="209436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B3AAD-7B59-423A-A287-69FAFA41688E}"/>
              </a:ext>
            </a:extLst>
          </p:cNvPr>
          <p:cNvSpPr>
            <a:spLocks noGrp="1"/>
          </p:cNvSpPr>
          <p:nvPr>
            <p:ph type="title"/>
          </p:nvPr>
        </p:nvSpPr>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Documentation that identifies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some data problems in the Jobs data</a:t>
            </a:r>
            <a:endParaRPr lang="en-US" dirty="0"/>
          </a:p>
        </p:txBody>
      </p:sp>
      <p:pic>
        <p:nvPicPr>
          <p:cNvPr id="8" name="Content Placeholder 7" descr="Refer to page 199 in textbook">
            <a:extLst>
              <a:ext uri="{FF2B5EF4-FFF2-40B4-BE49-F238E27FC236}">
                <a16:creationId xmlns:a16="http://schemas.microsoft.com/office/drawing/2014/main" id="{AE0FA551-C15A-4622-8D8A-C7750399CE59}"/>
              </a:ext>
            </a:extLst>
          </p:cNvPr>
          <p:cNvPicPr>
            <a:picLocks noGrp="1" noChangeAspect="1"/>
          </p:cNvPicPr>
          <p:nvPr>
            <p:ph sz="quarter" idx="13"/>
          </p:nvPr>
        </p:nvPicPr>
        <p:blipFill>
          <a:blip r:embed="rId2"/>
          <a:stretch>
            <a:fillRect/>
          </a:stretch>
        </p:blipFill>
        <p:spPr>
          <a:xfrm>
            <a:off x="914400" y="1295400"/>
            <a:ext cx="7239000" cy="1840098"/>
          </a:xfrm>
          <a:prstGeom prst="rect">
            <a:avLst/>
          </a:prstGeom>
        </p:spPr>
      </p:pic>
      <p:sp>
        <p:nvSpPr>
          <p:cNvPr id="4" name="Date Placeholder 3">
            <a:extLst>
              <a:ext uri="{FF2B5EF4-FFF2-40B4-BE49-F238E27FC236}">
                <a16:creationId xmlns:a16="http://schemas.microsoft.com/office/drawing/2014/main" id="{DD7816B3-FB90-4E85-BAAD-9CEB57860F3E}"/>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6D46D2B1-096C-477F-907A-3ED569DF8E88}"/>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E94743F0-45CE-4518-BB7C-73941D61420F}"/>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6</a:t>
            </a:fld>
            <a:endParaRPr lang="en-US" dirty="0">
              <a:solidFill>
                <a:schemeClr val="bg1"/>
              </a:solidFill>
            </a:endParaRPr>
          </a:p>
        </p:txBody>
      </p:sp>
    </p:spTree>
    <p:extLst>
      <p:ext uri="{BB962C8B-B14F-4D97-AF65-F5344CB8AC3E}">
        <p14:creationId xmlns:p14="http://schemas.microsoft.com/office/powerpoint/2010/main" val="755339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6FF18D6-1139-4393-93ED-4619AC42D409}"/>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Three parameters of the info() method</a:t>
            </a:r>
            <a:endParaRPr lang="en-US" dirty="0"/>
          </a:p>
        </p:txBody>
      </p:sp>
      <p:graphicFrame>
        <p:nvGraphicFramePr>
          <p:cNvPr id="9" name="Table Placeholder 8">
            <a:extLst>
              <a:ext uri="{FF2B5EF4-FFF2-40B4-BE49-F238E27FC236}">
                <a16:creationId xmlns:a16="http://schemas.microsoft.com/office/drawing/2014/main" id="{245C149A-FA0D-4062-BBAF-40CFA0EDE09E}"/>
              </a:ext>
            </a:extLst>
          </p:cNvPr>
          <p:cNvGraphicFramePr>
            <a:graphicFrameLocks noGrp="1"/>
          </p:cNvGraphicFramePr>
          <p:nvPr>
            <p:ph type="tbl" sz="quarter" idx="13"/>
            <p:extLst>
              <p:ext uri="{D42A27DB-BD31-4B8C-83A1-F6EECF244321}">
                <p14:modId xmlns:p14="http://schemas.microsoft.com/office/powerpoint/2010/main" val="864236801"/>
              </p:ext>
            </p:extLst>
          </p:nvPr>
        </p:nvGraphicFramePr>
        <p:xfrm>
          <a:off x="914400" y="1122000"/>
          <a:ext cx="6583680" cy="2499360"/>
        </p:xfrm>
        <a:graphic>
          <a:graphicData uri="http://schemas.openxmlformats.org/drawingml/2006/table">
            <a:tbl>
              <a:tblPr firstRow="1"/>
              <a:tblGrid>
                <a:gridCol w="2583180">
                  <a:extLst>
                    <a:ext uri="{9D8B030D-6E8A-4147-A177-3AD203B41FA5}">
                      <a16:colId xmlns:a16="http://schemas.microsoft.com/office/drawing/2014/main" val="3077522484"/>
                    </a:ext>
                  </a:extLst>
                </a:gridCol>
                <a:gridCol w="4000500">
                  <a:extLst>
                    <a:ext uri="{9D8B030D-6E8A-4147-A177-3AD203B41FA5}">
                      <a16:colId xmlns:a16="http://schemas.microsoft.com/office/drawing/2014/main" val="3806780818"/>
                    </a:ext>
                  </a:extLst>
                </a:gridCol>
              </a:tblGrid>
              <a:tr h="0">
                <a:tc>
                  <a:txBody>
                    <a:bodyPr/>
                    <a:lstStyle/>
                    <a:p>
                      <a:pPr marL="0" marR="0">
                        <a:spcBef>
                          <a:spcPts val="600"/>
                        </a:spcBef>
                        <a:spcAft>
                          <a:spcPts val="600"/>
                        </a:spcAft>
                        <a:tabLst>
                          <a:tab pos="1828800" algn="l"/>
                          <a:tab pos="457200" algn="l"/>
                        </a:tabLst>
                      </a:pPr>
                      <a:r>
                        <a:rPr lang="en-US" sz="20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Parameter</a:t>
                      </a:r>
                      <a:endParaRPr lang="en-US" sz="2000" b="1" dirty="0">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extLst>
                  <a:ext uri="{0D108BD9-81ED-4DB2-BD59-A6C34878D82A}">
                    <a16:rowId xmlns:a16="http://schemas.microsoft.com/office/drawing/2014/main" val="3346090227"/>
                  </a:ext>
                </a:extLst>
              </a:tr>
              <a:tr h="0">
                <a:tc>
                  <a:txBody>
                    <a:bodyPr/>
                    <a:lstStyle/>
                    <a:p>
                      <a:pPr marL="0" marR="0" indent="0">
                        <a:spcBef>
                          <a:spcPts val="600"/>
                        </a:spcBef>
                        <a:spcAft>
                          <a:spcPts val="600"/>
                        </a:spcAft>
                        <a:tabLst>
                          <a:tab pos="800100" algn="l"/>
                          <a:tab pos="25146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verbose=True</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Ensures that the method returns info for all of the columns.</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3569571951"/>
                  </a:ext>
                </a:extLst>
              </a:tr>
              <a:tr h="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memory_usage='deep'</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Ensures that the memory usage information is accurate.</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5684686"/>
                  </a:ext>
                </a:extLst>
              </a:tr>
              <a:tr h="0">
                <a:tc>
                  <a:txBody>
                    <a:bodyPr/>
                    <a:lstStyle/>
                    <a:p>
                      <a:pPr marL="0" marR="0" indent="0">
                        <a:spcBef>
                          <a:spcPts val="600"/>
                        </a:spcBef>
                        <a:spcAft>
                          <a:spcPts val="600"/>
                        </a:spcAft>
                        <a:tabLst>
                          <a:tab pos="800100" algn="l"/>
                          <a:tab pos="2514600" algn="l"/>
                          <a:tab pos="457200" algn="l"/>
                        </a:tabLst>
                      </a:pPr>
                      <a:r>
                        <a:rPr lang="en-US" sz="1600" b="1"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show_counts</a:t>
                      </a: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=True</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Ensures that the non-null counts for each column will be displayed.</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556339270"/>
                  </a:ext>
                </a:extLst>
              </a:tr>
            </a:tbl>
          </a:graphicData>
        </a:graphic>
      </p:graphicFrame>
      <p:sp>
        <p:nvSpPr>
          <p:cNvPr id="4" name="Date Placeholder 3">
            <a:extLst>
              <a:ext uri="{FF2B5EF4-FFF2-40B4-BE49-F238E27FC236}">
                <a16:creationId xmlns:a16="http://schemas.microsoft.com/office/drawing/2014/main" id="{28DD68F2-4CBE-4B47-A10C-91EF163CA3CD}"/>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3A4E2CCD-333E-4A41-96F9-4CEC4F208DA5}"/>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6D08FD72-CA84-4E5F-BB87-35DB499A929D}"/>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7</a:t>
            </a:fld>
            <a:endParaRPr lang="en-US" dirty="0">
              <a:solidFill>
                <a:schemeClr val="bg1"/>
              </a:solidFill>
            </a:endParaRPr>
          </a:p>
        </p:txBody>
      </p:sp>
    </p:spTree>
    <p:extLst>
      <p:ext uri="{BB962C8B-B14F-4D97-AF65-F5344CB8AC3E}">
        <p14:creationId xmlns:p14="http://schemas.microsoft.com/office/powerpoint/2010/main" val="39959192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FE3EE-D69A-49E2-AD0F-BDE8C642A0A0}"/>
              </a:ext>
            </a:extLst>
          </p:cNvPr>
          <p:cNvSpPr>
            <a:spLocks noGrp="1"/>
          </p:cNvSpPr>
          <p:nvPr>
            <p:ph type="title"/>
          </p:nvPr>
        </p:nvSpPr>
        <p:spPr>
          <a:xfrm>
            <a:off x="914400" y="440323"/>
            <a:ext cx="7315200" cy="738664"/>
          </a:xfrm>
        </p:spPr>
        <p:txBody>
          <a:bodyPr/>
          <a:lstStyle/>
          <a:p>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Partial results for the info() method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when run on the Polls data </a:t>
            </a:r>
            <a:endParaRPr lang="en-US" dirty="0"/>
          </a:p>
        </p:txBody>
      </p:sp>
      <p:pic>
        <p:nvPicPr>
          <p:cNvPr id="7" name="Content Placeholder 6" descr="Refer to page 201 in textbook">
            <a:extLst>
              <a:ext uri="{FF2B5EF4-FFF2-40B4-BE49-F238E27FC236}">
                <a16:creationId xmlns:a16="http://schemas.microsoft.com/office/drawing/2014/main" id="{10CA8EA7-341A-49F6-AE9A-66EFCE737314}"/>
              </a:ext>
            </a:extLst>
          </p:cNvPr>
          <p:cNvPicPr>
            <a:picLocks noGrp="1" noChangeAspect="1"/>
          </p:cNvPicPr>
          <p:nvPr>
            <p:ph sz="quarter" idx="13"/>
          </p:nvPr>
        </p:nvPicPr>
        <p:blipFill>
          <a:blip r:embed="rId2"/>
          <a:stretch>
            <a:fillRect/>
          </a:stretch>
        </p:blipFill>
        <p:spPr>
          <a:xfrm>
            <a:off x="609600" y="1371600"/>
            <a:ext cx="7303008" cy="2708148"/>
          </a:xfrm>
          <a:prstGeom prst="rect">
            <a:avLst/>
          </a:prstGeom>
        </p:spPr>
      </p:pic>
      <p:sp>
        <p:nvSpPr>
          <p:cNvPr id="4" name="Date Placeholder 3">
            <a:extLst>
              <a:ext uri="{FF2B5EF4-FFF2-40B4-BE49-F238E27FC236}">
                <a16:creationId xmlns:a16="http://schemas.microsoft.com/office/drawing/2014/main" id="{97539382-8206-40E9-BF9B-5A1C016B4E10}"/>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6AEA0E5A-537D-41B3-82EF-1125913DCB63}"/>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074ACD3E-D0A4-41BC-8334-64D06D7C1D53}"/>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8</a:t>
            </a:fld>
            <a:endParaRPr lang="en-US" dirty="0">
              <a:solidFill>
                <a:schemeClr val="bg1"/>
              </a:solidFill>
            </a:endParaRPr>
          </a:p>
        </p:txBody>
      </p:sp>
    </p:spTree>
    <p:extLst>
      <p:ext uri="{BB962C8B-B14F-4D97-AF65-F5344CB8AC3E}">
        <p14:creationId xmlns:p14="http://schemas.microsoft.com/office/powerpoint/2010/main" val="2437803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CD5FE-D909-4C46-ACD6-01F2569E0C8D}"/>
              </a:ext>
            </a:extLst>
          </p:cNvPr>
          <p:cNvSpPr>
            <a:spLocks noGrp="1"/>
          </p:cNvSpPr>
          <p:nvPr>
            <p:ph type="title"/>
          </p:nvPr>
        </p:nvSpPr>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Partial results for the info() method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when run on the Jobs data</a:t>
            </a:r>
            <a:endParaRPr lang="en-US" dirty="0"/>
          </a:p>
        </p:txBody>
      </p:sp>
      <p:pic>
        <p:nvPicPr>
          <p:cNvPr id="8" name="Content Placeholder 7" descr="Refer to page 201 in textbook">
            <a:extLst>
              <a:ext uri="{FF2B5EF4-FFF2-40B4-BE49-F238E27FC236}">
                <a16:creationId xmlns:a16="http://schemas.microsoft.com/office/drawing/2014/main" id="{B104B292-081C-4492-9004-67EAD6C5D3E4}"/>
              </a:ext>
            </a:extLst>
          </p:cNvPr>
          <p:cNvPicPr>
            <a:picLocks noGrp="1" noChangeAspect="1"/>
          </p:cNvPicPr>
          <p:nvPr>
            <p:ph sz="quarter" idx="13"/>
          </p:nvPr>
        </p:nvPicPr>
        <p:blipFill>
          <a:blip r:embed="rId2"/>
          <a:stretch>
            <a:fillRect/>
          </a:stretch>
        </p:blipFill>
        <p:spPr>
          <a:xfrm>
            <a:off x="609600" y="1371600"/>
            <a:ext cx="7303008" cy="2916936"/>
          </a:xfrm>
          <a:prstGeom prst="rect">
            <a:avLst/>
          </a:prstGeom>
        </p:spPr>
      </p:pic>
      <p:sp>
        <p:nvSpPr>
          <p:cNvPr id="4" name="Date Placeholder 3">
            <a:extLst>
              <a:ext uri="{FF2B5EF4-FFF2-40B4-BE49-F238E27FC236}">
                <a16:creationId xmlns:a16="http://schemas.microsoft.com/office/drawing/2014/main" id="{450493FB-64BA-4F18-8AE0-AB26203AA44E}"/>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72999B07-77F4-486D-859E-37D9508DBD7E}"/>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6414C293-F9D2-46F8-AE41-11B7A6A58EE9}"/>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9</a:t>
            </a:fld>
            <a:endParaRPr lang="en-US" dirty="0">
              <a:solidFill>
                <a:schemeClr val="bg1"/>
              </a:solidFill>
            </a:endParaRPr>
          </a:p>
        </p:txBody>
      </p:sp>
    </p:spTree>
    <p:extLst>
      <p:ext uri="{BB962C8B-B14F-4D97-AF65-F5344CB8AC3E}">
        <p14:creationId xmlns:p14="http://schemas.microsoft.com/office/powerpoint/2010/main" val="3245823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6E0E8-9CF0-47D2-9FCC-921E449748AC}"/>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What you should be looking for</a:t>
            </a:r>
            <a:endParaRPr lang="en-US" dirty="0"/>
          </a:p>
        </p:txBody>
      </p:sp>
      <p:sp>
        <p:nvSpPr>
          <p:cNvPr id="3" name="Text Placeholder 2">
            <a:extLst>
              <a:ext uri="{FF2B5EF4-FFF2-40B4-BE49-F238E27FC236}">
                <a16:creationId xmlns:a16="http://schemas.microsoft.com/office/drawing/2014/main" id="{0BEC19F5-5AC3-46F5-9F08-BB881E1A9BE2}"/>
              </a:ext>
            </a:extLst>
          </p:cNvPr>
          <p:cNvSpPr>
            <a:spLocks noGrp="1"/>
          </p:cNvSpPr>
          <p:nvPr>
            <p:ph type="body" sz="quarter" idx="13"/>
          </p:nvPr>
        </p:nvSpPr>
        <p:spPr/>
        <p:txBody>
          <a:bodyPr/>
          <a:lstStyle/>
          <a:p>
            <a:pPr marL="342900" marR="274320" lvl="0" indent="-342900">
              <a:spcBef>
                <a:spcPts val="0"/>
              </a:spcBef>
              <a:spcAft>
                <a:spcPts val="600"/>
              </a:spcAft>
              <a:buFont typeface="Symbol" panose="05050102010706020507" pitchFamily="18" charset="2"/>
              <a:buChar char=""/>
            </a:pPr>
            <a:r>
              <a:rPr lang="en-US" sz="2000" spc="-10" dirty="0">
                <a:effectLst/>
                <a:latin typeface="Times New Roman" panose="02020603050405020304" pitchFamily="18" charset="0"/>
                <a:ea typeface="Times New Roman" panose="02020603050405020304" pitchFamily="18" charset="0"/>
              </a:rPr>
              <a:t>Object or string variables that look like they should be dates or numbers.</a:t>
            </a:r>
          </a:p>
          <a:p>
            <a:pPr marL="342900" marR="274320" lvl="0" indent="-342900">
              <a:spcBef>
                <a:spcPts val="0"/>
              </a:spcBef>
              <a:spcAft>
                <a:spcPts val="600"/>
              </a:spcAft>
              <a:buFont typeface="Symbol" panose="05050102010706020507" pitchFamily="18" charset="2"/>
              <a:buChar char=""/>
            </a:pPr>
            <a:r>
              <a:rPr lang="en-US" sz="2000" spc="-10" dirty="0">
                <a:effectLst/>
                <a:latin typeface="Times New Roman" panose="02020603050405020304" pitchFamily="18" charset="0"/>
                <a:ea typeface="Times New Roman" panose="02020603050405020304" pitchFamily="18" charset="0"/>
              </a:rPr>
              <a:t>Non-null counts that are lower than the non-null counts of other columns may indicate missing data.</a:t>
            </a:r>
          </a:p>
          <a:p>
            <a:pPr marL="342900" marR="274320" lvl="0" indent="-342900">
              <a:spcBef>
                <a:spcPts val="0"/>
              </a:spcBef>
              <a:spcAft>
                <a:spcPts val="600"/>
              </a:spcAft>
              <a:buFont typeface="Symbol" panose="05050102010706020507" pitchFamily="18" charset="2"/>
              <a:buChar char=""/>
            </a:pPr>
            <a:r>
              <a:rPr lang="en-US" sz="2000" spc="-10" dirty="0">
                <a:effectLst/>
                <a:latin typeface="Times New Roman" panose="02020603050405020304" pitchFamily="18" charset="0"/>
                <a:ea typeface="Times New Roman" panose="02020603050405020304" pitchFamily="18" charset="0"/>
              </a:rPr>
              <a:t>Small numbers of non-nulls or nulls may indicate problems with related columns or rows.</a:t>
            </a:r>
          </a:p>
          <a:p>
            <a:endParaRPr lang="en-US" dirty="0"/>
          </a:p>
        </p:txBody>
      </p:sp>
      <p:sp>
        <p:nvSpPr>
          <p:cNvPr id="4" name="Date Placeholder 3">
            <a:extLst>
              <a:ext uri="{FF2B5EF4-FFF2-40B4-BE49-F238E27FC236}">
                <a16:creationId xmlns:a16="http://schemas.microsoft.com/office/drawing/2014/main" id="{0E54EF96-AFAA-4A22-B1BB-3E005A4DFA5E}"/>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AE7610D4-5A70-4794-8846-EE5E02CE55E7}"/>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0F27546B-901C-4710-8048-D12EF2F5FD4E}"/>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10</a:t>
            </a:fld>
            <a:endParaRPr lang="en-US" dirty="0">
              <a:solidFill>
                <a:schemeClr val="bg1"/>
              </a:solidFill>
            </a:endParaRPr>
          </a:p>
        </p:txBody>
      </p:sp>
    </p:spTree>
    <p:extLst>
      <p:ext uri="{BB962C8B-B14F-4D97-AF65-F5344CB8AC3E}">
        <p14:creationId xmlns:p14="http://schemas.microsoft.com/office/powerpoint/2010/main" val="3853816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1240A2D-8FB5-4A5D-98BF-37DDB7EA1017}"/>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nunique</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and unique() methods</a:t>
            </a:r>
            <a:endParaRPr lang="en-US" dirty="0"/>
          </a:p>
        </p:txBody>
      </p:sp>
      <p:graphicFrame>
        <p:nvGraphicFramePr>
          <p:cNvPr id="9" name="Table Placeholder 8">
            <a:extLst>
              <a:ext uri="{FF2B5EF4-FFF2-40B4-BE49-F238E27FC236}">
                <a16:creationId xmlns:a16="http://schemas.microsoft.com/office/drawing/2014/main" id="{1B198B8B-8F39-4B4A-96B7-471ADB45C760}"/>
              </a:ext>
            </a:extLst>
          </p:cNvPr>
          <p:cNvGraphicFramePr>
            <a:graphicFrameLocks noGrp="1"/>
          </p:cNvGraphicFramePr>
          <p:nvPr>
            <p:ph type="tbl" sz="quarter" idx="13"/>
            <p:extLst>
              <p:ext uri="{D42A27DB-BD31-4B8C-83A1-F6EECF244321}">
                <p14:modId xmlns:p14="http://schemas.microsoft.com/office/powerpoint/2010/main" val="750118619"/>
              </p:ext>
            </p:extLst>
          </p:nvPr>
        </p:nvGraphicFramePr>
        <p:xfrm>
          <a:off x="914400" y="1143000"/>
          <a:ext cx="7292340" cy="1493520"/>
        </p:xfrm>
        <a:graphic>
          <a:graphicData uri="http://schemas.openxmlformats.org/drawingml/2006/table">
            <a:tbl>
              <a:tblPr firstRow="1"/>
              <a:tblGrid>
                <a:gridCol w="2811780">
                  <a:extLst>
                    <a:ext uri="{9D8B030D-6E8A-4147-A177-3AD203B41FA5}">
                      <a16:colId xmlns:a16="http://schemas.microsoft.com/office/drawing/2014/main" val="1838857810"/>
                    </a:ext>
                  </a:extLst>
                </a:gridCol>
                <a:gridCol w="4480560">
                  <a:extLst>
                    <a:ext uri="{9D8B030D-6E8A-4147-A177-3AD203B41FA5}">
                      <a16:colId xmlns:a16="http://schemas.microsoft.com/office/drawing/2014/main" val="3817743586"/>
                    </a:ext>
                  </a:extLst>
                </a:gridCol>
              </a:tblGrid>
              <a:tr h="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Method</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extLst>
                  <a:ext uri="{0D108BD9-81ED-4DB2-BD59-A6C34878D82A}">
                    <a16:rowId xmlns:a16="http://schemas.microsoft.com/office/drawing/2014/main" val="1408461681"/>
                  </a:ext>
                </a:extLst>
              </a:tr>
              <a:tr h="0">
                <a:tc>
                  <a:txBody>
                    <a:bodyPr/>
                    <a:lstStyle/>
                    <a:p>
                      <a:pPr marL="0" marR="0" indent="0">
                        <a:spcBef>
                          <a:spcPts val="600"/>
                        </a:spcBef>
                        <a:spcAft>
                          <a:spcPts val="600"/>
                        </a:spcAft>
                        <a:tabLst>
                          <a:tab pos="800100" algn="l"/>
                          <a:tab pos="2514600" algn="l"/>
                          <a:tab pos="457200" algn="l"/>
                        </a:tabLst>
                      </a:pPr>
                      <a:r>
                        <a:rPr lang="en-US" sz="1600" b="1"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nunique</a:t>
                      </a: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600" b="1"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dropna</a:t>
                      </a: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=False)</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Returns the number of unique values in each column.</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2422403020"/>
                  </a:ext>
                </a:extLst>
              </a:tr>
              <a:tr h="0">
                <a:tc>
                  <a:txBody>
                    <a:bodyPr/>
                    <a:lstStyle/>
                    <a:p>
                      <a:pPr marL="0" marR="0" indent="0">
                        <a:spcBef>
                          <a:spcPts val="600"/>
                        </a:spcBef>
                        <a:spcAft>
                          <a:spcPts val="600"/>
                        </a:spcAft>
                        <a:tabLst>
                          <a:tab pos="800100" algn="l"/>
                          <a:tab pos="25146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unique()</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Returns the unique values in each column.</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3479890573"/>
                  </a:ext>
                </a:extLst>
              </a:tr>
            </a:tbl>
          </a:graphicData>
        </a:graphic>
      </p:graphicFrame>
      <p:sp>
        <p:nvSpPr>
          <p:cNvPr id="4" name="Date Placeholder 3">
            <a:extLst>
              <a:ext uri="{FF2B5EF4-FFF2-40B4-BE49-F238E27FC236}">
                <a16:creationId xmlns:a16="http://schemas.microsoft.com/office/drawing/2014/main" id="{F5157C2D-BE18-4D97-BD83-123976A94E2B}"/>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26E3F061-D542-46A3-92FF-CEE137AB99B6}"/>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D2677FFF-3767-4D1C-BD5E-A175F250E062}"/>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11</a:t>
            </a:fld>
            <a:endParaRPr lang="en-US" dirty="0">
              <a:solidFill>
                <a:schemeClr val="bg1"/>
              </a:solidFill>
            </a:endParaRPr>
          </a:p>
        </p:txBody>
      </p:sp>
    </p:spTree>
    <p:extLst>
      <p:ext uri="{BB962C8B-B14F-4D97-AF65-F5344CB8AC3E}">
        <p14:creationId xmlns:p14="http://schemas.microsoft.com/office/powerpoint/2010/main" val="868887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D4D0D-3AA3-4BE4-AE92-44797F27A153}"/>
              </a:ext>
            </a:extLst>
          </p:cNvPr>
          <p:cNvSpPr>
            <a:spLocks noGrp="1"/>
          </p:cNvSpPr>
          <p:nvPr>
            <p:ph type="title"/>
          </p:nvPr>
        </p:nvSpPr>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Partial results for 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nunique</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when run on the Polls data</a:t>
            </a:r>
            <a:endParaRPr lang="en-US" dirty="0"/>
          </a:p>
        </p:txBody>
      </p:sp>
      <p:sp>
        <p:nvSpPr>
          <p:cNvPr id="4" name="Date Placeholder 3">
            <a:extLst>
              <a:ext uri="{FF2B5EF4-FFF2-40B4-BE49-F238E27FC236}">
                <a16:creationId xmlns:a16="http://schemas.microsoft.com/office/drawing/2014/main" id="{460D317D-1498-4B59-9C00-E71BB0ABD7E2}"/>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83B7A823-D807-4D6D-8A5A-BC828960DD35}"/>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99F42B69-2BED-42EA-B8B2-5FDFCA6784AB}"/>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12</a:t>
            </a:fld>
            <a:endParaRPr lang="en-US" dirty="0">
              <a:solidFill>
                <a:schemeClr val="bg1"/>
              </a:solidFill>
            </a:endParaRPr>
          </a:p>
        </p:txBody>
      </p:sp>
      <p:pic>
        <p:nvPicPr>
          <p:cNvPr id="9" name="Picture 8">
            <a:extLst>
              <a:ext uri="{FF2B5EF4-FFF2-40B4-BE49-F238E27FC236}">
                <a16:creationId xmlns:a16="http://schemas.microsoft.com/office/drawing/2014/main" id="{9CB69FD8-4959-02F9-BFF2-10ECA4BD452B}"/>
              </a:ext>
            </a:extLst>
          </p:cNvPr>
          <p:cNvPicPr>
            <a:picLocks noChangeAspect="1"/>
          </p:cNvPicPr>
          <p:nvPr/>
        </p:nvPicPr>
        <p:blipFill>
          <a:blip r:embed="rId2"/>
          <a:stretch>
            <a:fillRect/>
          </a:stretch>
        </p:blipFill>
        <p:spPr>
          <a:xfrm>
            <a:off x="921619" y="1219200"/>
            <a:ext cx="6604000" cy="3962400"/>
          </a:xfrm>
          <a:prstGeom prst="rect">
            <a:avLst/>
          </a:prstGeom>
        </p:spPr>
      </p:pic>
    </p:spTree>
    <p:extLst>
      <p:ext uri="{BB962C8B-B14F-4D97-AF65-F5344CB8AC3E}">
        <p14:creationId xmlns:p14="http://schemas.microsoft.com/office/powerpoint/2010/main" val="1453573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B5F07-9B52-480D-803E-3A7EA45896E8}"/>
              </a:ext>
            </a:extLst>
          </p:cNvPr>
          <p:cNvSpPr>
            <a:spLocks noGrp="1"/>
          </p:cNvSpPr>
          <p:nvPr>
            <p:ph type="title"/>
          </p:nvPr>
        </p:nvSpPr>
        <p:spPr>
          <a:xfrm>
            <a:off x="914400" y="440323"/>
            <a:ext cx="7315200" cy="738664"/>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Partial results for a unique() method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that gets the unique values</a:t>
            </a:r>
            <a:endParaRPr lang="en-US" dirty="0"/>
          </a:p>
        </p:txBody>
      </p:sp>
      <p:sp>
        <p:nvSpPr>
          <p:cNvPr id="4" name="Date Placeholder 3">
            <a:extLst>
              <a:ext uri="{FF2B5EF4-FFF2-40B4-BE49-F238E27FC236}">
                <a16:creationId xmlns:a16="http://schemas.microsoft.com/office/drawing/2014/main" id="{66343856-7BAA-4311-962F-7D2C7CA2CD43}"/>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2BD2E7E7-93F4-4EA4-9E06-121FE5DFD413}"/>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0EA30319-5247-4BE7-9BB3-49F9917D6B82}"/>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13</a:t>
            </a:fld>
            <a:endParaRPr lang="en-US" dirty="0">
              <a:solidFill>
                <a:schemeClr val="bg1"/>
              </a:solidFill>
            </a:endParaRPr>
          </a:p>
        </p:txBody>
      </p:sp>
      <p:pic>
        <p:nvPicPr>
          <p:cNvPr id="8" name="Picture 7">
            <a:extLst>
              <a:ext uri="{FF2B5EF4-FFF2-40B4-BE49-F238E27FC236}">
                <a16:creationId xmlns:a16="http://schemas.microsoft.com/office/drawing/2014/main" id="{CCF5B8B9-9638-348E-6C53-95CEDBF06125}"/>
              </a:ext>
            </a:extLst>
          </p:cNvPr>
          <p:cNvPicPr>
            <a:picLocks noChangeAspect="1"/>
          </p:cNvPicPr>
          <p:nvPr/>
        </p:nvPicPr>
        <p:blipFill>
          <a:blip r:embed="rId2"/>
          <a:stretch>
            <a:fillRect/>
          </a:stretch>
        </p:blipFill>
        <p:spPr>
          <a:xfrm>
            <a:off x="932848" y="1295400"/>
            <a:ext cx="7626875" cy="3962400"/>
          </a:xfrm>
          <a:prstGeom prst="rect">
            <a:avLst/>
          </a:prstGeom>
        </p:spPr>
      </p:pic>
    </p:spTree>
    <p:extLst>
      <p:ext uri="{BB962C8B-B14F-4D97-AF65-F5344CB8AC3E}">
        <p14:creationId xmlns:p14="http://schemas.microsoft.com/office/powerpoint/2010/main" val="1602340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7BCAB5C-13E5-4D54-9E10-DCCE902EFF75}"/>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value_counts</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a:t>
            </a:r>
            <a:endParaRPr lang="en-US" dirty="0"/>
          </a:p>
        </p:txBody>
      </p:sp>
      <p:graphicFrame>
        <p:nvGraphicFramePr>
          <p:cNvPr id="11" name="Table Placeholder 10">
            <a:extLst>
              <a:ext uri="{FF2B5EF4-FFF2-40B4-BE49-F238E27FC236}">
                <a16:creationId xmlns:a16="http://schemas.microsoft.com/office/drawing/2014/main" id="{2575FC0C-0E49-4F90-92ED-5FC4C9488360}"/>
              </a:ext>
            </a:extLst>
          </p:cNvPr>
          <p:cNvGraphicFramePr>
            <a:graphicFrameLocks noGrp="1"/>
          </p:cNvGraphicFramePr>
          <p:nvPr>
            <p:ph type="tbl" sz="quarter" idx="13"/>
            <p:extLst>
              <p:ext uri="{D42A27DB-BD31-4B8C-83A1-F6EECF244321}">
                <p14:modId xmlns:p14="http://schemas.microsoft.com/office/powerpoint/2010/main" val="939329526"/>
              </p:ext>
            </p:extLst>
          </p:nvPr>
        </p:nvGraphicFramePr>
        <p:xfrm>
          <a:off x="916304" y="1089916"/>
          <a:ext cx="7313295" cy="1097280"/>
        </p:xfrm>
        <a:graphic>
          <a:graphicData uri="http://schemas.openxmlformats.org/drawingml/2006/table">
            <a:tbl>
              <a:tblPr firstRow="1"/>
              <a:tblGrid>
                <a:gridCol w="2784367">
                  <a:extLst>
                    <a:ext uri="{9D8B030D-6E8A-4147-A177-3AD203B41FA5}">
                      <a16:colId xmlns:a16="http://schemas.microsoft.com/office/drawing/2014/main" val="1715225585"/>
                    </a:ext>
                  </a:extLst>
                </a:gridCol>
                <a:gridCol w="4528928">
                  <a:extLst>
                    <a:ext uri="{9D8B030D-6E8A-4147-A177-3AD203B41FA5}">
                      <a16:colId xmlns:a16="http://schemas.microsoft.com/office/drawing/2014/main" val="848065021"/>
                    </a:ext>
                  </a:extLst>
                </a:gridCol>
              </a:tblGrid>
              <a:tr h="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Method</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extLst>
                  <a:ext uri="{0D108BD9-81ED-4DB2-BD59-A6C34878D82A}">
                    <a16:rowId xmlns:a16="http://schemas.microsoft.com/office/drawing/2014/main" val="3387718767"/>
                  </a:ext>
                </a:extLst>
              </a:tr>
              <a:tr h="0">
                <a:tc>
                  <a:txBody>
                    <a:bodyPr/>
                    <a:lstStyle/>
                    <a:p>
                      <a:pPr marL="0" marR="0" indent="0">
                        <a:spcBef>
                          <a:spcPts val="600"/>
                        </a:spcBef>
                        <a:spcAft>
                          <a:spcPts val="600"/>
                        </a:spcAft>
                        <a:tabLst>
                          <a:tab pos="800100" algn="l"/>
                          <a:tab pos="2514600" algn="l"/>
                          <a:tab pos="457200" algn="l"/>
                        </a:tabLst>
                      </a:pPr>
                      <a:r>
                        <a:rPr lang="en-US" sz="1600" b="1" dirty="0" err="1">
                          <a:solidFill>
                            <a:srgbClr val="000000"/>
                          </a:solidFill>
                          <a:effectLst/>
                          <a:latin typeface="Consolas" panose="020B0609020204030204" pitchFamily="49" charset="0"/>
                          <a:ea typeface="Times New Roman" panose="02020603050405020304" pitchFamily="18" charset="0"/>
                        </a:rPr>
                        <a:t>value_counts</a:t>
                      </a:r>
                      <a:r>
                        <a:rPr lang="en-US" sz="1600" b="1" dirty="0">
                          <a:solidFill>
                            <a:srgbClr val="000000"/>
                          </a:solidFill>
                          <a:effectLst/>
                          <a:latin typeface="Consolas" panose="020B0609020204030204" pitchFamily="49" charset="0"/>
                          <a:ea typeface="Times New Roman" panose="02020603050405020304" pitchFamily="18" charset="0"/>
                        </a:rPr>
                        <a:t>(params)</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Returns the count for each of the unique values in a series.</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2913955413"/>
                  </a:ext>
                </a:extLst>
              </a:tr>
            </a:tbl>
          </a:graphicData>
        </a:graphic>
      </p:graphicFrame>
      <p:sp>
        <p:nvSpPr>
          <p:cNvPr id="10" name="Text Placeholder 9">
            <a:extLst>
              <a:ext uri="{FF2B5EF4-FFF2-40B4-BE49-F238E27FC236}">
                <a16:creationId xmlns:a16="http://schemas.microsoft.com/office/drawing/2014/main" id="{16B79B2E-F227-4AB1-BACC-670D9173D336}"/>
              </a:ext>
            </a:extLst>
          </p:cNvPr>
          <p:cNvSpPr>
            <a:spLocks noGrp="1"/>
          </p:cNvSpPr>
          <p:nvPr>
            <p:ph type="body" sz="quarter" idx="17"/>
          </p:nvPr>
        </p:nvSpPr>
        <p:spPr>
          <a:xfrm>
            <a:off x="838200" y="2286000"/>
            <a:ext cx="7391400" cy="457200"/>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Parameters of 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value_counts</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a:t>
            </a:r>
            <a:endParaRPr lang="en-US" sz="2400" b="1" dirty="0">
              <a:solidFill>
                <a:srgbClr val="000099"/>
              </a:solidFill>
              <a:effectLst/>
              <a:latin typeface="Montserrat Medium"/>
              <a:ea typeface="Times New Roman" panose="02020603050405020304" pitchFamily="18" charset="0"/>
              <a:cs typeface="Times New Roman" panose="02020603050405020304" pitchFamily="18" charset="0"/>
            </a:endParaRPr>
          </a:p>
          <a:p>
            <a:endParaRPr lang="en-US" sz="2400" dirty="0"/>
          </a:p>
        </p:txBody>
      </p:sp>
      <p:graphicFrame>
        <p:nvGraphicFramePr>
          <p:cNvPr id="12" name="Table Placeholder 11">
            <a:extLst>
              <a:ext uri="{FF2B5EF4-FFF2-40B4-BE49-F238E27FC236}">
                <a16:creationId xmlns:a16="http://schemas.microsoft.com/office/drawing/2014/main" id="{2D3DB00A-4DAF-4F25-9FF6-FE90D38D2BD7}"/>
              </a:ext>
            </a:extLst>
          </p:cNvPr>
          <p:cNvGraphicFramePr>
            <a:graphicFrameLocks noGrp="1"/>
          </p:cNvGraphicFramePr>
          <p:nvPr>
            <p:ph type="tbl" sz="quarter" idx="14"/>
            <p:extLst>
              <p:ext uri="{D42A27DB-BD31-4B8C-83A1-F6EECF244321}">
                <p14:modId xmlns:p14="http://schemas.microsoft.com/office/powerpoint/2010/main" val="223212121"/>
              </p:ext>
            </p:extLst>
          </p:nvPr>
        </p:nvGraphicFramePr>
        <p:xfrm>
          <a:off x="916305" y="2842004"/>
          <a:ext cx="7313294" cy="1798320"/>
        </p:xfrm>
        <a:graphic>
          <a:graphicData uri="http://schemas.openxmlformats.org/drawingml/2006/table">
            <a:tbl>
              <a:tblPr firstRow="1"/>
              <a:tblGrid>
                <a:gridCol w="1802328">
                  <a:extLst>
                    <a:ext uri="{9D8B030D-6E8A-4147-A177-3AD203B41FA5}">
                      <a16:colId xmlns:a16="http://schemas.microsoft.com/office/drawing/2014/main" val="1983487201"/>
                    </a:ext>
                  </a:extLst>
                </a:gridCol>
                <a:gridCol w="5510966">
                  <a:extLst>
                    <a:ext uri="{9D8B030D-6E8A-4147-A177-3AD203B41FA5}">
                      <a16:colId xmlns:a16="http://schemas.microsoft.com/office/drawing/2014/main" val="658337860"/>
                    </a:ext>
                  </a:extLst>
                </a:gridCol>
              </a:tblGrid>
              <a:tr h="332299">
                <a:tc>
                  <a:txBody>
                    <a:bodyPr/>
                    <a:lstStyle/>
                    <a:p>
                      <a:pPr marL="0" marR="0">
                        <a:spcBef>
                          <a:spcPts val="600"/>
                        </a:spcBef>
                        <a:spcAft>
                          <a:spcPts val="600"/>
                        </a:spcAft>
                        <a:tabLst>
                          <a:tab pos="1828800" algn="l"/>
                          <a:tab pos="457200" algn="l"/>
                        </a:tabLst>
                      </a:pPr>
                      <a:r>
                        <a:rPr lang="en-US" sz="20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Parameter</a:t>
                      </a:r>
                      <a:endParaRPr lang="en-US" sz="2000" b="1" dirty="0">
                        <a:solidFill>
                          <a:srgbClr val="FFFFFF"/>
                        </a:solidFill>
                        <a:effectLst/>
                        <a:latin typeface="Montserrat Medium"/>
                        <a:ea typeface="Times New Roman" panose="02020603050405020304" pitchFamily="18" charset="0"/>
                        <a:cs typeface="Times New Roman" panose="02020603050405020304" pitchFamily="18" charset="0"/>
                      </a:endParaRPr>
                    </a:p>
                  </a:txBody>
                  <a:tcPr marL="73152" marR="73152">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dirty="0">
                        <a:solidFill>
                          <a:srgbClr val="FFFFFF"/>
                        </a:solidFill>
                        <a:effectLst/>
                        <a:latin typeface="Montserrat Medium"/>
                        <a:ea typeface="Times New Roman" panose="02020603050405020304" pitchFamily="18" charset="0"/>
                        <a:cs typeface="Times New Roman" panose="02020603050405020304" pitchFamily="18" charset="0"/>
                      </a:endParaRPr>
                    </a:p>
                  </a:txBody>
                  <a:tcPr marL="73152" marR="73152">
                    <a:lnL>
                      <a:noFill/>
                    </a:lnL>
                    <a:lnR>
                      <a:noFill/>
                    </a:lnR>
                    <a:lnT>
                      <a:noFill/>
                    </a:lnT>
                    <a:lnB>
                      <a:noFill/>
                    </a:lnB>
                    <a:solidFill>
                      <a:srgbClr val="3D87B7"/>
                    </a:solidFill>
                  </a:tcPr>
                </a:tc>
                <a:extLst>
                  <a:ext uri="{0D108BD9-81ED-4DB2-BD59-A6C34878D82A}">
                    <a16:rowId xmlns:a16="http://schemas.microsoft.com/office/drawing/2014/main" val="899291738"/>
                  </a:ext>
                </a:extLst>
              </a:tr>
              <a:tr h="587913">
                <a:tc>
                  <a:txBody>
                    <a:bodyPr/>
                    <a:lstStyle/>
                    <a:p>
                      <a:pPr marL="0" marR="0" indent="0">
                        <a:spcBef>
                          <a:spcPts val="600"/>
                        </a:spcBef>
                        <a:spcAft>
                          <a:spcPts val="600"/>
                        </a:spcAft>
                        <a:tabLst>
                          <a:tab pos="800100" algn="l"/>
                          <a:tab pos="25146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rPr>
                        <a:t>normalize</a:t>
                      </a:r>
                      <a:endParaRPr lang="en-US" sz="20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If True, returns the counts as a percent of the total rather than the actual counts.</a:t>
                      </a:r>
                      <a:endParaRPr lang="en-US" sz="20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1153122879"/>
                  </a:ext>
                </a:extLst>
              </a:tr>
              <a:tr h="587913">
                <a:tc>
                  <a:txBody>
                    <a:bodyPr/>
                    <a:lstStyle/>
                    <a:p>
                      <a:pPr marL="0" marR="0" indent="0">
                        <a:spcBef>
                          <a:spcPts val="600"/>
                        </a:spcBef>
                        <a:spcAft>
                          <a:spcPts val="600"/>
                        </a:spcAft>
                        <a:tabLst>
                          <a:tab pos="800100" algn="l"/>
                          <a:tab pos="2514600" algn="l"/>
                          <a:tab pos="457200" algn="l"/>
                        </a:tabLst>
                      </a:pPr>
                      <a:r>
                        <a:rPr lang="en-US" sz="1600" b="1" dirty="0" err="1">
                          <a:solidFill>
                            <a:srgbClr val="000000"/>
                          </a:solidFill>
                          <a:effectLst/>
                          <a:latin typeface="Consolas" panose="020B0609020204030204" pitchFamily="49" charset="0"/>
                          <a:ea typeface="Times New Roman" panose="02020603050405020304" pitchFamily="18" charset="0"/>
                        </a:rPr>
                        <a:t>dropna</a:t>
                      </a:r>
                      <a:endParaRPr lang="en-US" sz="20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If True (the default), it ignores null values. Can only be used with Series objects.</a:t>
                      </a:r>
                      <a:endParaRPr lang="en-US" sz="20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1955177106"/>
                  </a:ext>
                </a:extLst>
              </a:tr>
            </a:tbl>
          </a:graphicData>
        </a:graphic>
      </p:graphicFrame>
      <p:sp>
        <p:nvSpPr>
          <p:cNvPr id="4" name="Date Placeholder 3">
            <a:extLst>
              <a:ext uri="{FF2B5EF4-FFF2-40B4-BE49-F238E27FC236}">
                <a16:creationId xmlns:a16="http://schemas.microsoft.com/office/drawing/2014/main" id="{2CC32B5E-489D-4A16-AE1E-A48D9A89CBE7}"/>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672A7569-85DC-40E4-B914-3BD122999D56}"/>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783CA9DB-6676-49E6-A6A9-C265785C08AC}"/>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14</a:t>
            </a:fld>
            <a:endParaRPr lang="en-US" dirty="0">
              <a:solidFill>
                <a:schemeClr val="bg1"/>
              </a:solidFill>
            </a:endParaRPr>
          </a:p>
        </p:txBody>
      </p:sp>
    </p:spTree>
    <p:extLst>
      <p:ext uri="{BB962C8B-B14F-4D97-AF65-F5344CB8AC3E}">
        <p14:creationId xmlns:p14="http://schemas.microsoft.com/office/powerpoint/2010/main" val="39651150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4D80A-8C29-4ACB-850B-59E2C303E832}"/>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use 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value_counts</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a:t>
            </a:r>
            <a:endParaRPr lang="en-US" dirty="0"/>
          </a:p>
        </p:txBody>
      </p:sp>
      <p:sp>
        <p:nvSpPr>
          <p:cNvPr id="3" name="Text Placeholder 2">
            <a:extLst>
              <a:ext uri="{FF2B5EF4-FFF2-40B4-BE49-F238E27FC236}">
                <a16:creationId xmlns:a16="http://schemas.microsoft.com/office/drawing/2014/main" id="{D27B46C6-957A-4E89-A0E2-85F7F6BD0D96}"/>
              </a:ext>
            </a:extLst>
          </p:cNvPr>
          <p:cNvSpPr>
            <a:spLocks noGrp="1"/>
          </p:cNvSpPr>
          <p:nvPr>
            <p:ph type="body" sz="quarter" idx="13"/>
          </p:nvPr>
        </p:nvSpPr>
        <p:spPr/>
        <p:txBody>
          <a:bodyPr/>
          <a:lstStyle/>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polls.state.value_counts</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().head(4)</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U.S.              3318</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Florida            444</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Pennsylvania       375</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North Carolina     375</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Name: state,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dtype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int64</a:t>
            </a:r>
          </a:p>
          <a:p>
            <a:endParaRPr lang="en-US" sz="1600" dirty="0"/>
          </a:p>
        </p:txBody>
      </p:sp>
      <p:sp>
        <p:nvSpPr>
          <p:cNvPr id="4" name="Date Placeholder 3">
            <a:extLst>
              <a:ext uri="{FF2B5EF4-FFF2-40B4-BE49-F238E27FC236}">
                <a16:creationId xmlns:a16="http://schemas.microsoft.com/office/drawing/2014/main" id="{FE0BE4FE-FACF-4472-B9F9-4BC4CD08BF53}"/>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2830E6D3-C079-4394-82AC-7CF0EDF427C2}"/>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90591E4C-D8F3-45BB-B1BB-CFC374DB6D85}"/>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15</a:t>
            </a:fld>
            <a:endParaRPr lang="en-US" dirty="0">
              <a:solidFill>
                <a:schemeClr val="bg1"/>
              </a:solidFill>
            </a:endParaRPr>
          </a:p>
        </p:txBody>
      </p:sp>
    </p:spTree>
    <p:extLst>
      <p:ext uri="{BB962C8B-B14F-4D97-AF65-F5344CB8AC3E}">
        <p14:creationId xmlns:p14="http://schemas.microsoft.com/office/powerpoint/2010/main" val="2803467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3EFF8-428B-4868-ABAE-5AF595E2BE9C}"/>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use the normalize parameter</a:t>
            </a:r>
            <a:endParaRPr lang="en-US" dirty="0"/>
          </a:p>
        </p:txBody>
      </p:sp>
      <p:sp>
        <p:nvSpPr>
          <p:cNvPr id="3" name="Text Placeholder 2">
            <a:extLst>
              <a:ext uri="{FF2B5EF4-FFF2-40B4-BE49-F238E27FC236}">
                <a16:creationId xmlns:a16="http://schemas.microsoft.com/office/drawing/2014/main" id="{9E1A9829-751A-44DD-B2AC-D04DAC0C6345}"/>
              </a:ext>
            </a:extLst>
          </p:cNvPr>
          <p:cNvSpPr>
            <a:spLocks noGrp="1"/>
          </p:cNvSpPr>
          <p:nvPr>
            <p:ph type="body" sz="quarter" idx="13"/>
          </p:nvPr>
        </p:nvSpPr>
        <p:spPr/>
        <p:txBody>
          <a:bodyPr/>
          <a:lstStyle/>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polls.state.value_counts</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(normalize=True).head(4)</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U.S.              0.262833</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Florida           0.035171</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Pennsylvania      0.029705</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North Carolina    0.029705</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Name: state,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dtype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float64</a:t>
            </a:r>
          </a:p>
          <a:p>
            <a:endParaRPr lang="en-US" sz="1600" dirty="0"/>
          </a:p>
        </p:txBody>
      </p:sp>
      <p:sp>
        <p:nvSpPr>
          <p:cNvPr id="4" name="Date Placeholder 3">
            <a:extLst>
              <a:ext uri="{FF2B5EF4-FFF2-40B4-BE49-F238E27FC236}">
                <a16:creationId xmlns:a16="http://schemas.microsoft.com/office/drawing/2014/main" id="{9E806F4E-DE44-46EC-B672-221B54A539FD}"/>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5659301F-34B4-435C-A24C-270DA6678587}"/>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2E0ED0EF-12D8-4E71-9FAD-705F9DAC359E}"/>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16</a:t>
            </a:fld>
            <a:endParaRPr lang="en-US" dirty="0">
              <a:solidFill>
                <a:schemeClr val="bg1"/>
              </a:solidFill>
            </a:endParaRPr>
          </a:p>
        </p:txBody>
      </p:sp>
    </p:spTree>
    <p:extLst>
      <p:ext uri="{BB962C8B-B14F-4D97-AF65-F5344CB8AC3E}">
        <p14:creationId xmlns:p14="http://schemas.microsoft.com/office/powerpoint/2010/main" val="1198796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48426-C05F-4CAB-AF34-AD400BBAC650}"/>
              </a:ext>
            </a:extLst>
          </p:cNvPr>
          <p:cNvSpPr>
            <a:spLocks noGrp="1"/>
          </p:cNvSpPr>
          <p:nvPr>
            <p:ph type="title"/>
          </p:nvPr>
        </p:nvSpPr>
        <p:spPr>
          <a:xfrm>
            <a:off x="914400" y="624989"/>
            <a:ext cx="7315200" cy="369332"/>
          </a:xfrm>
        </p:spPr>
        <p:txBody>
          <a:bodyPr/>
          <a:lstStyle/>
          <a:p>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use 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dropna</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parameter</a:t>
            </a:r>
            <a:endParaRPr lang="en-US" dirty="0"/>
          </a:p>
        </p:txBody>
      </p:sp>
      <p:sp>
        <p:nvSpPr>
          <p:cNvPr id="3" name="Text Placeholder 2">
            <a:extLst>
              <a:ext uri="{FF2B5EF4-FFF2-40B4-BE49-F238E27FC236}">
                <a16:creationId xmlns:a16="http://schemas.microsoft.com/office/drawing/2014/main" id="{BCC5032A-4578-4EAA-88B8-93953B04CCF3}"/>
              </a:ext>
            </a:extLst>
          </p:cNvPr>
          <p:cNvSpPr>
            <a:spLocks noGrp="1"/>
          </p:cNvSpPr>
          <p:nvPr>
            <p:ph type="body" sz="quarter" idx="13"/>
          </p:nvPr>
        </p:nvSpPr>
        <p:spPr/>
        <p:txBody>
          <a:bodyPr/>
          <a:lstStyle/>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polls.multiversions.value_counts</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dropna</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=False)</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NaN</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12588</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36</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Name: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multiversions</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dtype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int64</a:t>
            </a:r>
          </a:p>
          <a:p>
            <a:endParaRPr lang="en-US" dirty="0"/>
          </a:p>
        </p:txBody>
      </p:sp>
      <p:sp>
        <p:nvSpPr>
          <p:cNvPr id="4" name="Date Placeholder 3">
            <a:extLst>
              <a:ext uri="{FF2B5EF4-FFF2-40B4-BE49-F238E27FC236}">
                <a16:creationId xmlns:a16="http://schemas.microsoft.com/office/drawing/2014/main" id="{D8D96450-25DD-455D-8A2B-EECB17CA3C47}"/>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37F6E3CF-7038-4DD3-9C3A-A3B22135EC17}"/>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8EEC27CD-4E73-41B2-AFA2-8D661F3FA3D8}"/>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17</a:t>
            </a:fld>
            <a:endParaRPr lang="en-US" dirty="0">
              <a:solidFill>
                <a:schemeClr val="bg1"/>
              </a:solidFill>
            </a:endParaRPr>
          </a:p>
        </p:txBody>
      </p:sp>
    </p:spTree>
    <p:extLst>
      <p:ext uri="{BB962C8B-B14F-4D97-AF65-F5344CB8AC3E}">
        <p14:creationId xmlns:p14="http://schemas.microsoft.com/office/powerpoint/2010/main" val="404386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E54FE-8884-45EF-B15D-AAF9F44BFEC5}"/>
              </a:ext>
            </a:extLst>
          </p:cNvPr>
          <p:cNvSpPr>
            <a:spLocks noGrp="1"/>
          </p:cNvSpPr>
          <p:nvPr>
            <p:ph type="title"/>
          </p:nvPr>
        </p:nvSpPr>
        <p:spPr>
          <a:xfrm>
            <a:off x="914400" y="440323"/>
            <a:ext cx="7315200" cy="738664"/>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use 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value_counts</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with multiple columns</a:t>
            </a:r>
            <a:endParaRPr lang="en-US" dirty="0"/>
          </a:p>
        </p:txBody>
      </p:sp>
      <p:sp>
        <p:nvSpPr>
          <p:cNvPr id="3" name="Text Placeholder 2">
            <a:extLst>
              <a:ext uri="{FF2B5EF4-FFF2-40B4-BE49-F238E27FC236}">
                <a16:creationId xmlns:a16="http://schemas.microsoft.com/office/drawing/2014/main" id="{A8EBF475-B80D-4ADE-A558-D9DB4BFBE5BB}"/>
              </a:ext>
            </a:extLst>
          </p:cNvPr>
          <p:cNvSpPr>
            <a:spLocks noGrp="1"/>
          </p:cNvSpPr>
          <p:nvPr>
            <p:ph type="body" sz="quarter" idx="13"/>
          </p:nvPr>
        </p:nvSpPr>
        <p:spPr>
          <a:xfrm>
            <a:off x="838200" y="1219200"/>
            <a:ext cx="7391400" cy="4876800"/>
          </a:xfrm>
        </p:spPr>
        <p:txBody>
          <a:bodyPr/>
          <a:lstStyle/>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polls[['</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state','grade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value_counts</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228600" marR="0">
              <a:spcBef>
                <a:spcPts val="0"/>
              </a:spcBef>
              <a:spcAft>
                <a:spcPts val="0"/>
              </a:spcAft>
              <a:tabLst>
                <a:tab pos="1371600" algn="l"/>
              </a:tabLst>
            </a:pP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 =======================================</a:t>
            </a:r>
          </a:p>
          <a:p>
            <a:pPr marL="228600" marR="0">
              <a:spcBef>
                <a:spcPts val="0"/>
              </a:spcBef>
              <a:spcAft>
                <a:spcPts val="0"/>
              </a:spcAft>
              <a:tabLst>
                <a:tab pos="1371600" algn="l"/>
              </a:tabLst>
            </a:pP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 state          grade</a:t>
            </a:r>
          </a:p>
          <a:p>
            <a:pPr marL="228600" marR="0">
              <a:spcBef>
                <a:spcPts val="0"/>
              </a:spcBef>
              <a:spcAft>
                <a:spcPts val="0"/>
              </a:spcAft>
              <a:tabLst>
                <a:tab pos="1371600" algn="l"/>
              </a:tabLst>
            </a:pP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 U.S.           A-       1215</a:t>
            </a:r>
          </a:p>
          <a:p>
            <a:pPr marL="228600" marR="0">
              <a:spcBef>
                <a:spcPts val="0"/>
              </a:spcBef>
              <a:spcAft>
                <a:spcPts val="0"/>
              </a:spcAft>
              <a:tabLst>
                <a:tab pos="1371600" algn="l"/>
              </a:tabLst>
            </a:pP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                C+        546</a:t>
            </a:r>
          </a:p>
          <a:p>
            <a:pPr marL="228600" marR="0">
              <a:spcBef>
                <a:spcPts val="0"/>
              </a:spcBef>
              <a:spcAft>
                <a:spcPts val="0"/>
              </a:spcAft>
              <a:tabLst>
                <a:tab pos="1371600" algn="l"/>
              </a:tabLst>
            </a:pP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                B         162</a:t>
            </a:r>
          </a:p>
          <a:p>
            <a:pPr marL="228600" marR="0">
              <a:spcBef>
                <a:spcPts val="0"/>
              </a:spcBef>
              <a:spcAft>
                <a:spcPts val="0"/>
              </a:spcAft>
              <a:tabLst>
                <a:tab pos="1371600" algn="l"/>
              </a:tabLst>
            </a:pP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                C-        126</a:t>
            </a:r>
          </a:p>
          <a:p>
            <a:pPr marL="228600" marR="0">
              <a:spcBef>
                <a:spcPts val="0"/>
              </a:spcBef>
              <a:spcAft>
                <a:spcPts val="0"/>
              </a:spcAft>
              <a:tabLst>
                <a:tab pos="1371600" algn="l"/>
              </a:tabLst>
            </a:pP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                A+        114</a:t>
            </a:r>
          </a:p>
          <a:p>
            <a:pPr marL="228600" marR="0">
              <a:spcBef>
                <a:spcPts val="0"/>
              </a:spcBef>
              <a:spcAft>
                <a:spcPts val="0"/>
              </a:spcAft>
              <a:tabLst>
                <a:tab pos="1371600" algn="l"/>
              </a:tabLst>
            </a:pP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                          ... </a:t>
            </a:r>
          </a:p>
          <a:p>
            <a:pPr marL="228600" marR="0">
              <a:spcBef>
                <a:spcPts val="0"/>
              </a:spcBef>
              <a:spcAft>
                <a:spcPts val="0"/>
              </a:spcAft>
              <a:tabLst>
                <a:tab pos="1371600" algn="l"/>
              </a:tabLst>
            </a:pP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 Nebraska CD-1  B           3</a:t>
            </a:r>
          </a:p>
          <a:p>
            <a:pPr marL="228600" marR="0">
              <a:spcBef>
                <a:spcPts val="0"/>
              </a:spcBef>
              <a:spcAft>
                <a:spcPts val="0"/>
              </a:spcAft>
              <a:tabLst>
                <a:tab pos="1371600" algn="l"/>
              </a:tabLst>
            </a:pP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 Indiana        A           3</a:t>
            </a:r>
          </a:p>
          <a:p>
            <a:pPr marL="228600" marR="0">
              <a:spcBef>
                <a:spcPts val="0"/>
              </a:spcBef>
              <a:spcAft>
                <a:spcPts val="0"/>
              </a:spcAft>
              <a:tabLst>
                <a:tab pos="1371600" algn="l"/>
              </a:tabLst>
            </a:pP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 Nebraska CD-2  B           3</a:t>
            </a:r>
          </a:p>
          <a:p>
            <a:pPr marL="228600" marR="0">
              <a:spcBef>
                <a:spcPts val="0"/>
              </a:spcBef>
              <a:spcAft>
                <a:spcPts val="0"/>
              </a:spcAft>
              <a:tabLst>
                <a:tab pos="1371600" algn="l"/>
              </a:tabLst>
            </a:pP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 Missouri       A           3</a:t>
            </a:r>
          </a:p>
          <a:p>
            <a:pPr marL="228600" marR="0">
              <a:spcBef>
                <a:spcPts val="0"/>
              </a:spcBef>
              <a:spcAft>
                <a:spcPts val="0"/>
              </a:spcAft>
              <a:tabLst>
                <a:tab pos="1371600" algn="l"/>
              </a:tabLst>
            </a:pP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 Mississippi    C           3</a:t>
            </a:r>
          </a:p>
          <a:p>
            <a:pPr marL="228600" marR="0">
              <a:spcBef>
                <a:spcPts val="0"/>
              </a:spcBef>
              <a:spcAft>
                <a:spcPts val="0"/>
              </a:spcAft>
              <a:tabLst>
                <a:tab pos="1371600" algn="l"/>
              </a:tabLst>
            </a:pP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 Name: count, Length: 321, </a:t>
            </a:r>
            <a:r>
              <a:rPr lang="en-US" sz="1800" b="1" dirty="0" err="1">
                <a:effectLst/>
                <a:latin typeface="Consolas" panose="020B0609020204030204" pitchFamily="49" charset="0"/>
                <a:ea typeface="Times New Roman" panose="02020603050405020304" pitchFamily="18" charset="0"/>
                <a:cs typeface="Times New Roman" panose="02020603050405020304" pitchFamily="18" charset="0"/>
              </a:rPr>
              <a:t>dtype</a:t>
            </a: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 int64</a:t>
            </a:r>
          </a:p>
          <a:p>
            <a:endParaRPr lang="en-US" sz="1600" dirty="0"/>
          </a:p>
        </p:txBody>
      </p:sp>
      <p:sp>
        <p:nvSpPr>
          <p:cNvPr id="4" name="Date Placeholder 3">
            <a:extLst>
              <a:ext uri="{FF2B5EF4-FFF2-40B4-BE49-F238E27FC236}">
                <a16:creationId xmlns:a16="http://schemas.microsoft.com/office/drawing/2014/main" id="{0B6DDBC8-5995-4391-BA4B-5731DD66A292}"/>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AB88F838-40A7-4B18-878A-21D19019B369}"/>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C6DAB6C8-3F04-43CD-B79F-CD478113A81D}"/>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18</a:t>
            </a:fld>
            <a:endParaRPr lang="en-US" dirty="0">
              <a:solidFill>
                <a:schemeClr val="bg1"/>
              </a:solidFill>
            </a:endParaRPr>
          </a:p>
        </p:txBody>
      </p:sp>
    </p:spTree>
    <p:extLst>
      <p:ext uri="{BB962C8B-B14F-4D97-AF65-F5344CB8AC3E}">
        <p14:creationId xmlns:p14="http://schemas.microsoft.com/office/powerpoint/2010/main" val="8088854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C55B2-14A8-4BC0-B225-3C2F535B7AE3}"/>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drop rows based on conditions</a:t>
            </a:r>
            <a:endParaRPr lang="en-US" dirty="0"/>
          </a:p>
        </p:txBody>
      </p:sp>
      <p:sp>
        <p:nvSpPr>
          <p:cNvPr id="3" name="Text Placeholder 2">
            <a:extLst>
              <a:ext uri="{FF2B5EF4-FFF2-40B4-BE49-F238E27FC236}">
                <a16:creationId xmlns:a16="http://schemas.microsoft.com/office/drawing/2014/main" id="{EAB5BD36-851D-470F-B850-40CB864B94AF}"/>
              </a:ext>
            </a:extLst>
          </p:cNvPr>
          <p:cNvSpPr>
            <a:spLocks noGrp="1"/>
          </p:cNvSpPr>
          <p:nvPr>
            <p:ph type="body" sz="quarter" idx="13"/>
          </p:nvPr>
        </p:nvSpPr>
        <p:spPr/>
        <p:txBody>
          <a:bodyPr/>
          <a:lstStyle/>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By directly accessing a column</a:t>
            </a:r>
            <a:endParaRPr lang="en-US" b="1" spc="-10" dirty="0">
              <a:solidFill>
                <a:srgbClr val="000099"/>
              </a:solidFill>
              <a:effectLst/>
              <a:latin typeface="Montserrat Medium"/>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polls = polls[</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polls.type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 'now-cast']</a:t>
            </a:r>
          </a:p>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With the query() method</a:t>
            </a:r>
            <a:endParaRPr lang="en-US" b="1" spc="-10" dirty="0">
              <a:solidFill>
                <a:srgbClr val="000099"/>
              </a:solidFill>
              <a:effectLst/>
              <a:latin typeface="Montserrat Medium"/>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polls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polls.query</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('type == "now-cast"')</a:t>
            </a:r>
          </a:p>
          <a:p>
            <a:endParaRPr lang="en-US" sz="1600" dirty="0"/>
          </a:p>
        </p:txBody>
      </p:sp>
      <p:sp>
        <p:nvSpPr>
          <p:cNvPr id="4" name="Date Placeholder 3">
            <a:extLst>
              <a:ext uri="{FF2B5EF4-FFF2-40B4-BE49-F238E27FC236}">
                <a16:creationId xmlns:a16="http://schemas.microsoft.com/office/drawing/2014/main" id="{F8A91FF1-782F-4AE6-8FBA-9B7048B5F6AB}"/>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267EE037-D2A8-44E4-8CE4-E640D35453F9}"/>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BF777E55-A0DA-4BA4-89E3-33C647B6E7D3}"/>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19</a:t>
            </a:fld>
            <a:endParaRPr lang="en-US" dirty="0">
              <a:solidFill>
                <a:schemeClr val="bg1"/>
              </a:solidFill>
            </a:endParaRPr>
          </a:p>
        </p:txBody>
      </p:sp>
    </p:spTree>
    <p:extLst>
      <p:ext uri="{BB962C8B-B14F-4D97-AF65-F5344CB8AC3E}">
        <p14:creationId xmlns:p14="http://schemas.microsoft.com/office/powerpoint/2010/main" val="34887908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68266C3-4DC4-4238-9870-0DF35560BF2A}"/>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duplicated() method</a:t>
            </a:r>
            <a:endParaRPr lang="en-US" dirty="0"/>
          </a:p>
        </p:txBody>
      </p:sp>
      <p:graphicFrame>
        <p:nvGraphicFramePr>
          <p:cNvPr id="11" name="Table Placeholder 10">
            <a:extLst>
              <a:ext uri="{FF2B5EF4-FFF2-40B4-BE49-F238E27FC236}">
                <a16:creationId xmlns:a16="http://schemas.microsoft.com/office/drawing/2014/main" id="{010DBBE4-A0B3-4E7C-B197-A4860FE4B258}"/>
              </a:ext>
            </a:extLst>
          </p:cNvPr>
          <p:cNvGraphicFramePr>
            <a:graphicFrameLocks noGrp="1"/>
          </p:cNvGraphicFramePr>
          <p:nvPr>
            <p:ph type="tbl" sz="quarter" idx="13"/>
            <p:extLst>
              <p:ext uri="{D42A27DB-BD31-4B8C-83A1-F6EECF244321}">
                <p14:modId xmlns:p14="http://schemas.microsoft.com/office/powerpoint/2010/main" val="2619933741"/>
              </p:ext>
            </p:extLst>
          </p:nvPr>
        </p:nvGraphicFramePr>
        <p:xfrm>
          <a:off x="914400" y="1143000"/>
          <a:ext cx="5497830" cy="792480"/>
        </p:xfrm>
        <a:graphic>
          <a:graphicData uri="http://schemas.openxmlformats.org/drawingml/2006/table">
            <a:tbl>
              <a:tblPr firstRow="1"/>
              <a:tblGrid>
                <a:gridCol w="2526030">
                  <a:extLst>
                    <a:ext uri="{9D8B030D-6E8A-4147-A177-3AD203B41FA5}">
                      <a16:colId xmlns:a16="http://schemas.microsoft.com/office/drawing/2014/main" val="3243933903"/>
                    </a:ext>
                  </a:extLst>
                </a:gridCol>
                <a:gridCol w="2971800">
                  <a:extLst>
                    <a:ext uri="{9D8B030D-6E8A-4147-A177-3AD203B41FA5}">
                      <a16:colId xmlns:a16="http://schemas.microsoft.com/office/drawing/2014/main" val="4065332031"/>
                    </a:ext>
                  </a:extLst>
                </a:gridCol>
              </a:tblGrid>
              <a:tr h="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Method</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nchor="ctr">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nchor="ctr">
                    <a:lnL>
                      <a:noFill/>
                    </a:lnL>
                    <a:lnR>
                      <a:noFill/>
                    </a:lnR>
                    <a:lnT>
                      <a:noFill/>
                    </a:lnT>
                    <a:lnB>
                      <a:noFill/>
                    </a:lnB>
                    <a:solidFill>
                      <a:srgbClr val="3D87B7"/>
                    </a:solidFill>
                  </a:tcPr>
                </a:tc>
                <a:extLst>
                  <a:ext uri="{0D108BD9-81ED-4DB2-BD59-A6C34878D82A}">
                    <a16:rowId xmlns:a16="http://schemas.microsoft.com/office/drawing/2014/main" val="187572578"/>
                  </a:ext>
                </a:extLst>
              </a:tr>
              <a:tr h="0">
                <a:tc>
                  <a:txBody>
                    <a:bodyPr/>
                    <a:lstStyle/>
                    <a:p>
                      <a:pPr marL="0" marR="0" indent="0">
                        <a:spcBef>
                          <a:spcPts val="600"/>
                        </a:spcBef>
                        <a:spcAft>
                          <a:spcPts val="600"/>
                        </a:spcAft>
                        <a:tabLst>
                          <a:tab pos="800100" algn="l"/>
                          <a:tab pos="25146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duplicated(params)</a:t>
                      </a:r>
                      <a:endParaRPr lang="en-US" sz="2000" dirty="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Identifies duplicated rows.</a:t>
                      </a:r>
                      <a:endParaRPr lang="en-US" sz="2000" dirty="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extLst>
                  <a:ext uri="{0D108BD9-81ED-4DB2-BD59-A6C34878D82A}">
                    <a16:rowId xmlns:a16="http://schemas.microsoft.com/office/drawing/2014/main" val="185148111"/>
                  </a:ext>
                </a:extLst>
              </a:tr>
            </a:tbl>
          </a:graphicData>
        </a:graphic>
      </p:graphicFrame>
      <p:sp>
        <p:nvSpPr>
          <p:cNvPr id="10" name="Text Placeholder 9">
            <a:extLst>
              <a:ext uri="{FF2B5EF4-FFF2-40B4-BE49-F238E27FC236}">
                <a16:creationId xmlns:a16="http://schemas.microsoft.com/office/drawing/2014/main" id="{2ABDE5C3-4100-4EE1-B103-F7BDBADB59C1}"/>
              </a:ext>
            </a:extLst>
          </p:cNvPr>
          <p:cNvSpPr>
            <a:spLocks noGrp="1"/>
          </p:cNvSpPr>
          <p:nvPr>
            <p:ph type="body" sz="quarter" idx="17"/>
          </p:nvPr>
        </p:nvSpPr>
        <p:spPr>
          <a:xfrm>
            <a:off x="838200" y="2073780"/>
            <a:ext cx="7391400" cy="517020"/>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Parameters of the duplicated() method</a:t>
            </a:r>
            <a:endParaRPr lang="en-US" sz="2400" b="1" dirty="0">
              <a:solidFill>
                <a:srgbClr val="000099"/>
              </a:solidFill>
              <a:effectLst/>
              <a:latin typeface="Montserrat Medium"/>
              <a:ea typeface="Times New Roman" panose="02020603050405020304" pitchFamily="18" charset="0"/>
              <a:cs typeface="Times New Roman" panose="02020603050405020304" pitchFamily="18" charset="0"/>
            </a:endParaRPr>
          </a:p>
          <a:p>
            <a:endParaRPr lang="en-US" sz="2400" dirty="0"/>
          </a:p>
        </p:txBody>
      </p:sp>
      <p:graphicFrame>
        <p:nvGraphicFramePr>
          <p:cNvPr id="12" name="Table Placeholder 11">
            <a:extLst>
              <a:ext uri="{FF2B5EF4-FFF2-40B4-BE49-F238E27FC236}">
                <a16:creationId xmlns:a16="http://schemas.microsoft.com/office/drawing/2014/main" id="{00F475D1-D750-4300-9922-147FCA48AAA4}"/>
              </a:ext>
            </a:extLst>
          </p:cNvPr>
          <p:cNvGraphicFramePr>
            <a:graphicFrameLocks noGrp="1"/>
          </p:cNvGraphicFramePr>
          <p:nvPr>
            <p:ph type="tbl" sz="quarter" idx="14"/>
            <p:extLst>
              <p:ext uri="{D42A27DB-BD31-4B8C-83A1-F6EECF244321}">
                <p14:modId xmlns:p14="http://schemas.microsoft.com/office/powerpoint/2010/main" val="2943950285"/>
              </p:ext>
            </p:extLst>
          </p:nvPr>
        </p:nvGraphicFramePr>
        <p:xfrm>
          <a:off x="914400" y="2571390"/>
          <a:ext cx="7315200" cy="2712720"/>
        </p:xfrm>
        <a:graphic>
          <a:graphicData uri="http://schemas.openxmlformats.org/drawingml/2006/table">
            <a:tbl>
              <a:tblPr firstRow="1"/>
              <a:tblGrid>
                <a:gridCol w="1638066">
                  <a:extLst>
                    <a:ext uri="{9D8B030D-6E8A-4147-A177-3AD203B41FA5}">
                      <a16:colId xmlns:a16="http://schemas.microsoft.com/office/drawing/2014/main" val="2497011723"/>
                    </a:ext>
                  </a:extLst>
                </a:gridCol>
                <a:gridCol w="5677134">
                  <a:extLst>
                    <a:ext uri="{9D8B030D-6E8A-4147-A177-3AD203B41FA5}">
                      <a16:colId xmlns:a16="http://schemas.microsoft.com/office/drawing/2014/main" val="768633115"/>
                    </a:ext>
                  </a:extLst>
                </a:gridCol>
              </a:tblGrid>
              <a:tr h="248172">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Parameter</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73152" marR="73152">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dirty="0">
                        <a:solidFill>
                          <a:srgbClr val="FFFFFF"/>
                        </a:solidFill>
                        <a:effectLst/>
                        <a:latin typeface="Montserrat Medium"/>
                        <a:ea typeface="Times New Roman" panose="02020603050405020304" pitchFamily="18" charset="0"/>
                        <a:cs typeface="Times New Roman" panose="02020603050405020304" pitchFamily="18" charset="0"/>
                      </a:endParaRPr>
                    </a:p>
                  </a:txBody>
                  <a:tcPr marL="73152" marR="73152">
                    <a:lnL>
                      <a:noFill/>
                    </a:lnL>
                    <a:lnR>
                      <a:noFill/>
                    </a:lnR>
                    <a:lnT>
                      <a:noFill/>
                    </a:lnT>
                    <a:lnB>
                      <a:noFill/>
                    </a:lnB>
                    <a:solidFill>
                      <a:srgbClr val="3D87B7"/>
                    </a:solidFill>
                  </a:tcPr>
                </a:tc>
                <a:extLst>
                  <a:ext uri="{0D108BD9-81ED-4DB2-BD59-A6C34878D82A}">
                    <a16:rowId xmlns:a16="http://schemas.microsoft.com/office/drawing/2014/main" val="568704746"/>
                  </a:ext>
                </a:extLst>
              </a:tr>
              <a:tr h="439074">
                <a:tc>
                  <a:txBody>
                    <a:bodyPr/>
                    <a:lstStyle/>
                    <a:p>
                      <a:pPr marL="0" marR="0" indent="0">
                        <a:spcBef>
                          <a:spcPts val="600"/>
                        </a:spcBef>
                        <a:spcAft>
                          <a:spcPts val="600"/>
                        </a:spcAft>
                        <a:tabLst>
                          <a:tab pos="800100" algn="l"/>
                          <a:tab pos="25146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subset</a:t>
                      </a:r>
                      <a:endParaRPr lang="en-US" sz="24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List of columns to be used for identifying duplicates; otherwise, all columns are used.</a:t>
                      </a:r>
                      <a:endParaRPr lang="en-US" sz="20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2145138462"/>
                  </a:ext>
                </a:extLst>
              </a:tr>
              <a:tr h="820878">
                <a:tc>
                  <a:txBody>
                    <a:bodyPr/>
                    <a:lstStyle/>
                    <a:p>
                      <a:pPr marL="0" marR="0" indent="0">
                        <a:spcBef>
                          <a:spcPts val="600"/>
                        </a:spcBef>
                        <a:spcAft>
                          <a:spcPts val="600"/>
                        </a:spcAft>
                        <a:tabLst>
                          <a:tab pos="800100" algn="l"/>
                          <a:tab pos="25146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keep</a:t>
                      </a:r>
                      <a:endParaRPr lang="en-US" sz="24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If ‘first’ (the default), all duplicates are marked as True except for the first occurrence in each set. If ‘last’, all duplicates are marked as True except for the last occurrence. If False, all duplicates are marked as True.</a:t>
                      </a:r>
                      <a:endParaRPr lang="en-US" sz="20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3503493146"/>
                  </a:ext>
                </a:extLst>
              </a:tr>
            </a:tbl>
          </a:graphicData>
        </a:graphic>
      </p:graphicFrame>
      <p:sp>
        <p:nvSpPr>
          <p:cNvPr id="4" name="Date Placeholder 3">
            <a:extLst>
              <a:ext uri="{FF2B5EF4-FFF2-40B4-BE49-F238E27FC236}">
                <a16:creationId xmlns:a16="http://schemas.microsoft.com/office/drawing/2014/main" id="{EDE2056C-8FC3-4DA5-BC2F-A13229904058}"/>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C3FBECFF-FF5D-4642-A0F5-1D23C4D75491}"/>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5EAA4E4B-0020-4061-BE97-58BB55628BA1}"/>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20</a:t>
            </a:fld>
            <a:endParaRPr lang="en-US" dirty="0">
              <a:solidFill>
                <a:schemeClr val="bg1"/>
              </a:solidFill>
            </a:endParaRPr>
          </a:p>
        </p:txBody>
      </p:sp>
    </p:spTree>
    <p:extLst>
      <p:ext uri="{BB962C8B-B14F-4D97-AF65-F5344CB8AC3E}">
        <p14:creationId xmlns:p14="http://schemas.microsoft.com/office/powerpoint/2010/main" val="8866319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9F4EA74-BCE5-4AC4-AF3C-0DB66CB8C590}"/>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drop_duplicates</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a:t>
            </a:r>
            <a:endParaRPr lang="en-US" dirty="0"/>
          </a:p>
        </p:txBody>
      </p:sp>
      <p:graphicFrame>
        <p:nvGraphicFramePr>
          <p:cNvPr id="11" name="Table Placeholder 10">
            <a:extLst>
              <a:ext uri="{FF2B5EF4-FFF2-40B4-BE49-F238E27FC236}">
                <a16:creationId xmlns:a16="http://schemas.microsoft.com/office/drawing/2014/main" id="{F3F4A11B-D1FC-4254-9B81-5EE7AEA62629}"/>
              </a:ext>
            </a:extLst>
          </p:cNvPr>
          <p:cNvGraphicFramePr>
            <a:graphicFrameLocks noGrp="1"/>
          </p:cNvGraphicFramePr>
          <p:nvPr>
            <p:ph type="tbl" sz="quarter" idx="13"/>
            <p:extLst>
              <p:ext uri="{D42A27DB-BD31-4B8C-83A1-F6EECF244321}">
                <p14:modId xmlns:p14="http://schemas.microsoft.com/office/powerpoint/2010/main" val="3009293015"/>
              </p:ext>
            </p:extLst>
          </p:nvPr>
        </p:nvGraphicFramePr>
        <p:xfrm>
          <a:off x="914400" y="1090800"/>
          <a:ext cx="7040880" cy="1097280"/>
        </p:xfrm>
        <a:graphic>
          <a:graphicData uri="http://schemas.openxmlformats.org/drawingml/2006/table">
            <a:tbl>
              <a:tblPr firstRow="1"/>
              <a:tblGrid>
                <a:gridCol w="3040380">
                  <a:extLst>
                    <a:ext uri="{9D8B030D-6E8A-4147-A177-3AD203B41FA5}">
                      <a16:colId xmlns:a16="http://schemas.microsoft.com/office/drawing/2014/main" val="1411842448"/>
                    </a:ext>
                  </a:extLst>
                </a:gridCol>
                <a:gridCol w="4000500">
                  <a:extLst>
                    <a:ext uri="{9D8B030D-6E8A-4147-A177-3AD203B41FA5}">
                      <a16:colId xmlns:a16="http://schemas.microsoft.com/office/drawing/2014/main" val="321548399"/>
                    </a:ext>
                  </a:extLst>
                </a:gridCol>
              </a:tblGrid>
              <a:tr h="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Method</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extLst>
                  <a:ext uri="{0D108BD9-81ED-4DB2-BD59-A6C34878D82A}">
                    <a16:rowId xmlns:a16="http://schemas.microsoft.com/office/drawing/2014/main" val="287973938"/>
                  </a:ext>
                </a:extLst>
              </a:tr>
              <a:tr h="0">
                <a:tc>
                  <a:txBody>
                    <a:bodyPr/>
                    <a:lstStyle/>
                    <a:p>
                      <a:pPr marL="0" marR="0" indent="0">
                        <a:spcBef>
                          <a:spcPts val="600"/>
                        </a:spcBef>
                        <a:spcAft>
                          <a:spcPts val="600"/>
                        </a:spcAft>
                        <a:tabLst>
                          <a:tab pos="800100" algn="l"/>
                          <a:tab pos="2514600" algn="l"/>
                          <a:tab pos="457200" algn="l"/>
                        </a:tabLst>
                      </a:pPr>
                      <a:r>
                        <a:rPr lang="en-US" sz="1600" b="1"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drop_duplicates</a:t>
                      </a: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(params)</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Returns the </a:t>
                      </a:r>
                      <a:r>
                        <a:rPr lang="en-US" sz="2000" dirty="0" err="1">
                          <a:solidFill>
                            <a:srgbClr val="000000"/>
                          </a:solidFill>
                          <a:effectLst/>
                          <a:latin typeface="Times New Roman" panose="02020603050405020304" pitchFamily="18" charset="0"/>
                          <a:ea typeface="Times New Roman" panose="02020603050405020304" pitchFamily="18" charset="0"/>
                        </a:rPr>
                        <a:t>DataFrame</a:t>
                      </a:r>
                      <a:r>
                        <a:rPr lang="en-US" sz="2000" dirty="0">
                          <a:solidFill>
                            <a:srgbClr val="000000"/>
                          </a:solidFill>
                          <a:effectLst/>
                          <a:latin typeface="Times New Roman" panose="02020603050405020304" pitchFamily="18" charset="0"/>
                          <a:ea typeface="Times New Roman" panose="02020603050405020304" pitchFamily="18" charset="0"/>
                        </a:rPr>
                        <a:t> with duplicate rows removed.</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3687416381"/>
                  </a:ext>
                </a:extLst>
              </a:tr>
            </a:tbl>
          </a:graphicData>
        </a:graphic>
      </p:graphicFrame>
      <p:sp>
        <p:nvSpPr>
          <p:cNvPr id="10" name="Text Placeholder 9">
            <a:extLst>
              <a:ext uri="{FF2B5EF4-FFF2-40B4-BE49-F238E27FC236}">
                <a16:creationId xmlns:a16="http://schemas.microsoft.com/office/drawing/2014/main" id="{A03C6B7D-C198-48AD-AB7D-B8DED84EA96C}"/>
              </a:ext>
            </a:extLst>
          </p:cNvPr>
          <p:cNvSpPr>
            <a:spLocks noGrp="1"/>
          </p:cNvSpPr>
          <p:nvPr>
            <p:ph type="body" sz="quarter" idx="17"/>
          </p:nvPr>
        </p:nvSpPr>
        <p:spPr>
          <a:xfrm>
            <a:off x="838200" y="2362200"/>
            <a:ext cx="7391400" cy="457200"/>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Parameters of 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drop_duplicates</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a:t>
            </a:r>
            <a:endParaRPr lang="en-US" sz="2400" b="1" dirty="0">
              <a:solidFill>
                <a:srgbClr val="000099"/>
              </a:solidFill>
              <a:effectLst/>
              <a:latin typeface="Montserrat Medium"/>
              <a:ea typeface="Times New Roman" panose="02020603050405020304" pitchFamily="18" charset="0"/>
              <a:cs typeface="Times New Roman" panose="02020603050405020304" pitchFamily="18" charset="0"/>
            </a:endParaRPr>
          </a:p>
          <a:p>
            <a:endParaRPr lang="en-US" sz="2400" dirty="0"/>
          </a:p>
        </p:txBody>
      </p:sp>
      <p:graphicFrame>
        <p:nvGraphicFramePr>
          <p:cNvPr id="12" name="Table Placeholder 11">
            <a:extLst>
              <a:ext uri="{FF2B5EF4-FFF2-40B4-BE49-F238E27FC236}">
                <a16:creationId xmlns:a16="http://schemas.microsoft.com/office/drawing/2014/main" id="{A8E3D47B-3B27-4DB8-98BF-85466BC65255}"/>
              </a:ext>
            </a:extLst>
          </p:cNvPr>
          <p:cNvGraphicFramePr>
            <a:graphicFrameLocks noGrp="1"/>
          </p:cNvGraphicFramePr>
          <p:nvPr>
            <p:ph type="tbl" sz="quarter" idx="14"/>
            <p:extLst>
              <p:ext uri="{D42A27DB-BD31-4B8C-83A1-F6EECF244321}">
                <p14:modId xmlns:p14="http://schemas.microsoft.com/office/powerpoint/2010/main" val="1020194745"/>
              </p:ext>
            </p:extLst>
          </p:nvPr>
        </p:nvGraphicFramePr>
        <p:xfrm>
          <a:off x="914400" y="2861449"/>
          <a:ext cx="7040880" cy="1493520"/>
        </p:xfrm>
        <a:graphic>
          <a:graphicData uri="http://schemas.openxmlformats.org/drawingml/2006/table">
            <a:tbl>
              <a:tblPr firstRow="1"/>
              <a:tblGrid>
                <a:gridCol w="1725930">
                  <a:extLst>
                    <a:ext uri="{9D8B030D-6E8A-4147-A177-3AD203B41FA5}">
                      <a16:colId xmlns:a16="http://schemas.microsoft.com/office/drawing/2014/main" val="1705381636"/>
                    </a:ext>
                  </a:extLst>
                </a:gridCol>
                <a:gridCol w="5314950">
                  <a:extLst>
                    <a:ext uri="{9D8B030D-6E8A-4147-A177-3AD203B41FA5}">
                      <a16:colId xmlns:a16="http://schemas.microsoft.com/office/drawing/2014/main" val="3314059642"/>
                    </a:ext>
                  </a:extLst>
                </a:gridCol>
              </a:tblGrid>
              <a:tr h="239093">
                <a:tc>
                  <a:txBody>
                    <a:bodyPr/>
                    <a:lstStyle/>
                    <a:p>
                      <a:pPr marL="0" marR="0">
                        <a:spcBef>
                          <a:spcPts val="600"/>
                        </a:spcBef>
                        <a:spcAft>
                          <a:spcPts val="600"/>
                        </a:spcAft>
                        <a:tabLst>
                          <a:tab pos="1828800" algn="l"/>
                          <a:tab pos="457200" algn="l"/>
                        </a:tabLst>
                      </a:pPr>
                      <a:r>
                        <a:rPr lang="en-US" sz="20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Parameter</a:t>
                      </a:r>
                      <a:endParaRPr lang="en-US" sz="2000" b="1" dirty="0">
                        <a:solidFill>
                          <a:srgbClr val="FFFFFF"/>
                        </a:solidFill>
                        <a:effectLst/>
                        <a:latin typeface="Montserrat Medium"/>
                        <a:ea typeface="Times New Roman" panose="02020603050405020304" pitchFamily="18" charset="0"/>
                        <a:cs typeface="Times New Roman" panose="02020603050405020304" pitchFamily="18" charset="0"/>
                      </a:endParaRPr>
                    </a:p>
                  </a:txBody>
                  <a:tcPr marL="73152" marR="73152">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dirty="0">
                        <a:solidFill>
                          <a:srgbClr val="FFFFFF"/>
                        </a:solidFill>
                        <a:effectLst/>
                        <a:latin typeface="Montserrat Medium"/>
                        <a:ea typeface="Times New Roman" panose="02020603050405020304" pitchFamily="18" charset="0"/>
                        <a:cs typeface="Times New Roman" panose="02020603050405020304" pitchFamily="18" charset="0"/>
                      </a:endParaRPr>
                    </a:p>
                  </a:txBody>
                  <a:tcPr marL="73152" marR="73152">
                    <a:lnL>
                      <a:noFill/>
                    </a:lnL>
                    <a:lnR>
                      <a:noFill/>
                    </a:lnR>
                    <a:lnT>
                      <a:noFill/>
                    </a:lnT>
                    <a:lnB>
                      <a:noFill/>
                    </a:lnB>
                    <a:solidFill>
                      <a:srgbClr val="3D87B7"/>
                    </a:solidFill>
                  </a:tcPr>
                </a:tc>
                <a:extLst>
                  <a:ext uri="{0D108BD9-81ED-4DB2-BD59-A6C34878D82A}">
                    <a16:rowId xmlns:a16="http://schemas.microsoft.com/office/drawing/2014/main" val="850970622"/>
                  </a:ext>
                </a:extLst>
              </a:tr>
              <a:tr h="239093">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subset</a:t>
                      </a:r>
                      <a:endParaRPr lang="en-US" sz="16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Same as for the duplicated() method.</a:t>
                      </a:r>
                      <a:endParaRPr lang="en-US" sz="20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1855007517"/>
                  </a:ext>
                </a:extLst>
              </a:tr>
              <a:tr h="423011">
                <a:tc>
                  <a:txBody>
                    <a:bodyPr/>
                    <a:lstStyle/>
                    <a:p>
                      <a:pPr marL="0" marR="0" indent="0">
                        <a:spcBef>
                          <a:spcPts val="600"/>
                        </a:spcBef>
                        <a:spcAft>
                          <a:spcPts val="600"/>
                        </a:spcAft>
                        <a:tabLst>
                          <a:tab pos="800100" algn="l"/>
                          <a:tab pos="25146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keep</a:t>
                      </a:r>
                      <a:endParaRPr lang="en-US" sz="16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Same as for the duplicated() method except that the duplicate rows are dropped, not marked.</a:t>
                      </a:r>
                      <a:endParaRPr lang="en-US" sz="20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1901305277"/>
                  </a:ext>
                </a:extLst>
              </a:tr>
            </a:tbl>
          </a:graphicData>
        </a:graphic>
      </p:graphicFrame>
      <p:sp>
        <p:nvSpPr>
          <p:cNvPr id="4" name="Date Placeholder 3">
            <a:extLst>
              <a:ext uri="{FF2B5EF4-FFF2-40B4-BE49-F238E27FC236}">
                <a16:creationId xmlns:a16="http://schemas.microsoft.com/office/drawing/2014/main" id="{7FEBFD82-C3DD-4852-B741-31650B528DA7}"/>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64C887F8-A0A3-4AF1-8761-A2FF80CC3AF6}"/>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E6757B3B-7FEF-445D-951D-D378AACF9AD7}"/>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21</a:t>
            </a:fld>
            <a:endParaRPr lang="en-US" dirty="0">
              <a:solidFill>
                <a:schemeClr val="bg1"/>
              </a:solidFill>
            </a:endParaRPr>
          </a:p>
        </p:txBody>
      </p:sp>
    </p:spTree>
    <p:extLst>
      <p:ext uri="{BB962C8B-B14F-4D97-AF65-F5344CB8AC3E}">
        <p14:creationId xmlns:p14="http://schemas.microsoft.com/office/powerpoint/2010/main" val="13898350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60348-1B3F-4F5E-80FE-68E639414570}"/>
              </a:ext>
            </a:extLst>
          </p:cNvPr>
          <p:cNvSpPr>
            <a:spLocks noGrp="1"/>
          </p:cNvSpPr>
          <p:nvPr>
            <p:ph type="title"/>
          </p:nvPr>
        </p:nvSpPr>
        <p:spPr>
          <a:xfrm>
            <a:off x="914400" y="624989"/>
            <a:ext cx="7315200" cy="369332"/>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drop duplicate rows</a:t>
            </a:r>
            <a:endParaRPr lang="en-US" dirty="0"/>
          </a:p>
        </p:txBody>
      </p:sp>
      <p:sp>
        <p:nvSpPr>
          <p:cNvPr id="3" name="Text Placeholder 2">
            <a:extLst>
              <a:ext uri="{FF2B5EF4-FFF2-40B4-BE49-F238E27FC236}">
                <a16:creationId xmlns:a16="http://schemas.microsoft.com/office/drawing/2014/main" id="{6D0EF64E-3FFB-437E-8B65-EF3F8968C9BD}"/>
              </a:ext>
            </a:extLst>
          </p:cNvPr>
          <p:cNvSpPr>
            <a:spLocks noGrp="1"/>
          </p:cNvSpPr>
          <p:nvPr>
            <p:ph type="body" sz="quarter" idx="13"/>
          </p:nvPr>
        </p:nvSpPr>
        <p:spPr/>
        <p:txBody>
          <a:bodyPr/>
          <a:lstStyle/>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find duplicate rows</a:t>
            </a:r>
            <a:endParaRPr lang="en-US" b="1" spc="-10" dirty="0">
              <a:solidFill>
                <a:srgbClr val="000099"/>
              </a:solidFill>
              <a:effectLst/>
              <a:latin typeface="Montserrat Medium"/>
              <a:ea typeface="Times New Roman" panose="02020603050405020304" pitchFamily="18" charset="0"/>
              <a:cs typeface="Times New Roman" panose="02020603050405020304" pitchFamily="18" charset="0"/>
            </a:endParaRPr>
          </a:p>
          <a:p>
            <a:pPr marL="347345" marR="0">
              <a:spcBef>
                <a:spcPts val="0"/>
              </a:spcBef>
              <a:spcAft>
                <a:spcPts val="60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fires[</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fires.duplicated</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(keep=False)]</a:t>
            </a:r>
          </a:p>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drop duplicate rows</a:t>
            </a:r>
            <a:endParaRPr lang="en-US" b="1" spc="-10" dirty="0">
              <a:solidFill>
                <a:srgbClr val="000099"/>
              </a:solidFill>
              <a:effectLst/>
              <a:latin typeface="Montserrat Medium"/>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fires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fires.drop_duplicates</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(keep='first')</a:t>
            </a:r>
          </a:p>
          <a:p>
            <a:endParaRPr lang="en-US" sz="1600" dirty="0"/>
          </a:p>
        </p:txBody>
      </p:sp>
      <p:sp>
        <p:nvSpPr>
          <p:cNvPr id="4" name="Date Placeholder 3">
            <a:extLst>
              <a:ext uri="{FF2B5EF4-FFF2-40B4-BE49-F238E27FC236}">
                <a16:creationId xmlns:a16="http://schemas.microsoft.com/office/drawing/2014/main" id="{2046BEB0-CE03-4986-AB4F-5DEBB9CB3E82}"/>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26141D47-806E-4ACE-9826-9EC387C6FB17}"/>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6D47AAAC-8336-436D-8070-CCDB6487F3C1}"/>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22</a:t>
            </a:fld>
            <a:endParaRPr lang="en-US" dirty="0">
              <a:solidFill>
                <a:schemeClr val="bg1"/>
              </a:solidFill>
            </a:endParaRPr>
          </a:p>
        </p:txBody>
      </p:sp>
    </p:spTree>
    <p:extLst>
      <p:ext uri="{BB962C8B-B14F-4D97-AF65-F5344CB8AC3E}">
        <p14:creationId xmlns:p14="http://schemas.microsoft.com/office/powerpoint/2010/main" val="3049546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50C572C-2EF2-47EE-90CB-5D8BDB9E3B57}"/>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drop() method</a:t>
            </a:r>
            <a:endParaRPr lang="en-US" dirty="0"/>
          </a:p>
        </p:txBody>
      </p:sp>
      <p:graphicFrame>
        <p:nvGraphicFramePr>
          <p:cNvPr id="11" name="Table Placeholder 10">
            <a:extLst>
              <a:ext uri="{FF2B5EF4-FFF2-40B4-BE49-F238E27FC236}">
                <a16:creationId xmlns:a16="http://schemas.microsoft.com/office/drawing/2014/main" id="{675723E3-17FC-4A7F-9E42-548040F312AA}"/>
              </a:ext>
            </a:extLst>
          </p:cNvPr>
          <p:cNvGraphicFramePr>
            <a:graphicFrameLocks noGrp="1"/>
          </p:cNvGraphicFramePr>
          <p:nvPr>
            <p:ph type="tbl" sz="quarter" idx="13"/>
            <p:extLst>
              <p:ext uri="{D42A27DB-BD31-4B8C-83A1-F6EECF244321}">
                <p14:modId xmlns:p14="http://schemas.microsoft.com/office/powerpoint/2010/main" val="3194347278"/>
              </p:ext>
            </p:extLst>
          </p:nvPr>
        </p:nvGraphicFramePr>
        <p:xfrm>
          <a:off x="914400" y="1090800"/>
          <a:ext cx="6297930" cy="1097280"/>
        </p:xfrm>
        <a:graphic>
          <a:graphicData uri="http://schemas.openxmlformats.org/drawingml/2006/table">
            <a:tbl>
              <a:tblPr firstRow="1"/>
              <a:tblGrid>
                <a:gridCol w="1840230">
                  <a:extLst>
                    <a:ext uri="{9D8B030D-6E8A-4147-A177-3AD203B41FA5}">
                      <a16:colId xmlns:a16="http://schemas.microsoft.com/office/drawing/2014/main" val="3109402720"/>
                    </a:ext>
                  </a:extLst>
                </a:gridCol>
                <a:gridCol w="4457700">
                  <a:extLst>
                    <a:ext uri="{9D8B030D-6E8A-4147-A177-3AD203B41FA5}">
                      <a16:colId xmlns:a16="http://schemas.microsoft.com/office/drawing/2014/main" val="1070439276"/>
                    </a:ext>
                  </a:extLst>
                </a:gridCol>
              </a:tblGrid>
              <a:tr h="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Method</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extLst>
                  <a:ext uri="{0D108BD9-81ED-4DB2-BD59-A6C34878D82A}">
                    <a16:rowId xmlns:a16="http://schemas.microsoft.com/office/drawing/2014/main" val="4206270785"/>
                  </a:ext>
                </a:extLst>
              </a:tr>
              <a:tr h="0">
                <a:tc>
                  <a:txBody>
                    <a:bodyPr/>
                    <a:lstStyle/>
                    <a:p>
                      <a:pPr marL="0" marR="0" indent="0">
                        <a:spcBef>
                          <a:spcPts val="600"/>
                        </a:spcBef>
                        <a:spcAft>
                          <a:spcPts val="600"/>
                        </a:spcAft>
                        <a:tabLst>
                          <a:tab pos="800100" algn="l"/>
                          <a:tab pos="25146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drop(params)</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Drops the columns that are specified by the columns parameter.</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1812983618"/>
                  </a:ext>
                </a:extLst>
              </a:tr>
            </a:tbl>
          </a:graphicData>
        </a:graphic>
      </p:graphicFrame>
      <p:sp>
        <p:nvSpPr>
          <p:cNvPr id="10" name="Text Placeholder 9">
            <a:extLst>
              <a:ext uri="{FF2B5EF4-FFF2-40B4-BE49-F238E27FC236}">
                <a16:creationId xmlns:a16="http://schemas.microsoft.com/office/drawing/2014/main" id="{5C509543-5736-43FC-9E46-B33B53BF8055}"/>
              </a:ext>
            </a:extLst>
          </p:cNvPr>
          <p:cNvSpPr>
            <a:spLocks noGrp="1"/>
          </p:cNvSpPr>
          <p:nvPr>
            <p:ph type="body" sz="quarter" idx="17"/>
          </p:nvPr>
        </p:nvSpPr>
        <p:spPr>
          <a:xfrm>
            <a:off x="838200" y="2362200"/>
            <a:ext cx="7391400" cy="457200"/>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Parameters of the drop() method</a:t>
            </a:r>
            <a:endParaRPr lang="en-US" sz="2400" b="1" dirty="0">
              <a:solidFill>
                <a:srgbClr val="000099"/>
              </a:solidFill>
              <a:effectLst/>
              <a:latin typeface="Montserrat Medium"/>
              <a:ea typeface="Times New Roman" panose="02020603050405020304" pitchFamily="18" charset="0"/>
              <a:cs typeface="Times New Roman" panose="02020603050405020304" pitchFamily="18" charset="0"/>
            </a:endParaRPr>
          </a:p>
          <a:p>
            <a:endParaRPr lang="en-US" sz="2400" dirty="0"/>
          </a:p>
        </p:txBody>
      </p:sp>
      <p:graphicFrame>
        <p:nvGraphicFramePr>
          <p:cNvPr id="12" name="Table Placeholder 11">
            <a:extLst>
              <a:ext uri="{FF2B5EF4-FFF2-40B4-BE49-F238E27FC236}">
                <a16:creationId xmlns:a16="http://schemas.microsoft.com/office/drawing/2014/main" id="{F0617E8E-3D1A-441E-BAF0-4C7E44DCC5F7}"/>
              </a:ext>
            </a:extLst>
          </p:cNvPr>
          <p:cNvGraphicFramePr>
            <a:graphicFrameLocks noGrp="1"/>
          </p:cNvGraphicFramePr>
          <p:nvPr>
            <p:ph type="tbl" sz="quarter" idx="14"/>
            <p:extLst>
              <p:ext uri="{D42A27DB-BD31-4B8C-83A1-F6EECF244321}">
                <p14:modId xmlns:p14="http://schemas.microsoft.com/office/powerpoint/2010/main" val="2681721137"/>
              </p:ext>
            </p:extLst>
          </p:nvPr>
        </p:nvGraphicFramePr>
        <p:xfrm>
          <a:off x="914400" y="2862504"/>
          <a:ext cx="6297929" cy="1493520"/>
        </p:xfrm>
        <a:graphic>
          <a:graphicData uri="http://schemas.openxmlformats.org/drawingml/2006/table">
            <a:tbl>
              <a:tblPr firstRow="1"/>
              <a:tblGrid>
                <a:gridCol w="1840230">
                  <a:extLst>
                    <a:ext uri="{9D8B030D-6E8A-4147-A177-3AD203B41FA5}">
                      <a16:colId xmlns:a16="http://schemas.microsoft.com/office/drawing/2014/main" val="465963046"/>
                    </a:ext>
                  </a:extLst>
                </a:gridCol>
                <a:gridCol w="4457699">
                  <a:extLst>
                    <a:ext uri="{9D8B030D-6E8A-4147-A177-3AD203B41FA5}">
                      <a16:colId xmlns:a16="http://schemas.microsoft.com/office/drawing/2014/main" val="288826731"/>
                    </a:ext>
                  </a:extLst>
                </a:gridCol>
              </a:tblGrid>
              <a:tr h="272300">
                <a:tc>
                  <a:txBody>
                    <a:bodyPr/>
                    <a:lstStyle/>
                    <a:p>
                      <a:pPr marL="0" marR="0">
                        <a:spcBef>
                          <a:spcPts val="600"/>
                        </a:spcBef>
                        <a:spcAft>
                          <a:spcPts val="600"/>
                        </a:spcAft>
                        <a:tabLst>
                          <a:tab pos="1828800" algn="l"/>
                          <a:tab pos="457200" algn="l"/>
                        </a:tabLst>
                      </a:pPr>
                      <a:r>
                        <a:rPr lang="en-US" sz="20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Parameter</a:t>
                      </a:r>
                      <a:endParaRPr lang="en-US" sz="2000" b="1" dirty="0">
                        <a:solidFill>
                          <a:srgbClr val="FFFFFF"/>
                        </a:solidFill>
                        <a:effectLst/>
                        <a:latin typeface="Montserrat Medium"/>
                        <a:ea typeface="Times New Roman" panose="02020603050405020304" pitchFamily="18" charset="0"/>
                        <a:cs typeface="Times New Roman" panose="02020603050405020304" pitchFamily="18" charset="0"/>
                      </a:endParaRPr>
                    </a:p>
                  </a:txBody>
                  <a:tcPr marL="73152" marR="73152">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dirty="0">
                        <a:solidFill>
                          <a:srgbClr val="FFFFFF"/>
                        </a:solidFill>
                        <a:effectLst/>
                        <a:latin typeface="Montserrat Medium"/>
                        <a:ea typeface="Times New Roman" panose="02020603050405020304" pitchFamily="18" charset="0"/>
                        <a:cs typeface="Times New Roman" panose="02020603050405020304" pitchFamily="18" charset="0"/>
                      </a:endParaRPr>
                    </a:p>
                  </a:txBody>
                  <a:tcPr marL="73152" marR="73152">
                    <a:lnL>
                      <a:noFill/>
                    </a:lnL>
                    <a:lnR>
                      <a:noFill/>
                    </a:lnR>
                    <a:lnT>
                      <a:noFill/>
                    </a:lnT>
                    <a:lnB>
                      <a:noFill/>
                    </a:lnB>
                    <a:solidFill>
                      <a:srgbClr val="3D87B7"/>
                    </a:solidFill>
                  </a:tcPr>
                </a:tc>
                <a:extLst>
                  <a:ext uri="{0D108BD9-81ED-4DB2-BD59-A6C34878D82A}">
                    <a16:rowId xmlns:a16="http://schemas.microsoft.com/office/drawing/2014/main" val="993425133"/>
                  </a:ext>
                </a:extLst>
              </a:tr>
              <a:tr h="27230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columns</a:t>
                      </a:r>
                      <a:endParaRPr lang="en-US" sz="16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List of columns to be dropped.</a:t>
                      </a:r>
                      <a:endParaRPr lang="en-US" sz="20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2842375433"/>
                  </a:ext>
                </a:extLst>
              </a:tr>
              <a:tr h="481762">
                <a:tc>
                  <a:txBody>
                    <a:bodyPr/>
                    <a:lstStyle/>
                    <a:p>
                      <a:pPr marL="0" marR="0" indent="0">
                        <a:spcBef>
                          <a:spcPts val="600"/>
                        </a:spcBef>
                        <a:spcAft>
                          <a:spcPts val="600"/>
                        </a:spcAft>
                        <a:tabLst>
                          <a:tab pos="800100" algn="l"/>
                          <a:tab pos="25146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errors</a:t>
                      </a:r>
                      <a:endParaRPr lang="en-US" sz="16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What to do if a specified column doesn’t exist: ‘ignore’ (the default) or ‘raise’.</a:t>
                      </a:r>
                      <a:endParaRPr lang="en-US" sz="20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1970441439"/>
                  </a:ext>
                </a:extLst>
              </a:tr>
            </a:tbl>
          </a:graphicData>
        </a:graphic>
      </p:graphicFrame>
      <p:sp>
        <p:nvSpPr>
          <p:cNvPr id="4" name="Date Placeholder 3">
            <a:extLst>
              <a:ext uri="{FF2B5EF4-FFF2-40B4-BE49-F238E27FC236}">
                <a16:creationId xmlns:a16="http://schemas.microsoft.com/office/drawing/2014/main" id="{FF10A78F-959C-46AD-AC98-698645F1D3B4}"/>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87FC949F-B874-40A6-9219-DB79B29E6C3A}"/>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7EF692C9-C2B0-4EDC-A017-F6F53B9E1339}"/>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23</a:t>
            </a:fld>
            <a:endParaRPr lang="en-US" dirty="0">
              <a:solidFill>
                <a:schemeClr val="bg1"/>
              </a:solidFill>
            </a:endParaRPr>
          </a:p>
        </p:txBody>
      </p:sp>
    </p:spTree>
    <p:extLst>
      <p:ext uri="{BB962C8B-B14F-4D97-AF65-F5344CB8AC3E}">
        <p14:creationId xmlns:p14="http://schemas.microsoft.com/office/powerpoint/2010/main" val="36595793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F06A0-C2F8-476A-8107-E6E4428E9A88}"/>
              </a:ext>
            </a:extLst>
          </p:cNvPr>
          <p:cNvSpPr>
            <a:spLocks noGrp="1"/>
          </p:cNvSpPr>
          <p:nvPr>
            <p:ph type="title"/>
          </p:nvPr>
        </p:nvSpPr>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nunique</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 helps you identify columns that you may want to drop</a:t>
            </a:r>
            <a:endParaRPr lang="en-US" dirty="0"/>
          </a:p>
        </p:txBody>
      </p:sp>
      <p:sp>
        <p:nvSpPr>
          <p:cNvPr id="4" name="Date Placeholder 3">
            <a:extLst>
              <a:ext uri="{FF2B5EF4-FFF2-40B4-BE49-F238E27FC236}">
                <a16:creationId xmlns:a16="http://schemas.microsoft.com/office/drawing/2014/main" id="{7ED2FCAB-B42C-4237-8759-9E54BBA573D5}"/>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50602BDA-5C69-4F38-B04F-77297C9CF4A5}"/>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24C7C3C0-5AC9-4343-8D18-77EF103A4FC7}"/>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24</a:t>
            </a:fld>
            <a:endParaRPr lang="en-US" dirty="0">
              <a:solidFill>
                <a:schemeClr val="bg1"/>
              </a:solidFill>
            </a:endParaRPr>
          </a:p>
        </p:txBody>
      </p:sp>
      <p:pic>
        <p:nvPicPr>
          <p:cNvPr id="9" name="Picture 8">
            <a:extLst>
              <a:ext uri="{FF2B5EF4-FFF2-40B4-BE49-F238E27FC236}">
                <a16:creationId xmlns:a16="http://schemas.microsoft.com/office/drawing/2014/main" id="{31C3EC9B-0BD9-844A-84F5-FD1B0DE7A19C}"/>
              </a:ext>
            </a:extLst>
          </p:cNvPr>
          <p:cNvPicPr>
            <a:picLocks noChangeAspect="1"/>
          </p:cNvPicPr>
          <p:nvPr/>
        </p:nvPicPr>
        <p:blipFill>
          <a:blip r:embed="rId2"/>
          <a:stretch>
            <a:fillRect/>
          </a:stretch>
        </p:blipFill>
        <p:spPr>
          <a:xfrm>
            <a:off x="920015" y="1371600"/>
            <a:ext cx="6927272" cy="3810000"/>
          </a:xfrm>
          <a:prstGeom prst="rect">
            <a:avLst/>
          </a:prstGeom>
        </p:spPr>
      </p:pic>
    </p:spTree>
    <p:extLst>
      <p:ext uri="{BB962C8B-B14F-4D97-AF65-F5344CB8AC3E}">
        <p14:creationId xmlns:p14="http://schemas.microsoft.com/office/powerpoint/2010/main" val="31899908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28C46-4A2A-4D81-ADC5-602CE9C8C411}"/>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use the drop() method to drop columns</a:t>
            </a:r>
            <a:endParaRPr lang="en-US" dirty="0"/>
          </a:p>
        </p:txBody>
      </p:sp>
      <p:sp>
        <p:nvSpPr>
          <p:cNvPr id="3" name="Text Placeholder 2">
            <a:extLst>
              <a:ext uri="{FF2B5EF4-FFF2-40B4-BE49-F238E27FC236}">
                <a16:creationId xmlns:a16="http://schemas.microsoft.com/office/drawing/2014/main" id="{256266A3-EFF2-412D-8605-4AE4BDDA9ACC}"/>
              </a:ext>
            </a:extLst>
          </p:cNvPr>
          <p:cNvSpPr>
            <a:spLocks noGrp="1"/>
          </p:cNvSpPr>
          <p:nvPr>
            <p:ph type="body" sz="quarter" idx="13"/>
          </p:nvPr>
        </p:nvSpPr>
        <p:spPr/>
        <p:txBody>
          <a:bodyPr/>
          <a:lstStyle/>
          <a:p>
            <a:pPr marL="347345" marR="0">
              <a:spcBef>
                <a:spcPts val="0"/>
              </a:spcBef>
              <a:spcAft>
                <a:spcPts val="60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polls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polls.drop</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(columns=['cycle','</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forecastdate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endParaRPr lang="en-US" sz="1600" dirty="0"/>
          </a:p>
        </p:txBody>
      </p:sp>
      <p:sp>
        <p:nvSpPr>
          <p:cNvPr id="4" name="Date Placeholder 3">
            <a:extLst>
              <a:ext uri="{FF2B5EF4-FFF2-40B4-BE49-F238E27FC236}">
                <a16:creationId xmlns:a16="http://schemas.microsoft.com/office/drawing/2014/main" id="{F937481E-076B-40B9-A6FA-AC806A52C444}"/>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49D5A0E3-FE16-4339-BC05-8F13BF818943}"/>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39314F58-4E16-40F7-B383-E6D4125357F0}"/>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25</a:t>
            </a:fld>
            <a:endParaRPr lang="en-US" dirty="0">
              <a:solidFill>
                <a:schemeClr val="bg1"/>
              </a:solidFill>
            </a:endParaRPr>
          </a:p>
        </p:txBody>
      </p:sp>
    </p:spTree>
    <p:extLst>
      <p:ext uri="{BB962C8B-B14F-4D97-AF65-F5344CB8AC3E}">
        <p14:creationId xmlns:p14="http://schemas.microsoft.com/office/powerpoint/2010/main" val="2377059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89BC194-C391-4083-8513-A031E8383F10}"/>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rename() method for columns</a:t>
            </a:r>
            <a:endParaRPr lang="en-US" dirty="0"/>
          </a:p>
        </p:txBody>
      </p:sp>
      <p:graphicFrame>
        <p:nvGraphicFramePr>
          <p:cNvPr id="11" name="Table Placeholder 10">
            <a:extLst>
              <a:ext uri="{FF2B5EF4-FFF2-40B4-BE49-F238E27FC236}">
                <a16:creationId xmlns:a16="http://schemas.microsoft.com/office/drawing/2014/main" id="{F5305AFF-7D5B-4702-BFFD-B36192E2F5A6}"/>
              </a:ext>
            </a:extLst>
          </p:cNvPr>
          <p:cNvGraphicFramePr>
            <a:graphicFrameLocks noGrp="1"/>
          </p:cNvGraphicFramePr>
          <p:nvPr>
            <p:ph type="tbl" sz="quarter" idx="13"/>
            <p:extLst>
              <p:ext uri="{D42A27DB-BD31-4B8C-83A1-F6EECF244321}">
                <p14:modId xmlns:p14="http://schemas.microsoft.com/office/powerpoint/2010/main" val="1476708075"/>
              </p:ext>
            </p:extLst>
          </p:nvPr>
        </p:nvGraphicFramePr>
        <p:xfrm>
          <a:off x="914400" y="1076280"/>
          <a:ext cx="6926580" cy="792480"/>
        </p:xfrm>
        <a:graphic>
          <a:graphicData uri="http://schemas.openxmlformats.org/drawingml/2006/table">
            <a:tbl>
              <a:tblPr firstRow="1"/>
              <a:tblGrid>
                <a:gridCol w="2125980">
                  <a:extLst>
                    <a:ext uri="{9D8B030D-6E8A-4147-A177-3AD203B41FA5}">
                      <a16:colId xmlns:a16="http://schemas.microsoft.com/office/drawing/2014/main" val="2581106435"/>
                    </a:ext>
                  </a:extLst>
                </a:gridCol>
                <a:gridCol w="4800600">
                  <a:extLst>
                    <a:ext uri="{9D8B030D-6E8A-4147-A177-3AD203B41FA5}">
                      <a16:colId xmlns:a16="http://schemas.microsoft.com/office/drawing/2014/main" val="3178750144"/>
                    </a:ext>
                  </a:extLst>
                </a:gridCol>
              </a:tblGrid>
              <a:tr h="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Method</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nchor="ctr">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nchor="ctr">
                    <a:lnL>
                      <a:noFill/>
                    </a:lnL>
                    <a:lnR>
                      <a:noFill/>
                    </a:lnR>
                    <a:lnT>
                      <a:noFill/>
                    </a:lnT>
                    <a:lnB>
                      <a:noFill/>
                    </a:lnB>
                    <a:solidFill>
                      <a:srgbClr val="3D87B7"/>
                    </a:solidFill>
                  </a:tcPr>
                </a:tc>
                <a:extLst>
                  <a:ext uri="{0D108BD9-81ED-4DB2-BD59-A6C34878D82A}">
                    <a16:rowId xmlns:a16="http://schemas.microsoft.com/office/drawing/2014/main" val="4048646870"/>
                  </a:ext>
                </a:extLst>
              </a:tr>
              <a:tr h="0">
                <a:tc>
                  <a:txBody>
                    <a:bodyPr/>
                    <a:lstStyle/>
                    <a:p>
                      <a:pPr marL="0" marR="0" indent="0">
                        <a:spcBef>
                          <a:spcPts val="600"/>
                        </a:spcBef>
                        <a:spcAft>
                          <a:spcPts val="600"/>
                        </a:spcAft>
                        <a:tabLst>
                          <a:tab pos="800100" algn="l"/>
                          <a:tab pos="25146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rename(params)</a:t>
                      </a:r>
                      <a:endParaRPr lang="en-US" sz="2000" dirty="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Renames the columns of a </a:t>
                      </a:r>
                      <a:r>
                        <a:rPr lang="en-US" sz="2000" dirty="0" err="1">
                          <a:solidFill>
                            <a:srgbClr val="000000"/>
                          </a:solidFill>
                          <a:effectLst/>
                          <a:latin typeface="Times New Roman" panose="02020603050405020304" pitchFamily="18" charset="0"/>
                          <a:ea typeface="Times New Roman" panose="02020603050405020304" pitchFamily="18" charset="0"/>
                        </a:rPr>
                        <a:t>DataFrame</a:t>
                      </a:r>
                      <a:r>
                        <a:rPr lang="en-US" sz="2000" dirty="0">
                          <a:solidFill>
                            <a:srgbClr val="000000"/>
                          </a:solidFill>
                          <a:effectLst/>
                          <a:latin typeface="Times New Roman" panose="02020603050405020304" pitchFamily="18"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extLst>
                  <a:ext uri="{0D108BD9-81ED-4DB2-BD59-A6C34878D82A}">
                    <a16:rowId xmlns:a16="http://schemas.microsoft.com/office/drawing/2014/main" val="973934134"/>
                  </a:ext>
                </a:extLst>
              </a:tr>
            </a:tbl>
          </a:graphicData>
        </a:graphic>
      </p:graphicFrame>
      <p:sp>
        <p:nvSpPr>
          <p:cNvPr id="10" name="Text Placeholder 9">
            <a:extLst>
              <a:ext uri="{FF2B5EF4-FFF2-40B4-BE49-F238E27FC236}">
                <a16:creationId xmlns:a16="http://schemas.microsoft.com/office/drawing/2014/main" id="{B5F30D21-01F8-4048-BB7F-76B4698C4207}"/>
              </a:ext>
            </a:extLst>
          </p:cNvPr>
          <p:cNvSpPr>
            <a:spLocks noGrp="1"/>
          </p:cNvSpPr>
          <p:nvPr>
            <p:ph type="body" sz="quarter" idx="17"/>
          </p:nvPr>
        </p:nvSpPr>
        <p:spPr>
          <a:xfrm>
            <a:off x="838200" y="1981200"/>
            <a:ext cx="7391400" cy="473580"/>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Parameters of the rename() method</a:t>
            </a:r>
            <a:endParaRPr lang="en-US" sz="2400" b="1" dirty="0">
              <a:solidFill>
                <a:srgbClr val="000099"/>
              </a:solidFill>
              <a:effectLst/>
              <a:latin typeface="Montserrat Medium"/>
              <a:ea typeface="Times New Roman" panose="02020603050405020304" pitchFamily="18" charset="0"/>
              <a:cs typeface="Times New Roman" panose="02020603050405020304" pitchFamily="18" charset="0"/>
            </a:endParaRPr>
          </a:p>
          <a:p>
            <a:endParaRPr lang="en-US" sz="2400" dirty="0"/>
          </a:p>
        </p:txBody>
      </p:sp>
      <p:graphicFrame>
        <p:nvGraphicFramePr>
          <p:cNvPr id="12" name="Table Placeholder 11">
            <a:extLst>
              <a:ext uri="{FF2B5EF4-FFF2-40B4-BE49-F238E27FC236}">
                <a16:creationId xmlns:a16="http://schemas.microsoft.com/office/drawing/2014/main" id="{56D88109-4993-4FEA-B685-C555CF7889FB}"/>
              </a:ext>
            </a:extLst>
          </p:cNvPr>
          <p:cNvGraphicFramePr>
            <a:graphicFrameLocks noGrp="1"/>
          </p:cNvGraphicFramePr>
          <p:nvPr>
            <p:ph type="tbl" sz="quarter" idx="14"/>
            <p:extLst>
              <p:ext uri="{D42A27DB-BD31-4B8C-83A1-F6EECF244321}">
                <p14:modId xmlns:p14="http://schemas.microsoft.com/office/powerpoint/2010/main" val="2192093723"/>
              </p:ext>
            </p:extLst>
          </p:nvPr>
        </p:nvGraphicFramePr>
        <p:xfrm>
          <a:off x="914400" y="2514600"/>
          <a:ext cx="6926579" cy="1097280"/>
        </p:xfrm>
        <a:graphic>
          <a:graphicData uri="http://schemas.openxmlformats.org/drawingml/2006/table">
            <a:tbl>
              <a:tblPr firstRow="1"/>
              <a:tblGrid>
                <a:gridCol w="1783079">
                  <a:extLst>
                    <a:ext uri="{9D8B030D-6E8A-4147-A177-3AD203B41FA5}">
                      <a16:colId xmlns:a16="http://schemas.microsoft.com/office/drawing/2014/main" val="3172557425"/>
                    </a:ext>
                  </a:extLst>
                </a:gridCol>
                <a:gridCol w="5143500">
                  <a:extLst>
                    <a:ext uri="{9D8B030D-6E8A-4147-A177-3AD203B41FA5}">
                      <a16:colId xmlns:a16="http://schemas.microsoft.com/office/drawing/2014/main" val="3447113177"/>
                    </a:ext>
                  </a:extLst>
                </a:gridCol>
              </a:tblGrid>
              <a:tr h="332299">
                <a:tc>
                  <a:txBody>
                    <a:bodyPr/>
                    <a:lstStyle/>
                    <a:p>
                      <a:pPr marL="0" marR="0">
                        <a:spcBef>
                          <a:spcPts val="600"/>
                        </a:spcBef>
                        <a:spcAft>
                          <a:spcPts val="600"/>
                        </a:spcAft>
                        <a:tabLst>
                          <a:tab pos="1828800" algn="l"/>
                          <a:tab pos="457200" algn="l"/>
                        </a:tabLst>
                      </a:pPr>
                      <a:r>
                        <a:rPr lang="en-US" sz="20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Parameter</a:t>
                      </a:r>
                      <a:endParaRPr lang="en-US" sz="2000" b="1" dirty="0">
                        <a:solidFill>
                          <a:srgbClr val="FFFFFF"/>
                        </a:solidFill>
                        <a:effectLst/>
                        <a:latin typeface="Montserrat Medium"/>
                        <a:ea typeface="Times New Roman" panose="02020603050405020304" pitchFamily="18" charset="0"/>
                        <a:cs typeface="Times New Roman" panose="02020603050405020304" pitchFamily="18" charset="0"/>
                      </a:endParaRPr>
                    </a:p>
                  </a:txBody>
                  <a:tcPr marL="73152" marR="73152">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dirty="0">
                        <a:solidFill>
                          <a:srgbClr val="FFFFFF"/>
                        </a:solidFill>
                        <a:effectLst/>
                        <a:latin typeface="Montserrat Medium"/>
                        <a:ea typeface="Times New Roman" panose="02020603050405020304" pitchFamily="18" charset="0"/>
                        <a:cs typeface="Times New Roman" panose="02020603050405020304" pitchFamily="18" charset="0"/>
                      </a:endParaRPr>
                    </a:p>
                  </a:txBody>
                  <a:tcPr marL="73152" marR="73152">
                    <a:lnL>
                      <a:noFill/>
                    </a:lnL>
                    <a:lnR>
                      <a:noFill/>
                    </a:lnR>
                    <a:lnT>
                      <a:noFill/>
                    </a:lnT>
                    <a:lnB>
                      <a:noFill/>
                    </a:lnB>
                    <a:solidFill>
                      <a:srgbClr val="3D87B7"/>
                    </a:solidFill>
                  </a:tcPr>
                </a:tc>
                <a:extLst>
                  <a:ext uri="{0D108BD9-81ED-4DB2-BD59-A6C34878D82A}">
                    <a16:rowId xmlns:a16="http://schemas.microsoft.com/office/drawing/2014/main" val="781542254"/>
                  </a:ext>
                </a:extLst>
              </a:tr>
              <a:tr h="587913">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columns</a:t>
                      </a:r>
                      <a:endParaRPr lang="en-US" sz="160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A dictionary that contains the columns to be renamed and the new names for those columns.</a:t>
                      </a:r>
                      <a:endParaRPr lang="en-US" sz="20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3304428677"/>
                  </a:ext>
                </a:extLst>
              </a:tr>
            </a:tbl>
          </a:graphicData>
        </a:graphic>
      </p:graphicFrame>
      <p:sp>
        <p:nvSpPr>
          <p:cNvPr id="4" name="Date Placeholder 3">
            <a:extLst>
              <a:ext uri="{FF2B5EF4-FFF2-40B4-BE49-F238E27FC236}">
                <a16:creationId xmlns:a16="http://schemas.microsoft.com/office/drawing/2014/main" id="{F4A2EF0A-0927-4F28-8C28-EC1E2C517CF3}"/>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18E32C02-FC56-496A-AAFC-A31062A43DB1}"/>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B2809EE7-493A-4407-86FF-707EEBB3DA89}"/>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26</a:t>
            </a:fld>
            <a:endParaRPr lang="en-US" dirty="0">
              <a:solidFill>
                <a:schemeClr val="bg1"/>
              </a:solidFill>
            </a:endParaRPr>
          </a:p>
        </p:txBody>
      </p:sp>
    </p:spTree>
    <p:extLst>
      <p:ext uri="{BB962C8B-B14F-4D97-AF65-F5344CB8AC3E}">
        <p14:creationId xmlns:p14="http://schemas.microsoft.com/office/powerpoint/2010/main" val="34535887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81F46-3FFA-4C37-92AA-9A6BC4223878}"/>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rename columns with the rename() method</a:t>
            </a:r>
            <a:endParaRPr lang="en-US" dirty="0"/>
          </a:p>
        </p:txBody>
      </p:sp>
      <p:sp>
        <p:nvSpPr>
          <p:cNvPr id="3" name="Text Placeholder 2">
            <a:extLst>
              <a:ext uri="{FF2B5EF4-FFF2-40B4-BE49-F238E27FC236}">
                <a16:creationId xmlns:a16="http://schemas.microsoft.com/office/drawing/2014/main" id="{823365CE-956C-4030-AC09-EF772ECE4DDD}"/>
              </a:ext>
            </a:extLst>
          </p:cNvPr>
          <p:cNvSpPr>
            <a:spLocks noGrp="1"/>
          </p:cNvSpPr>
          <p:nvPr>
            <p:ph type="body" sz="quarter" idx="13"/>
          </p:nvPr>
        </p:nvSpPr>
        <p:spPr>
          <a:xfrm>
            <a:off x="857451" y="1066800"/>
            <a:ext cx="7391400" cy="4876800"/>
          </a:xfrm>
        </p:spPr>
        <p:txBody>
          <a:bodyPr/>
          <a:lstStyle/>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rename columns with an embedded dictionary</a:t>
            </a:r>
            <a:endParaRPr lang="en-US" b="1" spc="-10" dirty="0">
              <a:solidFill>
                <a:srgbClr val="000099"/>
              </a:solidFill>
              <a:effectLst/>
              <a:latin typeface="Montserrat Medium"/>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polls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polls.rename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(columns={</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'rawpoll_</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clinton</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clinton_pct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60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'rawpoll_trump':'</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trump_pct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rename columns with a separate dictionary </a:t>
            </a:r>
            <a:b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polls_names_dict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 {'rawpoll_</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clinton</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clinton_pct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'rawpoll_trump':'</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trump_pct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polls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polls.rename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(columns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polls_names_dict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endParaRPr lang="en-US" sz="1600" dirty="0"/>
          </a:p>
        </p:txBody>
      </p:sp>
      <p:sp>
        <p:nvSpPr>
          <p:cNvPr id="4" name="Date Placeholder 3">
            <a:extLst>
              <a:ext uri="{FF2B5EF4-FFF2-40B4-BE49-F238E27FC236}">
                <a16:creationId xmlns:a16="http://schemas.microsoft.com/office/drawing/2014/main" id="{2F511887-3226-421E-BC26-C4A544828689}"/>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B27D6023-1185-4389-A1B0-0BAECACA6373}"/>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CE0B1666-CF21-4108-958B-D2E73E9B3892}"/>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27</a:t>
            </a:fld>
            <a:endParaRPr lang="en-US" dirty="0">
              <a:solidFill>
                <a:schemeClr val="bg1"/>
              </a:solidFill>
            </a:endParaRPr>
          </a:p>
        </p:txBody>
      </p:sp>
    </p:spTree>
    <p:extLst>
      <p:ext uri="{BB962C8B-B14F-4D97-AF65-F5344CB8AC3E}">
        <p14:creationId xmlns:p14="http://schemas.microsoft.com/office/powerpoint/2010/main" val="38504262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C3ACD-EF2C-4D63-9A5E-E699235AF25D}"/>
              </a:ext>
            </a:extLst>
          </p:cNvPr>
          <p:cNvSpPr>
            <a:spLocks noGrp="1"/>
          </p:cNvSpPr>
          <p:nvPr>
            <p:ph type="title"/>
          </p:nvPr>
        </p:nvSpPr>
        <p:spPr>
          <a:xfrm>
            <a:off x="914400" y="440323"/>
            <a:ext cx="7315200" cy="738664"/>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rename columns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with the Python replace() method</a:t>
            </a:r>
            <a:endParaRPr lang="en-US" dirty="0"/>
          </a:p>
        </p:txBody>
      </p:sp>
      <p:sp>
        <p:nvSpPr>
          <p:cNvPr id="3" name="Text Placeholder 2">
            <a:extLst>
              <a:ext uri="{FF2B5EF4-FFF2-40B4-BE49-F238E27FC236}">
                <a16:creationId xmlns:a16="http://schemas.microsoft.com/office/drawing/2014/main" id="{3EB8C22A-E216-470C-82AB-363A639B5C04}"/>
              </a:ext>
            </a:extLst>
          </p:cNvPr>
          <p:cNvSpPr>
            <a:spLocks noGrp="1"/>
          </p:cNvSpPr>
          <p:nvPr>
            <p:ph type="body" sz="quarter" idx="13"/>
          </p:nvPr>
        </p:nvSpPr>
        <p:spPr>
          <a:xfrm>
            <a:off x="838200" y="1219200"/>
            <a:ext cx="7467600" cy="4876800"/>
          </a:xfrm>
        </p:spPr>
        <p:txBody>
          <a:bodyPr/>
          <a:lstStyle/>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use a simple expression with the replace() method</a:t>
            </a:r>
            <a:endParaRPr lang="en-US" b="1" spc="-10" dirty="0">
              <a:solidFill>
                <a:srgbClr val="000099"/>
              </a:solidFill>
              <a:effectLst/>
              <a:latin typeface="Montserrat Medium"/>
              <a:ea typeface="Times New Roman" panose="02020603050405020304" pitchFamily="18" charset="0"/>
              <a:cs typeface="Times New Roman" panose="02020603050405020304" pitchFamily="18" charset="0"/>
            </a:endParaRPr>
          </a:p>
          <a:p>
            <a:pPr marL="347345" marR="0">
              <a:spcBef>
                <a:spcPts val="0"/>
              </a:spcBef>
              <a:spcAft>
                <a:spcPts val="60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polls.columns</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polls.columns.str.replace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('_pct','')</a:t>
            </a:r>
          </a:p>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use regular expressions with the replace() method</a:t>
            </a:r>
            <a:endParaRPr lang="en-US" b="1" spc="-10" dirty="0">
              <a:solidFill>
                <a:srgbClr val="000099"/>
              </a:solidFill>
              <a:effectLst/>
              <a:latin typeface="Montserrat Medium"/>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jobs.columns</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jobs.columns</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str.replace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a_','annual</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_', regex=True) \</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str.replace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h_','hourly</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_', regex=True) \</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str.replace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('_</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pct','_percent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endParaRPr lang="en-US" sz="1600" dirty="0"/>
          </a:p>
        </p:txBody>
      </p:sp>
      <p:sp>
        <p:nvSpPr>
          <p:cNvPr id="4" name="Date Placeholder 3">
            <a:extLst>
              <a:ext uri="{FF2B5EF4-FFF2-40B4-BE49-F238E27FC236}">
                <a16:creationId xmlns:a16="http://schemas.microsoft.com/office/drawing/2014/main" id="{E2E102E2-48C8-43EF-9B8C-0A494267F7C2}"/>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FE8707CC-A7FA-4D27-84F9-3337F18B861F}"/>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1C5027BB-3DAA-409C-8D00-C6C461C2D9E2}"/>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28</a:t>
            </a:fld>
            <a:endParaRPr lang="en-US" dirty="0">
              <a:solidFill>
                <a:schemeClr val="bg1"/>
              </a:solidFill>
            </a:endParaRPr>
          </a:p>
        </p:txBody>
      </p:sp>
    </p:spTree>
    <p:extLst>
      <p:ext uri="{BB962C8B-B14F-4D97-AF65-F5344CB8AC3E}">
        <p14:creationId xmlns:p14="http://schemas.microsoft.com/office/powerpoint/2010/main" val="25928354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21C9518-16E8-4836-95BE-F3D26E1EF9C0}"/>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isnull</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notnull</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and any() methods</a:t>
            </a:r>
            <a:endParaRPr lang="en-US" dirty="0"/>
          </a:p>
        </p:txBody>
      </p:sp>
      <p:graphicFrame>
        <p:nvGraphicFramePr>
          <p:cNvPr id="9" name="Table Placeholder 8">
            <a:extLst>
              <a:ext uri="{FF2B5EF4-FFF2-40B4-BE49-F238E27FC236}">
                <a16:creationId xmlns:a16="http://schemas.microsoft.com/office/drawing/2014/main" id="{708AF213-906F-4D72-8D1E-6A8C7F33BD2A}"/>
              </a:ext>
            </a:extLst>
          </p:cNvPr>
          <p:cNvGraphicFramePr>
            <a:graphicFrameLocks noGrp="1"/>
          </p:cNvGraphicFramePr>
          <p:nvPr>
            <p:ph type="tbl" sz="quarter" idx="13"/>
            <p:extLst>
              <p:ext uri="{D42A27DB-BD31-4B8C-83A1-F6EECF244321}">
                <p14:modId xmlns:p14="http://schemas.microsoft.com/office/powerpoint/2010/main" val="2218900465"/>
              </p:ext>
            </p:extLst>
          </p:nvPr>
        </p:nvGraphicFramePr>
        <p:xfrm>
          <a:off x="903514" y="1122000"/>
          <a:ext cx="6240780" cy="2499360"/>
        </p:xfrm>
        <a:graphic>
          <a:graphicData uri="http://schemas.openxmlformats.org/drawingml/2006/table">
            <a:tbl>
              <a:tblPr firstRow="1"/>
              <a:tblGrid>
                <a:gridCol w="1668780">
                  <a:extLst>
                    <a:ext uri="{9D8B030D-6E8A-4147-A177-3AD203B41FA5}">
                      <a16:colId xmlns:a16="http://schemas.microsoft.com/office/drawing/2014/main" val="376961378"/>
                    </a:ext>
                  </a:extLst>
                </a:gridCol>
                <a:gridCol w="4572000">
                  <a:extLst>
                    <a:ext uri="{9D8B030D-6E8A-4147-A177-3AD203B41FA5}">
                      <a16:colId xmlns:a16="http://schemas.microsoft.com/office/drawing/2014/main" val="3159127119"/>
                    </a:ext>
                  </a:extLst>
                </a:gridCol>
              </a:tblGrid>
              <a:tr h="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Method</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extLst>
                  <a:ext uri="{0D108BD9-81ED-4DB2-BD59-A6C34878D82A}">
                    <a16:rowId xmlns:a16="http://schemas.microsoft.com/office/drawing/2014/main" val="604435313"/>
                  </a:ext>
                </a:extLst>
              </a:tr>
              <a:tr h="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isnull(</a:t>
                      </a:r>
                      <a:r>
                        <a:rPr lang="en-US" sz="1600" b="1" i="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Returns a Boolean same-sized object indicating whether the values are NA. </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1897266842"/>
                  </a:ext>
                </a:extLst>
              </a:tr>
              <a:tr h="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notnull(</a:t>
                      </a:r>
                      <a:r>
                        <a:rPr lang="en-US" sz="1600" b="1" i="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Returns a Boolean same-sized object indicating whether the values are not NA.</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3006690580"/>
                  </a:ext>
                </a:extLst>
              </a:tr>
              <a:tr h="0">
                <a:tc>
                  <a:txBody>
                    <a:bodyPr/>
                    <a:lstStyle/>
                    <a:p>
                      <a:pPr marL="0" marR="0" indent="0">
                        <a:spcBef>
                          <a:spcPts val="600"/>
                        </a:spcBef>
                        <a:spcAft>
                          <a:spcPts val="600"/>
                        </a:spcAft>
                        <a:tabLst>
                          <a:tab pos="800100" algn="l"/>
                          <a:tab pos="25146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any(axis=1)</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Returns True if any column in a row contains a missing value.</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4233546333"/>
                  </a:ext>
                </a:extLst>
              </a:tr>
            </a:tbl>
          </a:graphicData>
        </a:graphic>
      </p:graphicFrame>
      <p:sp>
        <p:nvSpPr>
          <p:cNvPr id="4" name="Date Placeholder 3">
            <a:extLst>
              <a:ext uri="{FF2B5EF4-FFF2-40B4-BE49-F238E27FC236}">
                <a16:creationId xmlns:a16="http://schemas.microsoft.com/office/drawing/2014/main" id="{D6AFBA97-A4DF-4906-A166-0C61C42E84FD}"/>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362138A4-DE48-4735-85FE-2438E46614CC}"/>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B58A2E61-66D3-4E12-99CB-2ACEF46D6211}"/>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29</a:t>
            </a:fld>
            <a:endParaRPr lang="en-US" dirty="0">
              <a:solidFill>
                <a:schemeClr val="bg1"/>
              </a:solidFill>
            </a:endParaRPr>
          </a:p>
        </p:txBody>
      </p:sp>
    </p:spTree>
    <p:extLst>
      <p:ext uri="{BB962C8B-B14F-4D97-AF65-F5344CB8AC3E}">
        <p14:creationId xmlns:p14="http://schemas.microsoft.com/office/powerpoint/2010/main" val="10726148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37EAC23-314F-41EC-A405-A112819D269C}"/>
              </a:ext>
            </a:extLst>
          </p:cNvPr>
          <p:cNvSpPr>
            <a:spLocks noGrp="1"/>
          </p:cNvSpPr>
          <p:nvPr>
            <p:ph type="title"/>
          </p:nvPr>
        </p:nvSpPr>
        <p:spPr>
          <a:xfrm>
            <a:off x="914400" y="440323"/>
            <a:ext cx="7315200" cy="738664"/>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ten-row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DataFrame</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named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mortality_data</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that has some missing values</a:t>
            </a:r>
            <a:endParaRPr lang="en-US" dirty="0"/>
          </a:p>
        </p:txBody>
      </p:sp>
      <p:pic>
        <p:nvPicPr>
          <p:cNvPr id="11" name="Content Placeholder 10" descr="Refer to page 213 in textbook">
            <a:extLst>
              <a:ext uri="{FF2B5EF4-FFF2-40B4-BE49-F238E27FC236}">
                <a16:creationId xmlns:a16="http://schemas.microsoft.com/office/drawing/2014/main" id="{5FA51866-928F-4F14-B507-73E5A23A2D48}"/>
              </a:ext>
            </a:extLst>
          </p:cNvPr>
          <p:cNvPicPr>
            <a:picLocks noGrp="1" noChangeAspect="1"/>
          </p:cNvPicPr>
          <p:nvPr>
            <p:ph sz="quarter" idx="13"/>
          </p:nvPr>
        </p:nvPicPr>
        <p:blipFill>
          <a:blip r:embed="rId2"/>
          <a:stretch>
            <a:fillRect/>
          </a:stretch>
        </p:blipFill>
        <p:spPr>
          <a:xfrm>
            <a:off x="914400" y="1316493"/>
            <a:ext cx="2895600" cy="2084832"/>
          </a:xfrm>
          <a:prstGeom prst="rect">
            <a:avLst/>
          </a:prstGeom>
        </p:spPr>
      </p:pic>
      <p:pic>
        <p:nvPicPr>
          <p:cNvPr id="12" name="Content Placeholder 11" descr="Refer to page 213 in textbook">
            <a:extLst>
              <a:ext uri="{FF2B5EF4-FFF2-40B4-BE49-F238E27FC236}">
                <a16:creationId xmlns:a16="http://schemas.microsoft.com/office/drawing/2014/main" id="{D17207BD-8076-4CA7-A5CF-B0A9627909FD}"/>
              </a:ext>
            </a:extLst>
          </p:cNvPr>
          <p:cNvPicPr>
            <a:picLocks noGrp="1" noChangeAspect="1"/>
          </p:cNvPicPr>
          <p:nvPr>
            <p:ph sz="quarter" idx="15"/>
          </p:nvPr>
        </p:nvPicPr>
        <p:blipFill>
          <a:blip r:embed="rId3"/>
          <a:stretch>
            <a:fillRect/>
          </a:stretch>
        </p:blipFill>
        <p:spPr>
          <a:xfrm>
            <a:off x="4191000" y="1326279"/>
            <a:ext cx="2827756" cy="2075045"/>
          </a:xfrm>
          <a:prstGeom prst="rect">
            <a:avLst/>
          </a:prstGeom>
        </p:spPr>
      </p:pic>
      <p:sp>
        <p:nvSpPr>
          <p:cNvPr id="4" name="Date Placeholder 3">
            <a:extLst>
              <a:ext uri="{FF2B5EF4-FFF2-40B4-BE49-F238E27FC236}">
                <a16:creationId xmlns:a16="http://schemas.microsoft.com/office/drawing/2014/main" id="{2C059FCB-8F45-4C6A-BC05-2459CCFFB824}"/>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A65A26EB-BEF9-4D7A-9BCB-E765AD0EA6EA}"/>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F2FBA8BE-299C-4033-B9A7-A9E1D5A7595C}"/>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C6, Slide </a:t>
            </a:r>
            <a:fld id="{BF5C1183-B085-4070-A402-C03A3F977D3D}" type="slidenum">
              <a:rPr lang="en-US" sz="900" smtClean="0">
                <a:solidFill>
                  <a:schemeClr val="bg1"/>
                </a:solidFill>
                <a:latin typeface="Arial Narrow" panose="020B0606020202030204" pitchFamily="34" charset="0"/>
              </a:rPr>
              <a:pPr algn="r">
                <a:defRPr/>
              </a:pPr>
              <a:t>30</a:t>
            </a:fld>
            <a:endParaRPr lang="en-US" sz="9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41621265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81FF5-5398-4616-B5D3-D701ADB703AB}"/>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display the count of the missing values </a:t>
            </a:r>
            <a:endParaRPr lang="en-US" dirty="0"/>
          </a:p>
        </p:txBody>
      </p:sp>
      <p:sp>
        <p:nvSpPr>
          <p:cNvPr id="3" name="Text Placeholder 2">
            <a:extLst>
              <a:ext uri="{FF2B5EF4-FFF2-40B4-BE49-F238E27FC236}">
                <a16:creationId xmlns:a16="http://schemas.microsoft.com/office/drawing/2014/main" id="{9ED2C5C2-4F1C-46B8-9434-4B4E101F787D}"/>
              </a:ext>
            </a:extLst>
          </p:cNvPr>
          <p:cNvSpPr>
            <a:spLocks noGrp="1"/>
          </p:cNvSpPr>
          <p:nvPr>
            <p:ph type="body" sz="quarter" idx="13"/>
          </p:nvPr>
        </p:nvSpPr>
        <p:spPr>
          <a:xfrm>
            <a:off x="838200" y="1143000"/>
            <a:ext cx="7391400" cy="4876800"/>
          </a:xfrm>
        </p:spPr>
        <p:txBody>
          <a:bodyPr/>
          <a:lstStyle/>
          <a:p>
            <a:pPr marL="347345" marR="0">
              <a:spcBef>
                <a:spcPts val="0"/>
              </a:spcBef>
              <a:spcAft>
                <a:spcPts val="0"/>
              </a:spcAft>
              <a:tabLst>
                <a:tab pos="1371600" algn="l"/>
              </a:tabLst>
            </a:pP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missing_count</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mortality_data.shape</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[0] –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mortality_data.count</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print(</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missing_count</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Year         3</a:t>
            </a:r>
          </a:p>
          <a:p>
            <a:pPr marL="347345" marR="0">
              <a:spcBef>
                <a:spcPts val="0"/>
              </a:spcBef>
              <a:spcAft>
                <a:spcPts val="0"/>
              </a:spcAft>
              <a:tabLst>
                <a:tab pos="1371600" algn="l"/>
              </a:tabLst>
            </a:pP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AgeGroup</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0</a:t>
            </a:r>
          </a:p>
          <a:p>
            <a:pPr marL="347345" marR="0">
              <a:spcBef>
                <a:spcPts val="0"/>
              </a:spcBef>
              <a:spcAft>
                <a:spcPts val="0"/>
              </a:spcAft>
              <a:tabLst>
                <a:tab pos="1371600" algn="l"/>
              </a:tabLst>
            </a:pP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DeathRate</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4</a:t>
            </a:r>
          </a:p>
          <a:p>
            <a:endParaRPr lang="en-US" sz="1400" dirty="0"/>
          </a:p>
        </p:txBody>
      </p:sp>
      <p:sp>
        <p:nvSpPr>
          <p:cNvPr id="4" name="Date Placeholder 3">
            <a:extLst>
              <a:ext uri="{FF2B5EF4-FFF2-40B4-BE49-F238E27FC236}">
                <a16:creationId xmlns:a16="http://schemas.microsoft.com/office/drawing/2014/main" id="{6DD419AD-3D25-4AA6-B8E8-03984CA86093}"/>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7835C0A4-6D72-4E76-9162-CB133FB193A7}"/>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C016DBAE-D3EB-48E5-BD8C-E68F7F237DBD}"/>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31</a:t>
            </a:fld>
            <a:endParaRPr lang="en-US" dirty="0">
              <a:solidFill>
                <a:schemeClr val="bg1"/>
              </a:solidFill>
            </a:endParaRPr>
          </a:p>
        </p:txBody>
      </p:sp>
    </p:spTree>
    <p:extLst>
      <p:ext uri="{BB962C8B-B14F-4D97-AF65-F5344CB8AC3E}">
        <p14:creationId xmlns:p14="http://schemas.microsoft.com/office/powerpoint/2010/main" val="10958380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5BAD320-8CF1-4BD7-9311-48390D39DEB9}"/>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display all rows that contain NA values</a:t>
            </a:r>
            <a:endParaRPr lang="en-US" dirty="0"/>
          </a:p>
        </p:txBody>
      </p:sp>
      <p:sp>
        <p:nvSpPr>
          <p:cNvPr id="9" name="Text Placeholder 8">
            <a:extLst>
              <a:ext uri="{FF2B5EF4-FFF2-40B4-BE49-F238E27FC236}">
                <a16:creationId xmlns:a16="http://schemas.microsoft.com/office/drawing/2014/main" id="{FF019B62-EDC6-4D07-91FB-CCCE176F37A3}"/>
              </a:ext>
            </a:extLst>
          </p:cNvPr>
          <p:cNvSpPr>
            <a:spLocks noGrp="1"/>
          </p:cNvSpPr>
          <p:nvPr>
            <p:ph type="body" sz="quarter" idx="15"/>
          </p:nvPr>
        </p:nvSpPr>
        <p:spPr/>
        <p:txBody>
          <a:bodyPr/>
          <a:lstStyle/>
          <a:p>
            <a:pPr marL="347345" marR="0">
              <a:spcBef>
                <a:spcPts val="0"/>
              </a:spcBef>
              <a:spcAft>
                <a:spcPts val="60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mortality_data</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mortality_data.isnull</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().any(axis=1)]</a:t>
            </a:r>
          </a:p>
          <a:p>
            <a:endParaRPr lang="en-US" sz="1600" dirty="0"/>
          </a:p>
        </p:txBody>
      </p:sp>
      <p:pic>
        <p:nvPicPr>
          <p:cNvPr id="10" name="Content Placeholder 9" descr="Refer to page 213 in textbook">
            <a:extLst>
              <a:ext uri="{FF2B5EF4-FFF2-40B4-BE49-F238E27FC236}">
                <a16:creationId xmlns:a16="http://schemas.microsoft.com/office/drawing/2014/main" id="{08E97903-E9FA-413B-892A-D316F96A6B4E}"/>
              </a:ext>
            </a:extLst>
          </p:cNvPr>
          <p:cNvPicPr>
            <a:picLocks noGrp="1" noChangeAspect="1"/>
          </p:cNvPicPr>
          <p:nvPr>
            <p:ph sz="quarter" idx="13"/>
          </p:nvPr>
        </p:nvPicPr>
        <p:blipFill>
          <a:blip r:embed="rId2"/>
          <a:stretch>
            <a:fillRect/>
          </a:stretch>
        </p:blipFill>
        <p:spPr>
          <a:xfrm>
            <a:off x="1251856" y="1447799"/>
            <a:ext cx="2995627" cy="2213841"/>
          </a:xfrm>
          <a:prstGeom prst="rect">
            <a:avLst/>
          </a:prstGeom>
        </p:spPr>
      </p:pic>
      <p:sp>
        <p:nvSpPr>
          <p:cNvPr id="4" name="Date Placeholder 3">
            <a:extLst>
              <a:ext uri="{FF2B5EF4-FFF2-40B4-BE49-F238E27FC236}">
                <a16:creationId xmlns:a16="http://schemas.microsoft.com/office/drawing/2014/main" id="{E312448E-3530-4587-8D26-A94C521EB150}"/>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5CD69C89-F5BE-4ECF-8398-0BFA18CE0C9E}"/>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163EB114-F8F7-467E-B588-ACE486B94AFB}"/>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C6, Slide </a:t>
            </a:r>
            <a:fld id="{BF5C1183-B085-4070-A402-C03A3F977D3D}" type="slidenum">
              <a:rPr lang="en-US" sz="900" smtClean="0">
                <a:solidFill>
                  <a:schemeClr val="bg1"/>
                </a:solidFill>
                <a:latin typeface="Arial Narrow" panose="020B0606020202030204" pitchFamily="34" charset="0"/>
              </a:rPr>
              <a:pPr algn="r">
                <a:defRPr/>
              </a:pPr>
              <a:t>32</a:t>
            </a:fld>
            <a:endParaRPr lang="en-US" sz="9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23970791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7DFDA-73E1-4732-A616-170FA01491CF}"/>
              </a:ext>
            </a:extLst>
          </p:cNvPr>
          <p:cNvSpPr>
            <a:spLocks noGrp="1"/>
          </p:cNvSpPr>
          <p:nvPr>
            <p:ph type="title"/>
          </p:nvPr>
        </p:nvSpPr>
        <p:spPr>
          <a:xfrm>
            <a:off x="914400" y="440323"/>
            <a:ext cx="7315200" cy="738664"/>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display all rows with NA values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in 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DeathRate</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column</a:t>
            </a:r>
            <a:endParaRPr lang="en-US" dirty="0"/>
          </a:p>
        </p:txBody>
      </p:sp>
      <p:sp>
        <p:nvSpPr>
          <p:cNvPr id="3" name="Text Placeholder 2">
            <a:extLst>
              <a:ext uri="{FF2B5EF4-FFF2-40B4-BE49-F238E27FC236}">
                <a16:creationId xmlns:a16="http://schemas.microsoft.com/office/drawing/2014/main" id="{2436BF71-41AC-4C1B-ABB8-DF0FB19E541F}"/>
              </a:ext>
            </a:extLst>
          </p:cNvPr>
          <p:cNvSpPr>
            <a:spLocks noGrp="1"/>
          </p:cNvSpPr>
          <p:nvPr>
            <p:ph type="body" sz="quarter" idx="13"/>
          </p:nvPr>
        </p:nvSpPr>
        <p:spPr>
          <a:xfrm>
            <a:off x="838200" y="1219200"/>
            <a:ext cx="7391400" cy="4876800"/>
          </a:xfrm>
        </p:spPr>
        <p:txBody>
          <a:bodyPr/>
          <a:lstStyle/>
          <a:p>
            <a:pPr marL="347345" marR="0">
              <a:spcBef>
                <a:spcPts val="0"/>
              </a:spcBef>
              <a:spcAft>
                <a:spcPts val="60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mortality_data</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mortality_data.DeathRate.isnull</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display all rows that don’t have NA values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in 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DeathRate</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column</a:t>
            </a:r>
            <a:endParaRPr lang="en-US" sz="2400" b="1" dirty="0">
              <a:solidFill>
                <a:srgbClr val="000099"/>
              </a:solidFill>
              <a:effectLst/>
              <a:latin typeface="Montserrat Medium"/>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mortality_data</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mortality_data.DeathRate.notnull</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endParaRPr lang="en-US" sz="1600" dirty="0"/>
          </a:p>
        </p:txBody>
      </p:sp>
      <p:sp>
        <p:nvSpPr>
          <p:cNvPr id="4" name="Date Placeholder 3">
            <a:extLst>
              <a:ext uri="{FF2B5EF4-FFF2-40B4-BE49-F238E27FC236}">
                <a16:creationId xmlns:a16="http://schemas.microsoft.com/office/drawing/2014/main" id="{4EEDC8E8-645E-4668-BBD5-8B306086577B}"/>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9873DD55-A385-4FB9-A8BD-BC653CE2175D}"/>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A8F1087A-E379-4877-8B04-BC227C9182B3}"/>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33</a:t>
            </a:fld>
            <a:endParaRPr lang="en-US" dirty="0">
              <a:solidFill>
                <a:schemeClr val="bg1"/>
              </a:solidFill>
            </a:endParaRPr>
          </a:p>
        </p:txBody>
      </p:sp>
    </p:spTree>
    <p:extLst>
      <p:ext uri="{BB962C8B-B14F-4D97-AF65-F5344CB8AC3E}">
        <p14:creationId xmlns:p14="http://schemas.microsoft.com/office/powerpoint/2010/main" val="30814140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814223B-DAEC-4194-93AA-0FCC20D3C9B7}"/>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dropna</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a:t>
            </a:r>
            <a:endParaRPr lang="en-US" dirty="0"/>
          </a:p>
        </p:txBody>
      </p:sp>
      <p:graphicFrame>
        <p:nvGraphicFramePr>
          <p:cNvPr id="11" name="Table Placeholder 10">
            <a:extLst>
              <a:ext uri="{FF2B5EF4-FFF2-40B4-BE49-F238E27FC236}">
                <a16:creationId xmlns:a16="http://schemas.microsoft.com/office/drawing/2014/main" id="{B02B51D6-C9F1-4424-8AA4-A7C79667EFAF}"/>
              </a:ext>
            </a:extLst>
          </p:cNvPr>
          <p:cNvGraphicFramePr>
            <a:graphicFrameLocks noGrp="1"/>
          </p:cNvGraphicFramePr>
          <p:nvPr>
            <p:ph type="tbl" sz="quarter" idx="13"/>
            <p:extLst>
              <p:ext uri="{D42A27DB-BD31-4B8C-83A1-F6EECF244321}">
                <p14:modId xmlns:p14="http://schemas.microsoft.com/office/powerpoint/2010/main" val="3302133889"/>
              </p:ext>
            </p:extLst>
          </p:nvPr>
        </p:nvGraphicFramePr>
        <p:xfrm>
          <a:off x="936171" y="1090800"/>
          <a:ext cx="5554980" cy="1097280"/>
        </p:xfrm>
        <a:graphic>
          <a:graphicData uri="http://schemas.openxmlformats.org/drawingml/2006/table">
            <a:tbl>
              <a:tblPr firstRow="1"/>
              <a:tblGrid>
                <a:gridCol w="1954530">
                  <a:extLst>
                    <a:ext uri="{9D8B030D-6E8A-4147-A177-3AD203B41FA5}">
                      <a16:colId xmlns:a16="http://schemas.microsoft.com/office/drawing/2014/main" val="2865370142"/>
                    </a:ext>
                  </a:extLst>
                </a:gridCol>
                <a:gridCol w="3600450">
                  <a:extLst>
                    <a:ext uri="{9D8B030D-6E8A-4147-A177-3AD203B41FA5}">
                      <a16:colId xmlns:a16="http://schemas.microsoft.com/office/drawing/2014/main" val="2450690657"/>
                    </a:ext>
                  </a:extLst>
                </a:gridCol>
              </a:tblGrid>
              <a:tr h="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Method</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extLst>
                  <a:ext uri="{0D108BD9-81ED-4DB2-BD59-A6C34878D82A}">
                    <a16:rowId xmlns:a16="http://schemas.microsoft.com/office/drawing/2014/main" val="1997027146"/>
                  </a:ext>
                </a:extLst>
              </a:tr>
              <a:tr h="0">
                <a:tc>
                  <a:txBody>
                    <a:bodyPr/>
                    <a:lstStyle/>
                    <a:p>
                      <a:pPr marL="0" marR="0" indent="0">
                        <a:spcBef>
                          <a:spcPts val="600"/>
                        </a:spcBef>
                        <a:spcAft>
                          <a:spcPts val="600"/>
                        </a:spcAft>
                        <a:tabLst>
                          <a:tab pos="800100" algn="l"/>
                          <a:tab pos="2514600" algn="l"/>
                          <a:tab pos="457200" algn="l"/>
                        </a:tabLst>
                      </a:pPr>
                      <a:r>
                        <a:rPr lang="en-US" sz="1600" b="1"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dropna</a:t>
                      </a: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(params)</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Drops the rows that are specified by the parameters.</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480884395"/>
                  </a:ext>
                </a:extLst>
              </a:tr>
            </a:tbl>
          </a:graphicData>
        </a:graphic>
      </p:graphicFrame>
      <p:sp>
        <p:nvSpPr>
          <p:cNvPr id="10" name="Text Placeholder 9">
            <a:extLst>
              <a:ext uri="{FF2B5EF4-FFF2-40B4-BE49-F238E27FC236}">
                <a16:creationId xmlns:a16="http://schemas.microsoft.com/office/drawing/2014/main" id="{60C31FEA-9087-42D8-AB77-1DEFD10B5D56}"/>
              </a:ext>
            </a:extLst>
          </p:cNvPr>
          <p:cNvSpPr>
            <a:spLocks noGrp="1"/>
          </p:cNvSpPr>
          <p:nvPr>
            <p:ph type="body" sz="quarter" idx="17"/>
          </p:nvPr>
        </p:nvSpPr>
        <p:spPr>
          <a:xfrm>
            <a:off x="838200" y="2286000"/>
            <a:ext cx="7391400" cy="457200"/>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Parameters of 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dropna</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a:t>
            </a:r>
            <a:endParaRPr lang="en-US" sz="2400" b="1" dirty="0">
              <a:solidFill>
                <a:srgbClr val="000099"/>
              </a:solidFill>
              <a:effectLst/>
              <a:latin typeface="Montserrat Medium"/>
              <a:ea typeface="Times New Roman" panose="02020603050405020304" pitchFamily="18" charset="0"/>
              <a:cs typeface="Times New Roman" panose="02020603050405020304" pitchFamily="18" charset="0"/>
            </a:endParaRPr>
          </a:p>
          <a:p>
            <a:endParaRPr lang="en-US" sz="2400" dirty="0"/>
          </a:p>
        </p:txBody>
      </p:sp>
      <p:graphicFrame>
        <p:nvGraphicFramePr>
          <p:cNvPr id="12" name="Table Placeholder 11">
            <a:extLst>
              <a:ext uri="{FF2B5EF4-FFF2-40B4-BE49-F238E27FC236}">
                <a16:creationId xmlns:a16="http://schemas.microsoft.com/office/drawing/2014/main" id="{E53E5C0F-F22B-4FB3-BAD8-2C9C83167A49}"/>
              </a:ext>
            </a:extLst>
          </p:cNvPr>
          <p:cNvGraphicFramePr>
            <a:graphicFrameLocks noGrp="1"/>
          </p:cNvGraphicFramePr>
          <p:nvPr>
            <p:ph type="tbl" sz="quarter" idx="14"/>
            <p:extLst>
              <p:ext uri="{D42A27DB-BD31-4B8C-83A1-F6EECF244321}">
                <p14:modId xmlns:p14="http://schemas.microsoft.com/office/powerpoint/2010/main" val="2124503048"/>
              </p:ext>
            </p:extLst>
          </p:nvPr>
        </p:nvGraphicFramePr>
        <p:xfrm>
          <a:off x="936171" y="2743200"/>
          <a:ext cx="7293429" cy="2657856"/>
        </p:xfrm>
        <a:graphic>
          <a:graphicData uri="http://schemas.openxmlformats.org/drawingml/2006/table">
            <a:tbl>
              <a:tblPr firstRow="1"/>
              <a:tblGrid>
                <a:gridCol w="1767748">
                  <a:extLst>
                    <a:ext uri="{9D8B030D-6E8A-4147-A177-3AD203B41FA5}">
                      <a16:colId xmlns:a16="http://schemas.microsoft.com/office/drawing/2014/main" val="3941351924"/>
                    </a:ext>
                  </a:extLst>
                </a:gridCol>
                <a:gridCol w="5525681">
                  <a:extLst>
                    <a:ext uri="{9D8B030D-6E8A-4147-A177-3AD203B41FA5}">
                      <a16:colId xmlns:a16="http://schemas.microsoft.com/office/drawing/2014/main" val="2247458700"/>
                    </a:ext>
                  </a:extLst>
                </a:gridCol>
              </a:tblGrid>
              <a:tr h="170484">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Parameter</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73152" marR="73152" marT="27432" marB="27432">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dirty="0">
                        <a:solidFill>
                          <a:srgbClr val="FFFFFF"/>
                        </a:solidFill>
                        <a:effectLst/>
                        <a:latin typeface="Montserrat Medium"/>
                        <a:ea typeface="Times New Roman" panose="02020603050405020304" pitchFamily="18" charset="0"/>
                        <a:cs typeface="Times New Roman" panose="02020603050405020304" pitchFamily="18" charset="0"/>
                      </a:endParaRPr>
                    </a:p>
                  </a:txBody>
                  <a:tcPr marL="73152" marR="73152" marT="27432" marB="27432">
                    <a:lnL>
                      <a:noFill/>
                    </a:lnL>
                    <a:lnR>
                      <a:noFill/>
                    </a:lnR>
                    <a:lnT>
                      <a:noFill/>
                    </a:lnT>
                    <a:lnB>
                      <a:noFill/>
                    </a:lnB>
                    <a:solidFill>
                      <a:srgbClr val="3D87B7"/>
                    </a:solidFill>
                  </a:tcPr>
                </a:tc>
                <a:extLst>
                  <a:ext uri="{0D108BD9-81ED-4DB2-BD59-A6C34878D82A}">
                    <a16:rowId xmlns:a16="http://schemas.microsoft.com/office/drawing/2014/main" val="3738101810"/>
                  </a:ext>
                </a:extLst>
              </a:tr>
              <a:tr h="301625">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subset</a:t>
                      </a:r>
                      <a:endParaRPr lang="en-US" sz="1600">
                        <a:effectLst/>
                        <a:latin typeface="Times New Roman" panose="02020603050405020304" pitchFamily="18" charset="0"/>
                        <a:ea typeface="Times New Roman" panose="02020603050405020304" pitchFamily="18" charset="0"/>
                      </a:endParaRPr>
                    </a:p>
                  </a:txBody>
                  <a:tcPr marL="73152" marR="73152" marT="27432" marB="2743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A list of the columns that the drop should be based on.</a:t>
                      </a:r>
                      <a:endParaRPr lang="en-US" sz="2000">
                        <a:effectLst/>
                        <a:latin typeface="Times New Roman" panose="02020603050405020304" pitchFamily="18" charset="0"/>
                        <a:ea typeface="Times New Roman" panose="02020603050405020304" pitchFamily="18" charset="0"/>
                      </a:endParaRPr>
                    </a:p>
                  </a:txBody>
                  <a:tcPr marL="73152" marR="73152" marT="27432" marB="27432">
                    <a:lnL>
                      <a:noFill/>
                    </a:lnL>
                    <a:lnR>
                      <a:noFill/>
                    </a:lnR>
                    <a:lnT>
                      <a:noFill/>
                    </a:lnT>
                    <a:lnB>
                      <a:noFill/>
                    </a:lnB>
                    <a:solidFill>
                      <a:srgbClr val="DFECF5"/>
                    </a:solidFill>
                  </a:tcPr>
                </a:tc>
                <a:extLst>
                  <a:ext uri="{0D108BD9-81ED-4DB2-BD59-A6C34878D82A}">
                    <a16:rowId xmlns:a16="http://schemas.microsoft.com/office/drawing/2014/main" val="1398190550"/>
                  </a:ext>
                </a:extLst>
              </a:tr>
              <a:tr h="432766">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how</a:t>
                      </a:r>
                      <a:endParaRPr lang="en-US" sz="1600">
                        <a:effectLst/>
                        <a:latin typeface="Times New Roman" panose="02020603050405020304" pitchFamily="18" charset="0"/>
                        <a:ea typeface="Times New Roman" panose="02020603050405020304" pitchFamily="18" charset="0"/>
                      </a:endParaRPr>
                    </a:p>
                  </a:txBody>
                  <a:tcPr marL="73152" marR="73152" marT="27432" marB="2743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If ‘any’ (the default), a row is dropped if any column contains an NA value. If ‘all’, a row is dropped only if all columns contain NA values.</a:t>
                      </a:r>
                      <a:endParaRPr lang="en-US" sz="2000">
                        <a:effectLst/>
                        <a:latin typeface="Times New Roman" panose="02020603050405020304" pitchFamily="18" charset="0"/>
                        <a:ea typeface="Times New Roman" panose="02020603050405020304" pitchFamily="18" charset="0"/>
                      </a:endParaRPr>
                    </a:p>
                  </a:txBody>
                  <a:tcPr marL="73152" marR="73152" marT="27432" marB="27432">
                    <a:lnL>
                      <a:noFill/>
                    </a:lnL>
                    <a:lnR>
                      <a:noFill/>
                    </a:lnR>
                    <a:lnT>
                      <a:noFill/>
                    </a:lnT>
                    <a:lnB>
                      <a:noFill/>
                    </a:lnB>
                    <a:solidFill>
                      <a:srgbClr val="DFECF5"/>
                    </a:solidFill>
                  </a:tcPr>
                </a:tc>
                <a:extLst>
                  <a:ext uri="{0D108BD9-81ED-4DB2-BD59-A6C34878D82A}">
                    <a16:rowId xmlns:a16="http://schemas.microsoft.com/office/drawing/2014/main" val="2522991703"/>
                  </a:ext>
                </a:extLst>
              </a:tr>
              <a:tr h="301625">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thresh</a:t>
                      </a:r>
                      <a:endParaRPr lang="en-US" sz="1600">
                        <a:effectLst/>
                        <a:latin typeface="Times New Roman" panose="02020603050405020304" pitchFamily="18" charset="0"/>
                        <a:ea typeface="Times New Roman" panose="02020603050405020304" pitchFamily="18" charset="0"/>
                      </a:endParaRPr>
                    </a:p>
                  </a:txBody>
                  <a:tcPr marL="73152" marR="73152" marT="27432" marB="2743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An integer that specifies how many columns need to contain NA values before the row is dropped.</a:t>
                      </a:r>
                      <a:endParaRPr lang="en-US" sz="2000" dirty="0">
                        <a:effectLst/>
                        <a:latin typeface="Times New Roman" panose="02020603050405020304" pitchFamily="18" charset="0"/>
                        <a:ea typeface="Times New Roman" panose="02020603050405020304" pitchFamily="18" charset="0"/>
                      </a:endParaRPr>
                    </a:p>
                  </a:txBody>
                  <a:tcPr marL="73152" marR="73152" marT="27432" marB="27432">
                    <a:lnL>
                      <a:noFill/>
                    </a:lnL>
                    <a:lnR>
                      <a:noFill/>
                    </a:lnR>
                    <a:lnT>
                      <a:noFill/>
                    </a:lnT>
                    <a:lnB>
                      <a:noFill/>
                    </a:lnB>
                    <a:solidFill>
                      <a:srgbClr val="DFECF5"/>
                    </a:solidFill>
                  </a:tcPr>
                </a:tc>
                <a:extLst>
                  <a:ext uri="{0D108BD9-81ED-4DB2-BD59-A6C34878D82A}">
                    <a16:rowId xmlns:a16="http://schemas.microsoft.com/office/drawing/2014/main" val="133776144"/>
                  </a:ext>
                </a:extLst>
              </a:tr>
            </a:tbl>
          </a:graphicData>
        </a:graphic>
      </p:graphicFrame>
      <p:sp>
        <p:nvSpPr>
          <p:cNvPr id="4" name="Date Placeholder 3">
            <a:extLst>
              <a:ext uri="{FF2B5EF4-FFF2-40B4-BE49-F238E27FC236}">
                <a16:creationId xmlns:a16="http://schemas.microsoft.com/office/drawing/2014/main" id="{95EA3E5E-10C1-49CC-8055-8CE09279869A}"/>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CE16039A-FB3D-41FF-9505-72702325E217}"/>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BF523072-9406-413B-A87F-48C05352938F}"/>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34</a:t>
            </a:fld>
            <a:endParaRPr lang="en-US" dirty="0">
              <a:solidFill>
                <a:schemeClr val="bg1"/>
              </a:solidFill>
            </a:endParaRPr>
          </a:p>
        </p:txBody>
      </p:sp>
    </p:spTree>
    <p:extLst>
      <p:ext uri="{BB962C8B-B14F-4D97-AF65-F5344CB8AC3E}">
        <p14:creationId xmlns:p14="http://schemas.microsoft.com/office/powerpoint/2010/main" val="29620322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C7FE65C-B26A-4241-9FD2-7E1429D69E68}"/>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drop all rows that contain an NA value</a:t>
            </a:r>
            <a:endParaRPr lang="en-US" dirty="0"/>
          </a:p>
        </p:txBody>
      </p:sp>
      <p:sp>
        <p:nvSpPr>
          <p:cNvPr id="9" name="Text Placeholder 8">
            <a:extLst>
              <a:ext uri="{FF2B5EF4-FFF2-40B4-BE49-F238E27FC236}">
                <a16:creationId xmlns:a16="http://schemas.microsoft.com/office/drawing/2014/main" id="{280EA640-E5CE-4528-9CA5-BF3E6DC081E2}"/>
              </a:ext>
            </a:extLst>
          </p:cNvPr>
          <p:cNvSpPr>
            <a:spLocks noGrp="1"/>
          </p:cNvSpPr>
          <p:nvPr>
            <p:ph type="body" sz="quarter" idx="15"/>
          </p:nvPr>
        </p:nvSpPr>
        <p:spPr/>
        <p:txBody>
          <a:bodyPr/>
          <a:lstStyle/>
          <a:p>
            <a:pPr marL="347345" marR="0">
              <a:spcBef>
                <a:spcPts val="0"/>
              </a:spcBef>
              <a:spcAft>
                <a:spcPts val="60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mortality_data</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mortality_data.dropna</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endParaRPr lang="en-US" sz="1600" dirty="0"/>
          </a:p>
        </p:txBody>
      </p:sp>
      <p:pic>
        <p:nvPicPr>
          <p:cNvPr id="10" name="Content Placeholder 9" descr="Refer to page 215 in textbook">
            <a:extLst>
              <a:ext uri="{FF2B5EF4-FFF2-40B4-BE49-F238E27FC236}">
                <a16:creationId xmlns:a16="http://schemas.microsoft.com/office/drawing/2014/main" id="{5E6A1528-D73D-4524-B5B1-CDE694648E06}"/>
              </a:ext>
            </a:extLst>
          </p:cNvPr>
          <p:cNvPicPr>
            <a:picLocks noGrp="1" noChangeAspect="1"/>
          </p:cNvPicPr>
          <p:nvPr>
            <p:ph sz="quarter" idx="13"/>
          </p:nvPr>
        </p:nvPicPr>
        <p:blipFill>
          <a:blip r:embed="rId2"/>
          <a:stretch>
            <a:fillRect/>
          </a:stretch>
        </p:blipFill>
        <p:spPr>
          <a:xfrm>
            <a:off x="1251856" y="1444345"/>
            <a:ext cx="3091544" cy="2289455"/>
          </a:xfrm>
          <a:prstGeom prst="rect">
            <a:avLst/>
          </a:prstGeom>
        </p:spPr>
      </p:pic>
      <p:sp>
        <p:nvSpPr>
          <p:cNvPr id="4" name="Date Placeholder 3">
            <a:extLst>
              <a:ext uri="{FF2B5EF4-FFF2-40B4-BE49-F238E27FC236}">
                <a16:creationId xmlns:a16="http://schemas.microsoft.com/office/drawing/2014/main" id="{5172E0E6-F221-498E-8A50-BCEE7424AE67}"/>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18FDB6B3-8FB0-48C4-96AA-D9A22CFA4C3E}"/>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1E5903AE-B680-49A4-96F9-2624674E05AF}"/>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C6, Slide </a:t>
            </a:r>
            <a:fld id="{BF5C1183-B085-4070-A402-C03A3F977D3D}" type="slidenum">
              <a:rPr lang="en-US" sz="900" smtClean="0">
                <a:solidFill>
                  <a:schemeClr val="bg1"/>
                </a:solidFill>
                <a:latin typeface="Arial Narrow" panose="020B0606020202030204" pitchFamily="34" charset="0"/>
              </a:rPr>
              <a:pPr algn="r">
                <a:defRPr/>
              </a:pPr>
              <a:t>35</a:t>
            </a:fld>
            <a:endParaRPr lang="en-US" sz="9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9761030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12C55-FED7-4B44-8653-703D9316B3C2}"/>
              </a:ext>
            </a:extLst>
          </p:cNvPr>
          <p:cNvSpPr>
            <a:spLocks noGrp="1"/>
          </p:cNvSpPr>
          <p:nvPr>
            <p:ph type="title"/>
          </p:nvPr>
        </p:nvSpPr>
        <p:spPr>
          <a:xfrm>
            <a:off x="914400" y="440323"/>
            <a:ext cx="7315200" cy="738664"/>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drop only the rows that have two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or more NA values</a:t>
            </a:r>
            <a:endParaRPr lang="en-US" dirty="0"/>
          </a:p>
        </p:txBody>
      </p:sp>
      <p:sp>
        <p:nvSpPr>
          <p:cNvPr id="3" name="Text Placeholder 2">
            <a:extLst>
              <a:ext uri="{FF2B5EF4-FFF2-40B4-BE49-F238E27FC236}">
                <a16:creationId xmlns:a16="http://schemas.microsoft.com/office/drawing/2014/main" id="{778741D3-19DD-48C3-8B06-E759246B4F0B}"/>
              </a:ext>
            </a:extLst>
          </p:cNvPr>
          <p:cNvSpPr>
            <a:spLocks noGrp="1"/>
          </p:cNvSpPr>
          <p:nvPr>
            <p:ph type="body" sz="quarter" idx="13"/>
          </p:nvPr>
        </p:nvSpPr>
        <p:spPr>
          <a:xfrm>
            <a:off x="838200" y="1219200"/>
            <a:ext cx="7391400" cy="4876800"/>
          </a:xfrm>
        </p:spPr>
        <p:txBody>
          <a:bodyPr/>
          <a:lstStyle/>
          <a:p>
            <a:pPr marL="347345" marR="0">
              <a:spcBef>
                <a:spcPts val="0"/>
              </a:spcBef>
              <a:spcAft>
                <a:spcPts val="60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mortality_data</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mortality_data.dropna</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(thresh=2)</a:t>
            </a:r>
          </a:p>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drop only the rows that have NAs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in 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DeathRate</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column</a:t>
            </a:r>
            <a:endParaRPr lang="en-US" sz="2400" b="1" dirty="0">
              <a:solidFill>
                <a:srgbClr val="000099"/>
              </a:solidFill>
              <a:effectLst/>
              <a:latin typeface="Montserrat Medium" panose="00000600000000000000" pitchFamily="2" charset="0"/>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mortality_data</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mortality_data.dropna</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(subset=['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DeathRate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endParaRPr lang="en-US" sz="1600" dirty="0"/>
          </a:p>
        </p:txBody>
      </p:sp>
      <p:sp>
        <p:nvSpPr>
          <p:cNvPr id="4" name="Date Placeholder 3">
            <a:extLst>
              <a:ext uri="{FF2B5EF4-FFF2-40B4-BE49-F238E27FC236}">
                <a16:creationId xmlns:a16="http://schemas.microsoft.com/office/drawing/2014/main" id="{259E3BCA-F83B-4C83-A49B-2E7E38E4C40E}"/>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34B2C12A-A097-4011-8337-59EC5AA69471}"/>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7F1EE542-EEFB-4385-8D41-8FD2D2276085}"/>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36</a:t>
            </a:fld>
            <a:endParaRPr lang="en-US" dirty="0">
              <a:solidFill>
                <a:schemeClr val="bg1"/>
              </a:solidFill>
            </a:endParaRPr>
          </a:p>
        </p:txBody>
      </p:sp>
    </p:spTree>
    <p:extLst>
      <p:ext uri="{BB962C8B-B14F-4D97-AF65-F5344CB8AC3E}">
        <p14:creationId xmlns:p14="http://schemas.microsoft.com/office/powerpoint/2010/main" val="24023323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5685568-802C-4502-BE19-3E85950C4E32}"/>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ffill</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a:t>
            </a:r>
            <a:endParaRPr lang="en-US" dirty="0"/>
          </a:p>
        </p:txBody>
      </p:sp>
      <p:graphicFrame>
        <p:nvGraphicFramePr>
          <p:cNvPr id="11" name="Table Placeholder 10">
            <a:extLst>
              <a:ext uri="{FF2B5EF4-FFF2-40B4-BE49-F238E27FC236}">
                <a16:creationId xmlns:a16="http://schemas.microsoft.com/office/drawing/2014/main" id="{AA1CB7BF-0DB3-4E04-946B-7135A7CDC37D}"/>
              </a:ext>
            </a:extLst>
          </p:cNvPr>
          <p:cNvGraphicFramePr>
            <a:graphicFrameLocks noGrp="1"/>
          </p:cNvGraphicFramePr>
          <p:nvPr>
            <p:ph type="tbl" sz="quarter" idx="13"/>
            <p:extLst>
              <p:ext uri="{D42A27DB-BD31-4B8C-83A1-F6EECF244321}">
                <p14:modId xmlns:p14="http://schemas.microsoft.com/office/powerpoint/2010/main" val="1991020868"/>
              </p:ext>
            </p:extLst>
          </p:nvPr>
        </p:nvGraphicFramePr>
        <p:xfrm>
          <a:off x="914400" y="1055281"/>
          <a:ext cx="6526530" cy="1341120"/>
        </p:xfrm>
        <a:graphic>
          <a:graphicData uri="http://schemas.openxmlformats.org/drawingml/2006/table">
            <a:tbl>
              <a:tblPr firstRow="1"/>
              <a:tblGrid>
                <a:gridCol w="2068830">
                  <a:extLst>
                    <a:ext uri="{9D8B030D-6E8A-4147-A177-3AD203B41FA5}">
                      <a16:colId xmlns:a16="http://schemas.microsoft.com/office/drawing/2014/main" val="1282783117"/>
                    </a:ext>
                  </a:extLst>
                </a:gridCol>
                <a:gridCol w="4457700">
                  <a:extLst>
                    <a:ext uri="{9D8B030D-6E8A-4147-A177-3AD203B41FA5}">
                      <a16:colId xmlns:a16="http://schemas.microsoft.com/office/drawing/2014/main" val="2862904311"/>
                    </a:ext>
                  </a:extLst>
                </a:gridCol>
              </a:tblGrid>
              <a:tr h="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Method</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nchor="ctr">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dirty="0">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nchor="ctr">
                    <a:lnL>
                      <a:noFill/>
                    </a:lnL>
                    <a:lnR>
                      <a:noFill/>
                    </a:lnR>
                    <a:lnT>
                      <a:noFill/>
                    </a:lnT>
                    <a:lnB>
                      <a:noFill/>
                    </a:lnB>
                    <a:solidFill>
                      <a:srgbClr val="3D87B7"/>
                    </a:solidFill>
                  </a:tcPr>
                </a:tc>
                <a:extLst>
                  <a:ext uri="{0D108BD9-81ED-4DB2-BD59-A6C34878D82A}">
                    <a16:rowId xmlns:a16="http://schemas.microsoft.com/office/drawing/2014/main" val="2906338639"/>
                  </a:ext>
                </a:extLst>
              </a:tr>
              <a:tr h="0">
                <a:tc>
                  <a:txBody>
                    <a:bodyPr/>
                    <a:lstStyle/>
                    <a:p>
                      <a:pPr marL="0" marR="0" indent="0">
                        <a:spcBef>
                          <a:spcPts val="600"/>
                        </a:spcBef>
                        <a:spcAft>
                          <a:spcPts val="600"/>
                        </a:spcAft>
                        <a:tabLst>
                          <a:tab pos="800100" algn="l"/>
                          <a:tab pos="2514600" algn="l"/>
                          <a:tab pos="457200" algn="l"/>
                        </a:tabLst>
                      </a:pPr>
                      <a:r>
                        <a:rPr lang="en-US" sz="1600" b="1"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ffill</a:t>
                      </a: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(params)</a:t>
                      </a:r>
                      <a:endParaRPr lang="en-US" sz="2000" dirty="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Forward fills the NA values in a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DataFrame</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with the value in the row before the missing value</a:t>
                      </a:r>
                      <a:r>
                        <a:rPr lang="en-US" sz="2000" dirty="0">
                          <a:solidFill>
                            <a:srgbClr val="000000"/>
                          </a:solidFill>
                          <a:effectLst/>
                          <a:latin typeface="Times New Roman" panose="02020603050405020304" pitchFamily="18"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extLst>
                  <a:ext uri="{0D108BD9-81ED-4DB2-BD59-A6C34878D82A}">
                    <a16:rowId xmlns:a16="http://schemas.microsoft.com/office/drawing/2014/main" val="3075199013"/>
                  </a:ext>
                </a:extLst>
              </a:tr>
            </a:tbl>
          </a:graphicData>
        </a:graphic>
      </p:graphicFrame>
      <p:sp>
        <p:nvSpPr>
          <p:cNvPr id="10" name="Text Placeholder 9">
            <a:extLst>
              <a:ext uri="{FF2B5EF4-FFF2-40B4-BE49-F238E27FC236}">
                <a16:creationId xmlns:a16="http://schemas.microsoft.com/office/drawing/2014/main" id="{58760A11-2118-4624-9BDC-786C95D26FDD}"/>
              </a:ext>
            </a:extLst>
          </p:cNvPr>
          <p:cNvSpPr>
            <a:spLocks noGrp="1"/>
          </p:cNvSpPr>
          <p:nvPr>
            <p:ph type="body" sz="quarter" idx="17"/>
          </p:nvPr>
        </p:nvSpPr>
        <p:spPr>
          <a:xfrm>
            <a:off x="838200" y="2555316"/>
            <a:ext cx="7391400" cy="457200"/>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Parameters of 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ffill</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a:t>
            </a:r>
            <a:endParaRPr lang="en-US" sz="2400" b="1" dirty="0">
              <a:solidFill>
                <a:srgbClr val="000099"/>
              </a:solidFill>
              <a:effectLst/>
              <a:latin typeface="Montserrat Medium"/>
              <a:ea typeface="Times New Roman" panose="02020603050405020304" pitchFamily="18" charset="0"/>
              <a:cs typeface="Times New Roman" panose="02020603050405020304" pitchFamily="18" charset="0"/>
            </a:endParaRPr>
          </a:p>
          <a:p>
            <a:endParaRPr lang="en-US" sz="2400" dirty="0"/>
          </a:p>
        </p:txBody>
      </p:sp>
      <p:graphicFrame>
        <p:nvGraphicFramePr>
          <p:cNvPr id="12" name="Table Placeholder 11">
            <a:extLst>
              <a:ext uri="{FF2B5EF4-FFF2-40B4-BE49-F238E27FC236}">
                <a16:creationId xmlns:a16="http://schemas.microsoft.com/office/drawing/2014/main" id="{C8E6AE53-C5E4-4A7F-A80F-E811D9B49409}"/>
              </a:ext>
            </a:extLst>
          </p:cNvPr>
          <p:cNvGraphicFramePr>
            <a:graphicFrameLocks noGrp="1"/>
          </p:cNvGraphicFramePr>
          <p:nvPr>
            <p:ph type="tbl" sz="quarter" idx="14"/>
            <p:extLst>
              <p:ext uri="{D42A27DB-BD31-4B8C-83A1-F6EECF244321}">
                <p14:modId xmlns:p14="http://schemas.microsoft.com/office/powerpoint/2010/main" val="2005537597"/>
              </p:ext>
            </p:extLst>
          </p:nvPr>
        </p:nvGraphicFramePr>
        <p:xfrm>
          <a:off x="914400" y="3037257"/>
          <a:ext cx="6526530" cy="1024128"/>
        </p:xfrm>
        <a:graphic>
          <a:graphicData uri="http://schemas.openxmlformats.org/drawingml/2006/table">
            <a:tbl>
              <a:tblPr firstRow="1"/>
              <a:tblGrid>
                <a:gridCol w="1783079">
                  <a:extLst>
                    <a:ext uri="{9D8B030D-6E8A-4147-A177-3AD203B41FA5}">
                      <a16:colId xmlns:a16="http://schemas.microsoft.com/office/drawing/2014/main" val="3536103060"/>
                    </a:ext>
                  </a:extLst>
                </a:gridCol>
                <a:gridCol w="4743451">
                  <a:extLst>
                    <a:ext uri="{9D8B030D-6E8A-4147-A177-3AD203B41FA5}">
                      <a16:colId xmlns:a16="http://schemas.microsoft.com/office/drawing/2014/main" val="391518907"/>
                    </a:ext>
                  </a:extLst>
                </a:gridCol>
              </a:tblGrid>
              <a:tr h="156845">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Parameter</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73152" marR="73152" marT="27432" marB="27432">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dirty="0">
                        <a:solidFill>
                          <a:srgbClr val="FFFFFF"/>
                        </a:solidFill>
                        <a:effectLst/>
                        <a:latin typeface="Montserrat Medium"/>
                        <a:ea typeface="Times New Roman" panose="02020603050405020304" pitchFamily="18" charset="0"/>
                        <a:cs typeface="Times New Roman" panose="02020603050405020304" pitchFamily="18" charset="0"/>
                      </a:endParaRPr>
                    </a:p>
                  </a:txBody>
                  <a:tcPr marL="73152" marR="73152" marT="27432" marB="27432">
                    <a:lnL>
                      <a:noFill/>
                    </a:lnL>
                    <a:lnR>
                      <a:noFill/>
                    </a:lnR>
                    <a:lnT>
                      <a:noFill/>
                    </a:lnT>
                    <a:lnB>
                      <a:noFill/>
                    </a:lnB>
                    <a:solidFill>
                      <a:srgbClr val="3D87B7"/>
                    </a:solidFill>
                  </a:tcPr>
                </a:tc>
                <a:extLst>
                  <a:ext uri="{0D108BD9-81ED-4DB2-BD59-A6C34878D82A}">
                    <a16:rowId xmlns:a16="http://schemas.microsoft.com/office/drawing/2014/main" val="2830743664"/>
                  </a:ext>
                </a:extLst>
              </a:tr>
              <a:tr h="277495">
                <a:tc>
                  <a:txBody>
                    <a:bodyPr/>
                    <a:lstStyle/>
                    <a:p>
                      <a:pPr marL="0" marR="0" indent="0">
                        <a:spcBef>
                          <a:spcPts val="600"/>
                        </a:spcBef>
                        <a:spcAft>
                          <a:spcPts val="600"/>
                        </a:spcAft>
                        <a:tabLst>
                          <a:tab pos="800100" algn="l"/>
                          <a:tab pos="25146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limit</a:t>
                      </a:r>
                      <a:endParaRPr lang="en-US" sz="1600" dirty="0">
                        <a:effectLst/>
                        <a:latin typeface="Times New Roman" panose="02020603050405020304" pitchFamily="18" charset="0"/>
                        <a:ea typeface="Times New Roman" panose="02020603050405020304" pitchFamily="18" charset="0"/>
                      </a:endParaRPr>
                    </a:p>
                  </a:txBody>
                  <a:tcPr marL="73152" marR="73152" marT="27432" marB="2743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The maximum number of consecutive NAs in a column to fill.</a:t>
                      </a:r>
                      <a:endParaRPr lang="en-US" sz="2000" dirty="0">
                        <a:effectLst/>
                        <a:latin typeface="Times New Roman" panose="02020603050405020304" pitchFamily="18" charset="0"/>
                        <a:ea typeface="Times New Roman" panose="02020603050405020304" pitchFamily="18" charset="0"/>
                      </a:endParaRPr>
                    </a:p>
                  </a:txBody>
                  <a:tcPr marL="73152" marR="73152" marT="27432" marB="27432">
                    <a:lnL>
                      <a:noFill/>
                    </a:lnL>
                    <a:lnR>
                      <a:noFill/>
                    </a:lnR>
                    <a:lnT>
                      <a:noFill/>
                    </a:lnT>
                    <a:lnB>
                      <a:noFill/>
                    </a:lnB>
                    <a:solidFill>
                      <a:srgbClr val="DFECF5"/>
                    </a:solidFill>
                  </a:tcPr>
                </a:tc>
                <a:extLst>
                  <a:ext uri="{0D108BD9-81ED-4DB2-BD59-A6C34878D82A}">
                    <a16:rowId xmlns:a16="http://schemas.microsoft.com/office/drawing/2014/main" val="649467623"/>
                  </a:ext>
                </a:extLst>
              </a:tr>
            </a:tbl>
          </a:graphicData>
        </a:graphic>
      </p:graphicFrame>
      <p:sp>
        <p:nvSpPr>
          <p:cNvPr id="4" name="Date Placeholder 3">
            <a:extLst>
              <a:ext uri="{FF2B5EF4-FFF2-40B4-BE49-F238E27FC236}">
                <a16:creationId xmlns:a16="http://schemas.microsoft.com/office/drawing/2014/main" id="{9C28A65D-1B57-40B1-920E-C0E89081792B}"/>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5D79F3E9-DA1F-4EB4-8D80-C73209BA156A}"/>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9C9E1687-E692-4E7F-A76C-26706CF4979A}"/>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37</a:t>
            </a:fld>
            <a:endParaRPr lang="en-US" dirty="0">
              <a:solidFill>
                <a:schemeClr val="bg1"/>
              </a:solidFill>
            </a:endParaRPr>
          </a:p>
        </p:txBody>
      </p:sp>
    </p:spTree>
    <p:extLst>
      <p:ext uri="{BB962C8B-B14F-4D97-AF65-F5344CB8AC3E}">
        <p14:creationId xmlns:p14="http://schemas.microsoft.com/office/powerpoint/2010/main" val="15833241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84C3312-DC66-437A-AAEE-B3706C06BC1D}"/>
              </a:ext>
            </a:extLst>
          </p:cNvPr>
          <p:cNvSpPr>
            <a:spLocks noGrp="1"/>
          </p:cNvSpPr>
          <p:nvPr>
            <p:ph type="title"/>
          </p:nvPr>
        </p:nvSpPr>
        <p:spPr>
          <a:xfrm>
            <a:off x="914400" y="440323"/>
            <a:ext cx="7315200" cy="738664"/>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forward fill NA values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with a limit of 2 consecutive fills</a:t>
            </a:r>
            <a:endParaRPr lang="en-US" dirty="0"/>
          </a:p>
        </p:txBody>
      </p:sp>
      <p:sp>
        <p:nvSpPr>
          <p:cNvPr id="9" name="Text Placeholder 8">
            <a:extLst>
              <a:ext uri="{FF2B5EF4-FFF2-40B4-BE49-F238E27FC236}">
                <a16:creationId xmlns:a16="http://schemas.microsoft.com/office/drawing/2014/main" id="{CA4D33D0-5873-40BF-AB09-D1EE1D843AAD}"/>
              </a:ext>
            </a:extLst>
          </p:cNvPr>
          <p:cNvSpPr>
            <a:spLocks noGrp="1"/>
          </p:cNvSpPr>
          <p:nvPr>
            <p:ph type="body" sz="quarter" idx="15"/>
          </p:nvPr>
        </p:nvSpPr>
        <p:spPr>
          <a:xfrm>
            <a:off x="812800" y="1215158"/>
            <a:ext cx="7518400" cy="2213842"/>
          </a:xfrm>
        </p:spPr>
        <p:txBody>
          <a:bodyPr/>
          <a:lstStyle/>
          <a:p>
            <a:pPr marL="228600" marR="0">
              <a:spcBef>
                <a:spcPts val="0"/>
              </a:spcBef>
              <a:spcAft>
                <a:spcPts val="0"/>
              </a:spcAft>
              <a:tabLst>
                <a:tab pos="1371600" algn="l"/>
              </a:tabLst>
            </a:pPr>
            <a:r>
              <a:rPr lang="en-US" sz="1800" b="1" dirty="0" err="1">
                <a:effectLst/>
                <a:latin typeface="Consolas" panose="020B0609020204030204" pitchFamily="49" charset="0"/>
                <a:ea typeface="Times New Roman" panose="02020603050405020304" pitchFamily="18" charset="0"/>
                <a:cs typeface="Times New Roman" panose="02020603050405020304" pitchFamily="18" charset="0"/>
              </a:rPr>
              <a:t>mortality_data</a:t>
            </a: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800" b="1" dirty="0" err="1">
                <a:effectLst/>
                <a:latin typeface="Consolas" panose="020B0609020204030204" pitchFamily="49" charset="0"/>
                <a:ea typeface="Times New Roman" panose="02020603050405020304" pitchFamily="18" charset="0"/>
                <a:cs typeface="Times New Roman" panose="02020603050405020304" pitchFamily="18" charset="0"/>
              </a:rPr>
              <a:t>mortality_data.ffill</a:t>
            </a: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(limit=2)</a:t>
            </a:r>
          </a:p>
          <a:p>
            <a:pPr marL="228600" marR="0">
              <a:spcBef>
                <a:spcPts val="0"/>
              </a:spcBef>
              <a:spcAft>
                <a:spcPts val="0"/>
              </a:spcAft>
              <a:tabLst>
                <a:tab pos="1371600" algn="l"/>
              </a:tabLst>
            </a:pPr>
            <a:r>
              <a:rPr lang="en-US" sz="1800" b="1" dirty="0" err="1">
                <a:effectLst/>
                <a:latin typeface="Consolas" panose="020B0609020204030204" pitchFamily="49" charset="0"/>
                <a:ea typeface="Times New Roman" panose="02020603050405020304" pitchFamily="18" charset="0"/>
                <a:cs typeface="Times New Roman" panose="02020603050405020304" pitchFamily="18" charset="0"/>
              </a:rPr>
              <a:t>mortality_data.head</a:t>
            </a: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(8) </a:t>
            </a:r>
          </a:p>
          <a:p>
            <a:endParaRPr lang="en-US" sz="1600" dirty="0"/>
          </a:p>
        </p:txBody>
      </p:sp>
      <p:sp>
        <p:nvSpPr>
          <p:cNvPr id="4" name="Date Placeholder 3">
            <a:extLst>
              <a:ext uri="{FF2B5EF4-FFF2-40B4-BE49-F238E27FC236}">
                <a16:creationId xmlns:a16="http://schemas.microsoft.com/office/drawing/2014/main" id="{509D316B-4C88-41D8-A220-47E40B9410A4}"/>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79836000-17FC-4085-936E-43084C3953D3}"/>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EB18B584-4772-45DC-B35E-E1F756E6E0D9}"/>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C6, Slide </a:t>
            </a:r>
            <a:fld id="{BF5C1183-B085-4070-A402-C03A3F977D3D}" type="slidenum">
              <a:rPr lang="en-US" sz="900" smtClean="0">
                <a:solidFill>
                  <a:schemeClr val="bg1"/>
                </a:solidFill>
                <a:latin typeface="Arial Narrow" panose="020B0606020202030204" pitchFamily="34" charset="0"/>
              </a:rPr>
              <a:pPr algn="r">
                <a:defRPr/>
              </a:pPr>
              <a:t>38</a:t>
            </a:fld>
            <a:endParaRPr lang="en-US" sz="900" dirty="0">
              <a:solidFill>
                <a:schemeClr val="bg1"/>
              </a:solidFill>
              <a:latin typeface="Arial Narrow" panose="020B0606020202030204" pitchFamily="34" charset="0"/>
            </a:endParaRPr>
          </a:p>
        </p:txBody>
      </p:sp>
      <p:pic>
        <p:nvPicPr>
          <p:cNvPr id="3" name="Picture 2">
            <a:extLst>
              <a:ext uri="{FF2B5EF4-FFF2-40B4-BE49-F238E27FC236}">
                <a16:creationId xmlns:a16="http://schemas.microsoft.com/office/drawing/2014/main" id="{33EB097A-84F6-7204-D42D-8909032D6340}"/>
              </a:ext>
            </a:extLst>
          </p:cNvPr>
          <p:cNvPicPr>
            <a:picLocks noChangeAspect="1"/>
          </p:cNvPicPr>
          <p:nvPr/>
        </p:nvPicPr>
        <p:blipFill>
          <a:blip r:embed="rId2"/>
          <a:stretch>
            <a:fillRect/>
          </a:stretch>
        </p:blipFill>
        <p:spPr>
          <a:xfrm>
            <a:off x="1143000" y="1986706"/>
            <a:ext cx="3124200" cy="3561521"/>
          </a:xfrm>
          <a:prstGeom prst="rect">
            <a:avLst/>
          </a:prstGeom>
        </p:spPr>
      </p:pic>
    </p:spTree>
    <p:extLst>
      <p:ext uri="{BB962C8B-B14F-4D97-AF65-F5344CB8AC3E}">
        <p14:creationId xmlns:p14="http://schemas.microsoft.com/office/powerpoint/2010/main" val="39567587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6FA9AF5-4770-4ED7-B3AA-8CC1F8E88F3E}"/>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interpolate() method</a:t>
            </a:r>
            <a:endParaRPr lang="en-US" dirty="0"/>
          </a:p>
        </p:txBody>
      </p:sp>
      <p:graphicFrame>
        <p:nvGraphicFramePr>
          <p:cNvPr id="11" name="Table Placeholder 10">
            <a:extLst>
              <a:ext uri="{FF2B5EF4-FFF2-40B4-BE49-F238E27FC236}">
                <a16:creationId xmlns:a16="http://schemas.microsoft.com/office/drawing/2014/main" id="{AD3A889B-81EA-4445-8250-DAD73623FC1F}"/>
              </a:ext>
            </a:extLst>
          </p:cNvPr>
          <p:cNvGraphicFramePr>
            <a:graphicFrameLocks noGrp="1"/>
          </p:cNvGraphicFramePr>
          <p:nvPr>
            <p:ph type="tbl" sz="quarter" idx="13"/>
            <p:extLst>
              <p:ext uri="{D42A27DB-BD31-4B8C-83A1-F6EECF244321}">
                <p14:modId xmlns:p14="http://schemas.microsoft.com/office/powerpoint/2010/main" val="2342180249"/>
              </p:ext>
            </p:extLst>
          </p:nvPr>
        </p:nvGraphicFramePr>
        <p:xfrm>
          <a:off x="1289182" y="1095385"/>
          <a:ext cx="5783580" cy="1097280"/>
        </p:xfrm>
        <a:graphic>
          <a:graphicData uri="http://schemas.openxmlformats.org/drawingml/2006/table">
            <a:tbl>
              <a:tblPr firstRow="1"/>
              <a:tblGrid>
                <a:gridCol w="1954530">
                  <a:extLst>
                    <a:ext uri="{9D8B030D-6E8A-4147-A177-3AD203B41FA5}">
                      <a16:colId xmlns:a16="http://schemas.microsoft.com/office/drawing/2014/main" val="1037333704"/>
                    </a:ext>
                  </a:extLst>
                </a:gridCol>
                <a:gridCol w="3829050">
                  <a:extLst>
                    <a:ext uri="{9D8B030D-6E8A-4147-A177-3AD203B41FA5}">
                      <a16:colId xmlns:a16="http://schemas.microsoft.com/office/drawing/2014/main" val="1620874237"/>
                    </a:ext>
                  </a:extLst>
                </a:gridCol>
              </a:tblGrid>
              <a:tr h="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Method</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extLst>
                  <a:ext uri="{0D108BD9-81ED-4DB2-BD59-A6C34878D82A}">
                    <a16:rowId xmlns:a16="http://schemas.microsoft.com/office/drawing/2014/main" val="3798112616"/>
                  </a:ext>
                </a:extLst>
              </a:tr>
              <a:tr h="0">
                <a:tc>
                  <a:txBody>
                    <a:bodyPr/>
                    <a:lstStyle/>
                    <a:p>
                      <a:pPr marL="0" marR="0" indent="0">
                        <a:spcBef>
                          <a:spcPts val="600"/>
                        </a:spcBef>
                        <a:spcAft>
                          <a:spcPts val="600"/>
                        </a:spcAft>
                        <a:tabLst>
                          <a:tab pos="800100" algn="l"/>
                          <a:tab pos="25146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interpolate()</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Uses linear interpolation to fill the missing values in a </a:t>
                      </a:r>
                      <a:r>
                        <a:rPr lang="en-US" sz="2000" dirty="0" err="1">
                          <a:solidFill>
                            <a:srgbClr val="000000"/>
                          </a:solidFill>
                          <a:effectLst/>
                          <a:latin typeface="Times New Roman" panose="02020603050405020304" pitchFamily="18" charset="0"/>
                          <a:ea typeface="Times New Roman" panose="02020603050405020304" pitchFamily="18" charset="0"/>
                        </a:rPr>
                        <a:t>DataFrame</a:t>
                      </a:r>
                      <a:r>
                        <a:rPr lang="en-US" sz="2000" dirty="0">
                          <a:solidFill>
                            <a:srgbClr val="000000"/>
                          </a:solidFill>
                          <a:effectLst/>
                          <a:latin typeface="Times New Roman" panose="02020603050405020304" pitchFamily="18"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25987833"/>
                  </a:ext>
                </a:extLst>
              </a:tr>
            </a:tbl>
          </a:graphicData>
        </a:graphic>
      </p:graphicFrame>
      <p:sp>
        <p:nvSpPr>
          <p:cNvPr id="9" name="Text Placeholder 8">
            <a:extLst>
              <a:ext uri="{FF2B5EF4-FFF2-40B4-BE49-F238E27FC236}">
                <a16:creationId xmlns:a16="http://schemas.microsoft.com/office/drawing/2014/main" id="{FCE03A41-5963-41D1-AB4C-9B6288ADCD38}"/>
              </a:ext>
            </a:extLst>
          </p:cNvPr>
          <p:cNvSpPr>
            <a:spLocks noGrp="1"/>
          </p:cNvSpPr>
          <p:nvPr>
            <p:ph type="body" sz="quarter" idx="17"/>
          </p:nvPr>
        </p:nvSpPr>
        <p:spPr>
          <a:xfrm>
            <a:off x="838200" y="2286000"/>
            <a:ext cx="7391400" cy="685800"/>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fill NA values with linear interpolation</a:t>
            </a:r>
            <a:endParaRPr lang="en-US" sz="2400" b="1" dirty="0">
              <a:solidFill>
                <a:srgbClr val="000099"/>
              </a:solidFill>
              <a:effectLst/>
              <a:latin typeface="Montserrat Medium"/>
              <a:ea typeface="Times New Roman" panose="02020603050405020304" pitchFamily="18" charset="0"/>
              <a:cs typeface="Times New Roman" panose="02020603050405020304" pitchFamily="18" charset="0"/>
            </a:endParaRPr>
          </a:p>
          <a:p>
            <a:pPr marL="228600" marR="0">
              <a:spcBef>
                <a:spcPts val="0"/>
              </a:spcBef>
              <a:spcAft>
                <a:spcPts val="0"/>
              </a:spcAft>
              <a:tabLst>
                <a:tab pos="1371600" algn="l"/>
              </a:tabLst>
            </a:pPr>
            <a:r>
              <a:rPr lang="en-US" sz="1800" b="1" dirty="0" err="1">
                <a:effectLst/>
                <a:latin typeface="Consolas" panose="020B0609020204030204" pitchFamily="49" charset="0"/>
                <a:ea typeface="Times New Roman" panose="02020603050405020304" pitchFamily="18" charset="0"/>
                <a:cs typeface="Times New Roman" panose="02020603050405020304" pitchFamily="18" charset="0"/>
              </a:rPr>
              <a:t>mortality_data</a:t>
            </a: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[['Year','</a:t>
            </a:r>
            <a:r>
              <a:rPr lang="en-US" sz="1800" b="1" dirty="0" err="1">
                <a:effectLst/>
                <a:latin typeface="Consolas" panose="020B0609020204030204" pitchFamily="49" charset="0"/>
                <a:ea typeface="Times New Roman" panose="02020603050405020304" pitchFamily="18" charset="0"/>
                <a:cs typeface="Times New Roman" panose="02020603050405020304" pitchFamily="18" charset="0"/>
              </a:rPr>
              <a:t>DeathRate</a:t>
            </a: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 =</a:t>
            </a:r>
          </a:p>
          <a:p>
            <a:pPr marL="228600" marR="0">
              <a:spcBef>
                <a:spcPts val="0"/>
              </a:spcBef>
              <a:spcAft>
                <a:spcPts val="0"/>
              </a:spcAft>
              <a:tabLst>
                <a:tab pos="1371600" algn="l"/>
              </a:tabLst>
            </a:pP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800" b="1" dirty="0" err="1">
                <a:effectLst/>
                <a:latin typeface="Consolas" panose="020B0609020204030204" pitchFamily="49" charset="0"/>
                <a:ea typeface="Times New Roman" panose="02020603050405020304" pitchFamily="18" charset="0"/>
                <a:cs typeface="Times New Roman" panose="02020603050405020304" pitchFamily="18" charset="0"/>
              </a:rPr>
              <a:t>mortality_data</a:t>
            </a: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[['Year','</a:t>
            </a:r>
            <a:r>
              <a:rPr lang="en-US" sz="1800" b="1" dirty="0" err="1">
                <a:effectLst/>
                <a:latin typeface="Consolas" panose="020B0609020204030204" pitchFamily="49" charset="0"/>
                <a:ea typeface="Times New Roman" panose="02020603050405020304" pitchFamily="18" charset="0"/>
                <a:cs typeface="Times New Roman" panose="02020603050405020304" pitchFamily="18" charset="0"/>
              </a:rPr>
              <a:t>DeathRate</a:t>
            </a: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']].interpolate() </a:t>
            </a:r>
          </a:p>
          <a:p>
            <a:pPr marL="228600" marR="0">
              <a:spcBef>
                <a:spcPts val="0"/>
              </a:spcBef>
              <a:spcAft>
                <a:spcPts val="600"/>
              </a:spcAft>
              <a:tabLst>
                <a:tab pos="1371600" algn="l"/>
              </a:tabLst>
            </a:pPr>
            <a:r>
              <a:rPr lang="en-US" sz="1800" b="1" dirty="0" err="1">
                <a:effectLst/>
                <a:latin typeface="Consolas" panose="020B0609020204030204" pitchFamily="49" charset="0"/>
                <a:ea typeface="Times New Roman" panose="02020603050405020304" pitchFamily="18" charset="0"/>
                <a:cs typeface="Times New Roman" panose="02020603050405020304" pitchFamily="18" charset="0"/>
              </a:rPr>
              <a:t>mortality_data.head</a:t>
            </a: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(4)</a:t>
            </a:r>
          </a:p>
          <a:p>
            <a:pPr marL="347345" marR="0">
              <a:spcBef>
                <a:spcPts val="0"/>
              </a:spcBef>
              <a:spcAft>
                <a:spcPts val="600"/>
              </a:spcAft>
              <a:tabLst>
                <a:tab pos="1371600" algn="l"/>
              </a:tabLst>
            </a:pPr>
            <a:endParaRPr lang="en-US" sz="1600" b="1" dirty="0">
              <a:effectLst/>
              <a:latin typeface="Consolas" panose="020B0609020204030204" pitchFamily="49" charset="0"/>
              <a:ea typeface="Times New Roman" panose="02020603050405020304" pitchFamily="18" charset="0"/>
              <a:cs typeface="Times New Roman" panose="02020603050405020304" pitchFamily="18" charset="0"/>
            </a:endParaRPr>
          </a:p>
          <a:p>
            <a:endParaRPr lang="en-US" sz="1600" dirty="0"/>
          </a:p>
        </p:txBody>
      </p:sp>
      <p:pic>
        <p:nvPicPr>
          <p:cNvPr id="12" name="Content Placeholder 11" descr="Refer to page 217 in textbook">
            <a:extLst>
              <a:ext uri="{FF2B5EF4-FFF2-40B4-BE49-F238E27FC236}">
                <a16:creationId xmlns:a16="http://schemas.microsoft.com/office/drawing/2014/main" id="{06BB2407-3AEF-4436-9E6D-6216D19835E8}"/>
              </a:ext>
            </a:extLst>
          </p:cNvPr>
          <p:cNvPicPr>
            <a:picLocks noGrp="1" noChangeAspect="1"/>
          </p:cNvPicPr>
          <p:nvPr>
            <p:ph sz="quarter" idx="18"/>
          </p:nvPr>
        </p:nvPicPr>
        <p:blipFill>
          <a:blip r:embed="rId2"/>
          <a:stretch>
            <a:fillRect/>
          </a:stretch>
        </p:blipFill>
        <p:spPr>
          <a:xfrm>
            <a:off x="1216091" y="3854580"/>
            <a:ext cx="3054218" cy="1891993"/>
          </a:xfrm>
          <a:prstGeom prst="rect">
            <a:avLst/>
          </a:prstGeom>
        </p:spPr>
      </p:pic>
      <p:sp>
        <p:nvSpPr>
          <p:cNvPr id="4" name="Date Placeholder 3">
            <a:extLst>
              <a:ext uri="{FF2B5EF4-FFF2-40B4-BE49-F238E27FC236}">
                <a16:creationId xmlns:a16="http://schemas.microsoft.com/office/drawing/2014/main" id="{479F5EA2-5DE9-461D-8C1F-EE500D08C1D3}"/>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A26B0375-8964-4A0A-9C40-6CD27A124C3D}"/>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66DB2FD2-3916-4040-B9A3-A63C21675B2D}"/>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39</a:t>
            </a:fld>
            <a:endParaRPr lang="en-US" dirty="0">
              <a:solidFill>
                <a:schemeClr val="bg1"/>
              </a:solidFill>
            </a:endParaRPr>
          </a:p>
        </p:txBody>
      </p:sp>
    </p:spTree>
    <p:extLst>
      <p:ext uri="{BB962C8B-B14F-4D97-AF65-F5344CB8AC3E}">
        <p14:creationId xmlns:p14="http://schemas.microsoft.com/office/powerpoint/2010/main" val="35867315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188E9EF-7973-4FCF-BA2A-3690826CC5CD}"/>
              </a:ext>
            </a:extLst>
          </p:cNvPr>
          <p:cNvSpPr>
            <a:spLocks noGrp="1"/>
          </p:cNvSpPr>
          <p:nvPr>
            <p:ph type="title"/>
          </p:nvPr>
        </p:nvSpPr>
        <p:spPr>
          <a:xfrm>
            <a:off x="914400" y="440323"/>
            <a:ext cx="7315200" cy="738664"/>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data types that Pandas applies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to imported columns</a:t>
            </a:r>
            <a:endParaRPr lang="en-US" dirty="0"/>
          </a:p>
        </p:txBody>
      </p:sp>
      <p:graphicFrame>
        <p:nvGraphicFramePr>
          <p:cNvPr id="9" name="Table Placeholder 8">
            <a:extLst>
              <a:ext uri="{FF2B5EF4-FFF2-40B4-BE49-F238E27FC236}">
                <a16:creationId xmlns:a16="http://schemas.microsoft.com/office/drawing/2014/main" id="{36F3D678-291E-4DE6-83FD-524D3F0D784B}"/>
              </a:ext>
            </a:extLst>
          </p:cNvPr>
          <p:cNvGraphicFramePr>
            <a:graphicFrameLocks noGrp="1"/>
          </p:cNvGraphicFramePr>
          <p:nvPr>
            <p:ph type="tbl" sz="quarter" idx="13"/>
            <p:extLst>
              <p:ext uri="{D42A27DB-BD31-4B8C-83A1-F6EECF244321}">
                <p14:modId xmlns:p14="http://schemas.microsoft.com/office/powerpoint/2010/main" val="2460599318"/>
              </p:ext>
            </p:extLst>
          </p:nvPr>
        </p:nvGraphicFramePr>
        <p:xfrm>
          <a:off x="914400" y="1295400"/>
          <a:ext cx="7315200" cy="1973470"/>
        </p:xfrm>
        <a:graphic>
          <a:graphicData uri="http://schemas.openxmlformats.org/drawingml/2006/table">
            <a:tbl>
              <a:tblPr firstRow="1"/>
              <a:tblGrid>
                <a:gridCol w="1584398">
                  <a:extLst>
                    <a:ext uri="{9D8B030D-6E8A-4147-A177-3AD203B41FA5}">
                      <a16:colId xmlns:a16="http://schemas.microsoft.com/office/drawing/2014/main" val="1015147224"/>
                    </a:ext>
                  </a:extLst>
                </a:gridCol>
                <a:gridCol w="5730802">
                  <a:extLst>
                    <a:ext uri="{9D8B030D-6E8A-4147-A177-3AD203B41FA5}">
                      <a16:colId xmlns:a16="http://schemas.microsoft.com/office/drawing/2014/main" val="1591535267"/>
                    </a:ext>
                  </a:extLst>
                </a:gridCol>
              </a:tblGrid>
              <a:tr h="389545">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Data type</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73152" marR="73152" marT="44947" marB="44947" anchor="ctr">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When the column contains…</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73152" marR="73152" marT="44947" marB="44947" anchor="ctr">
                    <a:lnL>
                      <a:noFill/>
                    </a:lnL>
                    <a:lnR>
                      <a:noFill/>
                    </a:lnR>
                    <a:lnT>
                      <a:noFill/>
                    </a:lnT>
                    <a:lnB>
                      <a:noFill/>
                    </a:lnB>
                    <a:solidFill>
                      <a:srgbClr val="3D87B7"/>
                    </a:solidFill>
                  </a:tcPr>
                </a:tc>
                <a:extLst>
                  <a:ext uri="{0D108BD9-81ED-4DB2-BD59-A6C34878D82A}">
                    <a16:rowId xmlns:a16="http://schemas.microsoft.com/office/drawing/2014/main" val="3048587760"/>
                  </a:ext>
                </a:extLst>
              </a:tr>
              <a:tr h="389545">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int64</a:t>
                      </a:r>
                      <a:endParaRPr lang="en-US" sz="2000">
                        <a:effectLst/>
                        <a:latin typeface="Times New Roman" panose="02020603050405020304" pitchFamily="18" charset="0"/>
                        <a:ea typeface="Times New Roman" panose="02020603050405020304" pitchFamily="18" charset="0"/>
                      </a:endParaRPr>
                    </a:p>
                  </a:txBody>
                  <a:tcPr marL="73152" marR="73152" marT="44947" marB="44947"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Only integers or NAs</a:t>
                      </a:r>
                      <a:endParaRPr lang="en-US" sz="2000">
                        <a:effectLst/>
                        <a:latin typeface="Times New Roman" panose="02020603050405020304" pitchFamily="18" charset="0"/>
                        <a:ea typeface="Times New Roman" panose="02020603050405020304" pitchFamily="18" charset="0"/>
                      </a:endParaRPr>
                    </a:p>
                  </a:txBody>
                  <a:tcPr marL="73152" marR="73152" marT="44947" marB="44947" anchor="ctr">
                    <a:lnL>
                      <a:noFill/>
                    </a:lnL>
                    <a:lnR>
                      <a:noFill/>
                    </a:lnR>
                    <a:lnT>
                      <a:noFill/>
                    </a:lnT>
                    <a:lnB>
                      <a:noFill/>
                    </a:lnB>
                    <a:solidFill>
                      <a:srgbClr val="DFECF5"/>
                    </a:solidFill>
                  </a:tcPr>
                </a:tc>
                <a:extLst>
                  <a:ext uri="{0D108BD9-81ED-4DB2-BD59-A6C34878D82A}">
                    <a16:rowId xmlns:a16="http://schemas.microsoft.com/office/drawing/2014/main" val="1947952067"/>
                  </a:ext>
                </a:extLst>
              </a:tr>
              <a:tr h="389545">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float64</a:t>
                      </a:r>
                      <a:endParaRPr lang="en-US" sz="2000">
                        <a:effectLst/>
                        <a:latin typeface="Times New Roman" panose="02020603050405020304" pitchFamily="18" charset="0"/>
                        <a:ea typeface="Times New Roman" panose="02020603050405020304" pitchFamily="18" charset="0"/>
                      </a:endParaRPr>
                    </a:p>
                  </a:txBody>
                  <a:tcPr marL="73152" marR="73152" marT="44947" marB="44947"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Only floating-point numbers or NAs</a:t>
                      </a:r>
                      <a:endParaRPr lang="en-US" sz="2000">
                        <a:effectLst/>
                        <a:latin typeface="Times New Roman" panose="02020603050405020304" pitchFamily="18" charset="0"/>
                        <a:ea typeface="Times New Roman" panose="02020603050405020304" pitchFamily="18" charset="0"/>
                      </a:endParaRPr>
                    </a:p>
                  </a:txBody>
                  <a:tcPr marL="73152" marR="73152" marT="44947" marB="44947" anchor="ctr">
                    <a:lnL>
                      <a:noFill/>
                    </a:lnL>
                    <a:lnR>
                      <a:noFill/>
                    </a:lnR>
                    <a:lnT>
                      <a:noFill/>
                    </a:lnT>
                    <a:lnB>
                      <a:noFill/>
                    </a:lnB>
                    <a:solidFill>
                      <a:srgbClr val="DFECF5"/>
                    </a:solidFill>
                  </a:tcPr>
                </a:tc>
                <a:extLst>
                  <a:ext uri="{0D108BD9-81ED-4DB2-BD59-A6C34878D82A}">
                    <a16:rowId xmlns:a16="http://schemas.microsoft.com/office/drawing/2014/main" val="3675021247"/>
                  </a:ext>
                </a:extLst>
              </a:tr>
              <a:tr h="389545">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bool</a:t>
                      </a:r>
                      <a:endParaRPr lang="en-US" sz="2000">
                        <a:effectLst/>
                        <a:latin typeface="Times New Roman" panose="02020603050405020304" pitchFamily="18" charset="0"/>
                        <a:ea typeface="Times New Roman" panose="02020603050405020304" pitchFamily="18" charset="0"/>
                      </a:endParaRPr>
                    </a:p>
                  </a:txBody>
                  <a:tcPr marL="73152" marR="73152" marT="44947" marB="44947"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Only Boolean values (True or False)</a:t>
                      </a:r>
                      <a:endParaRPr lang="en-US" sz="2000">
                        <a:effectLst/>
                        <a:latin typeface="Times New Roman" panose="02020603050405020304" pitchFamily="18" charset="0"/>
                        <a:ea typeface="Times New Roman" panose="02020603050405020304" pitchFamily="18" charset="0"/>
                      </a:endParaRPr>
                    </a:p>
                  </a:txBody>
                  <a:tcPr marL="73152" marR="73152" marT="44947" marB="44947" anchor="ctr">
                    <a:lnL>
                      <a:noFill/>
                    </a:lnL>
                    <a:lnR>
                      <a:noFill/>
                    </a:lnR>
                    <a:lnT>
                      <a:noFill/>
                    </a:lnT>
                    <a:lnB>
                      <a:noFill/>
                    </a:lnB>
                    <a:solidFill>
                      <a:srgbClr val="DFECF5"/>
                    </a:solidFill>
                  </a:tcPr>
                </a:tc>
                <a:extLst>
                  <a:ext uri="{0D108BD9-81ED-4DB2-BD59-A6C34878D82A}">
                    <a16:rowId xmlns:a16="http://schemas.microsoft.com/office/drawing/2014/main" val="1046450702"/>
                  </a:ext>
                </a:extLst>
              </a:tr>
              <a:tr h="389545">
                <a:tc>
                  <a:txBody>
                    <a:bodyPr/>
                    <a:lstStyle/>
                    <a:p>
                      <a:pPr marL="0" marR="0" indent="0">
                        <a:spcBef>
                          <a:spcPts val="600"/>
                        </a:spcBef>
                        <a:spcAft>
                          <a:spcPts val="600"/>
                        </a:spcAft>
                        <a:tabLst>
                          <a:tab pos="800100" algn="l"/>
                          <a:tab pos="25146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object</a:t>
                      </a:r>
                      <a:endParaRPr lang="en-US" sz="2000" dirty="0">
                        <a:effectLst/>
                        <a:latin typeface="Times New Roman" panose="02020603050405020304" pitchFamily="18" charset="0"/>
                        <a:ea typeface="Times New Roman" panose="02020603050405020304" pitchFamily="18" charset="0"/>
                      </a:endParaRPr>
                    </a:p>
                  </a:txBody>
                  <a:tcPr marL="73152" marR="73152" marT="44947" marB="44947"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Strings or data that doesn’t import as another data type</a:t>
                      </a:r>
                      <a:endParaRPr lang="en-US" sz="2000" dirty="0">
                        <a:effectLst/>
                        <a:latin typeface="Times New Roman" panose="02020603050405020304" pitchFamily="18" charset="0"/>
                        <a:ea typeface="Times New Roman" panose="02020603050405020304" pitchFamily="18" charset="0"/>
                      </a:endParaRPr>
                    </a:p>
                  </a:txBody>
                  <a:tcPr marL="73152" marR="73152" marT="44947" marB="44947" anchor="ctr">
                    <a:lnL>
                      <a:noFill/>
                    </a:lnL>
                    <a:lnR>
                      <a:noFill/>
                    </a:lnR>
                    <a:lnT>
                      <a:noFill/>
                    </a:lnT>
                    <a:lnB>
                      <a:noFill/>
                    </a:lnB>
                    <a:solidFill>
                      <a:srgbClr val="DFECF5"/>
                    </a:solidFill>
                  </a:tcPr>
                </a:tc>
                <a:extLst>
                  <a:ext uri="{0D108BD9-81ED-4DB2-BD59-A6C34878D82A}">
                    <a16:rowId xmlns:a16="http://schemas.microsoft.com/office/drawing/2014/main" val="405089388"/>
                  </a:ext>
                </a:extLst>
              </a:tr>
            </a:tbl>
          </a:graphicData>
        </a:graphic>
      </p:graphicFrame>
      <p:sp>
        <p:nvSpPr>
          <p:cNvPr id="4" name="Date Placeholder 3">
            <a:extLst>
              <a:ext uri="{FF2B5EF4-FFF2-40B4-BE49-F238E27FC236}">
                <a16:creationId xmlns:a16="http://schemas.microsoft.com/office/drawing/2014/main" id="{D04CFB9C-5F4F-4499-B592-39489CA16933}"/>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86A81344-24A3-4A68-BC38-6FBEE7B87ED8}"/>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A46109E5-257D-4557-8790-8DA17C0D2872}"/>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40</a:t>
            </a:fld>
            <a:endParaRPr lang="en-US" dirty="0">
              <a:solidFill>
                <a:schemeClr val="bg1"/>
              </a:solidFill>
            </a:endParaRPr>
          </a:p>
        </p:txBody>
      </p:sp>
    </p:spTree>
    <p:extLst>
      <p:ext uri="{BB962C8B-B14F-4D97-AF65-F5344CB8AC3E}">
        <p14:creationId xmlns:p14="http://schemas.microsoft.com/office/powerpoint/2010/main" val="5677938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475F102-A438-4BB9-9A4E-0C9DE7B4F6F0}"/>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select_dtypes</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 of a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DataFrame</a:t>
            </a:r>
            <a:endParaRPr lang="en-US" dirty="0"/>
          </a:p>
        </p:txBody>
      </p:sp>
      <p:graphicFrame>
        <p:nvGraphicFramePr>
          <p:cNvPr id="9" name="Table Placeholder 8">
            <a:extLst>
              <a:ext uri="{FF2B5EF4-FFF2-40B4-BE49-F238E27FC236}">
                <a16:creationId xmlns:a16="http://schemas.microsoft.com/office/drawing/2014/main" id="{84B17677-543D-4EF6-BCB4-052C49451E61}"/>
              </a:ext>
            </a:extLst>
          </p:cNvPr>
          <p:cNvGraphicFramePr>
            <a:graphicFrameLocks noGrp="1"/>
          </p:cNvGraphicFramePr>
          <p:nvPr>
            <p:ph type="tbl" sz="quarter" idx="13"/>
            <p:extLst>
              <p:ext uri="{D42A27DB-BD31-4B8C-83A1-F6EECF244321}">
                <p14:modId xmlns:p14="http://schemas.microsoft.com/office/powerpoint/2010/main" val="1941806719"/>
              </p:ext>
            </p:extLst>
          </p:nvPr>
        </p:nvGraphicFramePr>
        <p:xfrm>
          <a:off x="1219200" y="1143000"/>
          <a:ext cx="5783580" cy="1097280"/>
        </p:xfrm>
        <a:graphic>
          <a:graphicData uri="http://schemas.openxmlformats.org/drawingml/2006/table">
            <a:tbl>
              <a:tblPr firstRow="1"/>
              <a:tblGrid>
                <a:gridCol w="2526030">
                  <a:extLst>
                    <a:ext uri="{9D8B030D-6E8A-4147-A177-3AD203B41FA5}">
                      <a16:colId xmlns:a16="http://schemas.microsoft.com/office/drawing/2014/main" val="3615242124"/>
                    </a:ext>
                  </a:extLst>
                </a:gridCol>
                <a:gridCol w="3257550">
                  <a:extLst>
                    <a:ext uri="{9D8B030D-6E8A-4147-A177-3AD203B41FA5}">
                      <a16:colId xmlns:a16="http://schemas.microsoft.com/office/drawing/2014/main" val="4103233185"/>
                    </a:ext>
                  </a:extLst>
                </a:gridCol>
              </a:tblGrid>
              <a:tr h="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Method</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extLst>
                  <a:ext uri="{0D108BD9-81ED-4DB2-BD59-A6C34878D82A}">
                    <a16:rowId xmlns:a16="http://schemas.microsoft.com/office/drawing/2014/main" val="1901064633"/>
                  </a:ext>
                </a:extLst>
              </a:tr>
              <a:tr h="0">
                <a:tc>
                  <a:txBody>
                    <a:bodyPr/>
                    <a:lstStyle/>
                    <a:p>
                      <a:pPr marL="0" marR="0" indent="0">
                        <a:spcBef>
                          <a:spcPts val="600"/>
                        </a:spcBef>
                        <a:spcAft>
                          <a:spcPts val="600"/>
                        </a:spcAft>
                        <a:tabLst>
                          <a:tab pos="800100" algn="l"/>
                          <a:tab pos="2514600" algn="l"/>
                          <a:tab pos="457200" algn="l"/>
                        </a:tabLst>
                      </a:pPr>
                      <a:r>
                        <a:rPr lang="en-US" sz="1600" b="1"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select_dtypes</a:t>
                      </a: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(type)</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Selects all columns with the specified data type.</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1841166344"/>
                  </a:ext>
                </a:extLst>
              </a:tr>
            </a:tbl>
          </a:graphicData>
        </a:graphic>
      </p:graphicFrame>
      <p:sp>
        <p:nvSpPr>
          <p:cNvPr id="4" name="Date Placeholder 3">
            <a:extLst>
              <a:ext uri="{FF2B5EF4-FFF2-40B4-BE49-F238E27FC236}">
                <a16:creationId xmlns:a16="http://schemas.microsoft.com/office/drawing/2014/main" id="{10287633-A996-4BE5-99A0-17A3F227F5F0}"/>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17585AB7-B1E7-4017-8C4B-EFCB610AF841}"/>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C01A4386-570A-4A29-90FF-7400E392B82D}"/>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41</a:t>
            </a:fld>
            <a:endParaRPr lang="en-US" dirty="0">
              <a:solidFill>
                <a:schemeClr val="bg1"/>
              </a:solidFill>
            </a:endParaRPr>
          </a:p>
        </p:txBody>
      </p:sp>
    </p:spTree>
    <p:extLst>
      <p:ext uri="{BB962C8B-B14F-4D97-AF65-F5344CB8AC3E}">
        <p14:creationId xmlns:p14="http://schemas.microsoft.com/office/powerpoint/2010/main" val="37899931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EC5D8B8-AC74-4DF8-9F64-22DC3AA45B3A}"/>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Polls data: Dates stored as objects</a:t>
            </a:r>
            <a:endParaRPr lang="en-US" dirty="0"/>
          </a:p>
        </p:txBody>
      </p:sp>
      <p:sp>
        <p:nvSpPr>
          <p:cNvPr id="9" name="Text Placeholder 8">
            <a:extLst>
              <a:ext uri="{FF2B5EF4-FFF2-40B4-BE49-F238E27FC236}">
                <a16:creationId xmlns:a16="http://schemas.microsoft.com/office/drawing/2014/main" id="{AD2E8F5C-93D0-4A56-AD19-47A9A3B318F2}"/>
              </a:ext>
            </a:extLst>
          </p:cNvPr>
          <p:cNvSpPr>
            <a:spLocks noGrp="1"/>
          </p:cNvSpPr>
          <p:nvPr>
            <p:ph type="body" sz="quarter" idx="15"/>
          </p:nvPr>
        </p:nvSpPr>
        <p:spPr/>
        <p:txBody>
          <a:bodyPr/>
          <a:lstStyle/>
          <a:p>
            <a:pPr marL="347345" marR="0">
              <a:spcBef>
                <a:spcPts val="0"/>
              </a:spcBef>
              <a:spcAft>
                <a:spcPts val="60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polls.select_dtypes</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('object').head(2)</a:t>
            </a:r>
          </a:p>
          <a:p>
            <a:endParaRPr lang="en-US" sz="1600" dirty="0"/>
          </a:p>
        </p:txBody>
      </p:sp>
      <p:sp>
        <p:nvSpPr>
          <p:cNvPr id="4" name="Date Placeholder 3">
            <a:extLst>
              <a:ext uri="{FF2B5EF4-FFF2-40B4-BE49-F238E27FC236}">
                <a16:creationId xmlns:a16="http://schemas.microsoft.com/office/drawing/2014/main" id="{698CB587-95E7-414A-ADCB-93D67390A29D}"/>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5FE8F546-53AB-47D7-A0A3-799D1DC7BEBF}"/>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1C869103-B5EC-46CC-9C99-AC2AAAAE1CC8}"/>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C6, Slide </a:t>
            </a:r>
            <a:fld id="{BF5C1183-B085-4070-A402-C03A3F977D3D}" type="slidenum">
              <a:rPr lang="en-US" sz="900" smtClean="0">
                <a:solidFill>
                  <a:schemeClr val="bg1"/>
                </a:solidFill>
                <a:latin typeface="Arial Narrow" panose="020B0606020202030204" pitchFamily="34" charset="0"/>
              </a:rPr>
              <a:pPr algn="r">
                <a:defRPr/>
              </a:pPr>
              <a:t>42</a:t>
            </a:fld>
            <a:endParaRPr lang="en-US" sz="900" dirty="0">
              <a:solidFill>
                <a:schemeClr val="bg1"/>
              </a:solidFill>
              <a:latin typeface="Arial Narrow" panose="020B0606020202030204" pitchFamily="34" charset="0"/>
            </a:endParaRPr>
          </a:p>
        </p:txBody>
      </p:sp>
      <p:pic>
        <p:nvPicPr>
          <p:cNvPr id="3" name="Picture 2">
            <a:extLst>
              <a:ext uri="{FF2B5EF4-FFF2-40B4-BE49-F238E27FC236}">
                <a16:creationId xmlns:a16="http://schemas.microsoft.com/office/drawing/2014/main" id="{988A1A9D-EF7E-69D4-0DDB-0727A6394460}"/>
              </a:ext>
            </a:extLst>
          </p:cNvPr>
          <p:cNvPicPr>
            <a:picLocks noChangeAspect="1"/>
          </p:cNvPicPr>
          <p:nvPr/>
        </p:nvPicPr>
        <p:blipFill>
          <a:blip r:embed="rId2"/>
          <a:stretch>
            <a:fillRect/>
          </a:stretch>
        </p:blipFill>
        <p:spPr>
          <a:xfrm>
            <a:off x="914399" y="1484723"/>
            <a:ext cx="8038799" cy="953677"/>
          </a:xfrm>
          <a:prstGeom prst="rect">
            <a:avLst/>
          </a:prstGeom>
        </p:spPr>
      </p:pic>
    </p:spTree>
    <p:extLst>
      <p:ext uri="{BB962C8B-B14F-4D97-AF65-F5344CB8AC3E}">
        <p14:creationId xmlns:p14="http://schemas.microsoft.com/office/powerpoint/2010/main" val="24244761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1EEFD2B-6FF9-431E-8FD7-5A326945BB70}"/>
              </a:ext>
            </a:extLst>
          </p:cNvPr>
          <p:cNvSpPr>
            <a:spLocks noGrp="1"/>
          </p:cNvSpPr>
          <p:nvPr>
            <p:ph type="title"/>
          </p:nvPr>
        </p:nvSpPr>
        <p:spPr>
          <a:xfrm>
            <a:off x="914400" y="440323"/>
            <a:ext cx="7315200" cy="738664"/>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Jobs data: Numeric and Boolean values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stored as objects</a:t>
            </a:r>
            <a:endParaRPr lang="en-US" dirty="0"/>
          </a:p>
        </p:txBody>
      </p:sp>
      <p:sp>
        <p:nvSpPr>
          <p:cNvPr id="9" name="Text Placeholder 8">
            <a:extLst>
              <a:ext uri="{FF2B5EF4-FFF2-40B4-BE49-F238E27FC236}">
                <a16:creationId xmlns:a16="http://schemas.microsoft.com/office/drawing/2014/main" id="{5601CE0F-6B36-4A65-AA5E-1F14F0CB0AE8}"/>
              </a:ext>
            </a:extLst>
          </p:cNvPr>
          <p:cNvSpPr>
            <a:spLocks noGrp="1"/>
          </p:cNvSpPr>
          <p:nvPr>
            <p:ph type="body" sz="quarter" idx="15"/>
          </p:nvPr>
        </p:nvSpPr>
        <p:spPr>
          <a:xfrm>
            <a:off x="812800" y="1215158"/>
            <a:ext cx="7391400" cy="2213842"/>
          </a:xfrm>
        </p:spPr>
        <p:txBody>
          <a:bodyPr/>
          <a:lstStyle/>
          <a:p>
            <a:pPr marL="347345" marR="0">
              <a:spcBef>
                <a:spcPts val="0"/>
              </a:spcBef>
              <a:spcAft>
                <a:spcPts val="60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jobs.select_dtypes</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('object').head(2)</a:t>
            </a:r>
          </a:p>
          <a:p>
            <a:endParaRPr lang="en-US" sz="1600" dirty="0"/>
          </a:p>
        </p:txBody>
      </p:sp>
      <p:sp>
        <p:nvSpPr>
          <p:cNvPr id="4" name="Date Placeholder 3">
            <a:extLst>
              <a:ext uri="{FF2B5EF4-FFF2-40B4-BE49-F238E27FC236}">
                <a16:creationId xmlns:a16="http://schemas.microsoft.com/office/drawing/2014/main" id="{AF638B99-5A56-47FD-8D88-52B0B10A6235}"/>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3BA6875E-A1CC-4B1A-8CDA-EB53C0577A9B}"/>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4A223985-78C1-4AC9-9317-6BCAE8F439F2}"/>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C6, Slide </a:t>
            </a:r>
            <a:fld id="{BF5C1183-B085-4070-A402-C03A3F977D3D}" type="slidenum">
              <a:rPr lang="en-US" sz="900" smtClean="0">
                <a:solidFill>
                  <a:schemeClr val="bg1"/>
                </a:solidFill>
                <a:latin typeface="Arial Narrow" panose="020B0606020202030204" pitchFamily="34" charset="0"/>
              </a:rPr>
              <a:pPr algn="r">
                <a:defRPr/>
              </a:pPr>
              <a:t>43</a:t>
            </a:fld>
            <a:endParaRPr lang="en-US" sz="900" dirty="0">
              <a:solidFill>
                <a:schemeClr val="bg1"/>
              </a:solidFill>
              <a:latin typeface="Arial Narrow" panose="020B0606020202030204" pitchFamily="34" charset="0"/>
            </a:endParaRPr>
          </a:p>
        </p:txBody>
      </p:sp>
      <p:pic>
        <p:nvPicPr>
          <p:cNvPr id="3" name="Picture 2">
            <a:extLst>
              <a:ext uri="{FF2B5EF4-FFF2-40B4-BE49-F238E27FC236}">
                <a16:creationId xmlns:a16="http://schemas.microsoft.com/office/drawing/2014/main" id="{A3F47963-2C7A-4840-5AC4-248866221AD2}"/>
              </a:ext>
            </a:extLst>
          </p:cNvPr>
          <p:cNvPicPr>
            <a:picLocks noChangeAspect="1"/>
          </p:cNvPicPr>
          <p:nvPr/>
        </p:nvPicPr>
        <p:blipFill>
          <a:blip r:embed="rId2"/>
          <a:stretch>
            <a:fillRect/>
          </a:stretch>
        </p:blipFill>
        <p:spPr>
          <a:xfrm>
            <a:off x="929373" y="1631834"/>
            <a:ext cx="7622324" cy="958966"/>
          </a:xfrm>
          <a:prstGeom prst="rect">
            <a:avLst/>
          </a:prstGeom>
        </p:spPr>
      </p:pic>
    </p:spTree>
    <p:extLst>
      <p:ext uri="{BB962C8B-B14F-4D97-AF65-F5344CB8AC3E}">
        <p14:creationId xmlns:p14="http://schemas.microsoft.com/office/powerpoint/2010/main" val="29217228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4D2F7-37DC-4F0D-AE39-9FC6BC28FADB}"/>
              </a:ext>
            </a:extLst>
          </p:cNvPr>
          <p:cNvSpPr>
            <a:spLocks noGrp="1"/>
          </p:cNvSpPr>
          <p:nvPr>
            <p:ph type="title"/>
          </p:nvPr>
        </p:nvSpPr>
        <p:spPr>
          <a:xfrm>
            <a:off x="914400" y="440323"/>
            <a:ext cx="7315200" cy="738664"/>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Pandas applies data types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to imported columns</a:t>
            </a:r>
            <a:endParaRPr lang="en-US" dirty="0"/>
          </a:p>
        </p:txBody>
      </p:sp>
      <p:sp>
        <p:nvSpPr>
          <p:cNvPr id="3" name="Text Placeholder 2">
            <a:extLst>
              <a:ext uri="{FF2B5EF4-FFF2-40B4-BE49-F238E27FC236}">
                <a16:creationId xmlns:a16="http://schemas.microsoft.com/office/drawing/2014/main" id="{DE563B4B-EC1F-464A-9523-890AA1334670}"/>
              </a:ext>
            </a:extLst>
          </p:cNvPr>
          <p:cNvSpPr>
            <a:spLocks noGrp="1"/>
          </p:cNvSpPr>
          <p:nvPr>
            <p:ph type="body" sz="quarter" idx="13"/>
          </p:nvPr>
        </p:nvSpPr>
        <p:spPr>
          <a:xfrm>
            <a:off x="838200" y="1219200"/>
            <a:ext cx="7391400" cy="4876800"/>
          </a:xfrm>
        </p:spPr>
        <p:txBody>
          <a:bodyPr/>
          <a:lstStyle/>
          <a:p>
            <a:pPr marL="342900" marR="274320" lvl="0" indent="-342900">
              <a:spcBef>
                <a:spcPts val="0"/>
              </a:spcBef>
              <a:spcAft>
                <a:spcPts val="600"/>
              </a:spcAft>
              <a:buFont typeface="Symbol" panose="05050102010706020507" pitchFamily="18" charset="2"/>
              <a:buChar char=""/>
            </a:pPr>
            <a:r>
              <a:rPr lang="en-US" sz="2000" spc="-10" dirty="0">
                <a:effectLst/>
                <a:latin typeface="Times New Roman" panose="02020603050405020304" pitchFamily="18" charset="0"/>
                <a:ea typeface="Times New Roman" panose="02020603050405020304" pitchFamily="18" charset="0"/>
              </a:rPr>
              <a:t>If a column consists entirely of numbers and NA values, Pandas imports the column with either the int64 or float64 data type. </a:t>
            </a:r>
          </a:p>
          <a:p>
            <a:pPr marL="342900" marR="274320" lvl="0" indent="-342900">
              <a:spcBef>
                <a:spcPts val="0"/>
              </a:spcBef>
              <a:spcAft>
                <a:spcPts val="600"/>
              </a:spcAft>
              <a:buFont typeface="Symbol" panose="05050102010706020507" pitchFamily="18" charset="2"/>
              <a:buChar char=""/>
            </a:pPr>
            <a:r>
              <a:rPr lang="en-US" sz="2000" spc="-10" dirty="0">
                <a:effectLst/>
                <a:latin typeface="Times New Roman" panose="02020603050405020304" pitchFamily="18" charset="0"/>
                <a:ea typeface="Times New Roman" panose="02020603050405020304" pitchFamily="18" charset="0"/>
              </a:rPr>
              <a:t>If a column consists entirely of True and False values, Pandas imports the column with the bool data type. </a:t>
            </a:r>
          </a:p>
          <a:p>
            <a:pPr marL="342900" marR="274320" lvl="0" indent="-342900">
              <a:spcBef>
                <a:spcPts val="0"/>
              </a:spcBef>
              <a:spcAft>
                <a:spcPts val="600"/>
              </a:spcAft>
              <a:buFont typeface="Symbol" panose="05050102010706020507" pitchFamily="18" charset="2"/>
              <a:buChar char=""/>
            </a:pPr>
            <a:r>
              <a:rPr lang="en-US" sz="2000" spc="-10" dirty="0">
                <a:effectLst/>
                <a:latin typeface="Times New Roman" panose="02020603050405020304" pitchFamily="18" charset="0"/>
                <a:ea typeface="Times New Roman" panose="02020603050405020304" pitchFamily="18" charset="0"/>
              </a:rPr>
              <a:t>Pandas imports all other columns with the object data type.</a:t>
            </a:r>
          </a:p>
          <a:p>
            <a:endParaRPr lang="en-US" dirty="0"/>
          </a:p>
        </p:txBody>
      </p:sp>
      <p:sp>
        <p:nvSpPr>
          <p:cNvPr id="4" name="Date Placeholder 3">
            <a:extLst>
              <a:ext uri="{FF2B5EF4-FFF2-40B4-BE49-F238E27FC236}">
                <a16:creationId xmlns:a16="http://schemas.microsoft.com/office/drawing/2014/main" id="{C01D165F-D76A-4539-A4DC-D78064901986}"/>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17561669-0226-4D6F-8C8B-7D73FCCF638B}"/>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5B932DFA-260C-4C6F-BECF-1B71BB8C1DC6}"/>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44</a:t>
            </a:fld>
            <a:endParaRPr lang="en-US" dirty="0">
              <a:solidFill>
                <a:schemeClr val="bg1"/>
              </a:solidFill>
            </a:endParaRPr>
          </a:p>
        </p:txBody>
      </p:sp>
    </p:spTree>
    <p:extLst>
      <p:ext uri="{BB962C8B-B14F-4D97-AF65-F5344CB8AC3E}">
        <p14:creationId xmlns:p14="http://schemas.microsoft.com/office/powerpoint/2010/main" val="4801340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8305F98-41F3-4C81-AF5B-D4AF48CBF3BA}"/>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Pandas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to_datetime</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a:t>
            </a:r>
            <a:endParaRPr lang="en-US" dirty="0"/>
          </a:p>
        </p:txBody>
      </p:sp>
      <p:graphicFrame>
        <p:nvGraphicFramePr>
          <p:cNvPr id="9" name="Table Placeholder 8">
            <a:extLst>
              <a:ext uri="{FF2B5EF4-FFF2-40B4-BE49-F238E27FC236}">
                <a16:creationId xmlns:a16="http://schemas.microsoft.com/office/drawing/2014/main" id="{19DB57E4-5494-44C5-A3C8-C85D92D13FAA}"/>
              </a:ext>
            </a:extLst>
          </p:cNvPr>
          <p:cNvGraphicFramePr>
            <a:graphicFrameLocks noGrp="1"/>
          </p:cNvGraphicFramePr>
          <p:nvPr>
            <p:ph type="tbl" sz="quarter" idx="13"/>
            <p:extLst>
              <p:ext uri="{D42A27DB-BD31-4B8C-83A1-F6EECF244321}">
                <p14:modId xmlns:p14="http://schemas.microsoft.com/office/powerpoint/2010/main" val="3182399103"/>
              </p:ext>
            </p:extLst>
          </p:nvPr>
        </p:nvGraphicFramePr>
        <p:xfrm>
          <a:off x="914400" y="1066800"/>
          <a:ext cx="5497830" cy="1097280"/>
        </p:xfrm>
        <a:graphic>
          <a:graphicData uri="http://schemas.openxmlformats.org/drawingml/2006/table">
            <a:tbl>
              <a:tblPr firstRow="1"/>
              <a:tblGrid>
                <a:gridCol w="1897380">
                  <a:extLst>
                    <a:ext uri="{9D8B030D-6E8A-4147-A177-3AD203B41FA5}">
                      <a16:colId xmlns:a16="http://schemas.microsoft.com/office/drawing/2014/main" val="2812910581"/>
                    </a:ext>
                  </a:extLst>
                </a:gridCol>
                <a:gridCol w="3600450">
                  <a:extLst>
                    <a:ext uri="{9D8B030D-6E8A-4147-A177-3AD203B41FA5}">
                      <a16:colId xmlns:a16="http://schemas.microsoft.com/office/drawing/2014/main" val="157647536"/>
                    </a:ext>
                  </a:extLst>
                </a:gridCol>
              </a:tblGrid>
              <a:tr h="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Method</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extLst>
                  <a:ext uri="{0D108BD9-81ED-4DB2-BD59-A6C34878D82A}">
                    <a16:rowId xmlns:a16="http://schemas.microsoft.com/office/drawing/2014/main" val="3814007880"/>
                  </a:ext>
                </a:extLst>
              </a:tr>
              <a:tr h="0">
                <a:tc>
                  <a:txBody>
                    <a:bodyPr/>
                    <a:lstStyle/>
                    <a:p>
                      <a:pPr marL="0" marR="0" indent="0">
                        <a:spcBef>
                          <a:spcPts val="600"/>
                        </a:spcBef>
                        <a:spcAft>
                          <a:spcPts val="600"/>
                        </a:spcAft>
                        <a:tabLst>
                          <a:tab pos="800100" algn="l"/>
                          <a:tab pos="2514600" algn="l"/>
                          <a:tab pos="457200" algn="l"/>
                        </a:tabLst>
                      </a:pPr>
                      <a:r>
                        <a:rPr lang="en-US" sz="1600" b="1"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to_datetime</a:t>
                      </a: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Converts columns that contain date strings to datetime objects.</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2820120875"/>
                  </a:ext>
                </a:extLst>
              </a:tr>
            </a:tbl>
          </a:graphicData>
        </a:graphic>
      </p:graphicFrame>
      <p:sp>
        <p:nvSpPr>
          <p:cNvPr id="4" name="Date Placeholder 3">
            <a:extLst>
              <a:ext uri="{FF2B5EF4-FFF2-40B4-BE49-F238E27FC236}">
                <a16:creationId xmlns:a16="http://schemas.microsoft.com/office/drawing/2014/main" id="{A05B6B96-6130-42B0-89FA-A87BC2835DE8}"/>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E495D087-CA1F-489F-A2AB-363430CA5A73}"/>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CBC91280-30B2-42DC-85D1-A160861A3229}"/>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45</a:t>
            </a:fld>
            <a:endParaRPr lang="en-US" dirty="0">
              <a:solidFill>
                <a:schemeClr val="bg1"/>
              </a:solidFill>
            </a:endParaRPr>
          </a:p>
        </p:txBody>
      </p:sp>
    </p:spTree>
    <p:extLst>
      <p:ext uri="{BB962C8B-B14F-4D97-AF65-F5344CB8AC3E}">
        <p14:creationId xmlns:p14="http://schemas.microsoft.com/office/powerpoint/2010/main" val="8038208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3EF839CA-E13C-40E7-AD39-79C56BB2672B}"/>
              </a:ext>
            </a:extLst>
          </p:cNvPr>
          <p:cNvSpPr>
            <a:spLocks noGrp="1"/>
          </p:cNvSpPr>
          <p:nvPr>
            <p:ph type="title"/>
          </p:nvPr>
        </p:nvSpPr>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Four of the date columns in the polls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DataFrame</a:t>
            </a:r>
            <a:endParaRPr lang="en-US" dirty="0"/>
          </a:p>
        </p:txBody>
      </p:sp>
      <p:sp>
        <p:nvSpPr>
          <p:cNvPr id="18" name="Text Placeholder 17">
            <a:extLst>
              <a:ext uri="{FF2B5EF4-FFF2-40B4-BE49-F238E27FC236}">
                <a16:creationId xmlns:a16="http://schemas.microsoft.com/office/drawing/2014/main" id="{3B9BEF1C-490B-463D-B671-7144FA7311AD}"/>
              </a:ext>
            </a:extLst>
          </p:cNvPr>
          <p:cNvSpPr>
            <a:spLocks noGrp="1"/>
          </p:cNvSpPr>
          <p:nvPr>
            <p:ph type="body" sz="quarter" idx="16"/>
          </p:nvPr>
        </p:nvSpPr>
        <p:spPr/>
        <p:txBody>
          <a:bodyPr/>
          <a:lstStyle/>
          <a:p>
            <a:pPr marL="347345" marR="0">
              <a:spcBef>
                <a:spcPts val="0"/>
              </a:spcBef>
              <a:spcAft>
                <a:spcPts val="60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date_cols</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startdate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enddate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createddate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','timestamp']</a:t>
            </a:r>
          </a:p>
          <a:p>
            <a:endParaRPr lang="en-US" sz="1600" dirty="0"/>
          </a:p>
        </p:txBody>
      </p:sp>
      <p:pic>
        <p:nvPicPr>
          <p:cNvPr id="19" name="Content Placeholder 18" descr="Refer to page 221 in textbook">
            <a:extLst>
              <a:ext uri="{FF2B5EF4-FFF2-40B4-BE49-F238E27FC236}">
                <a16:creationId xmlns:a16="http://schemas.microsoft.com/office/drawing/2014/main" id="{744C5986-DBB7-4560-9A13-95B2DE6009A4}"/>
              </a:ext>
            </a:extLst>
          </p:cNvPr>
          <p:cNvPicPr>
            <a:picLocks noGrp="1" noChangeAspect="1"/>
          </p:cNvPicPr>
          <p:nvPr>
            <p:ph sz="quarter" idx="13"/>
          </p:nvPr>
        </p:nvPicPr>
        <p:blipFill>
          <a:blip r:embed="rId2"/>
          <a:stretch>
            <a:fillRect/>
          </a:stretch>
        </p:blipFill>
        <p:spPr>
          <a:xfrm>
            <a:off x="1262740" y="1420280"/>
            <a:ext cx="4755292" cy="1018120"/>
          </a:xfrm>
          <a:prstGeom prst="rect">
            <a:avLst/>
          </a:prstGeom>
        </p:spPr>
      </p:pic>
      <p:sp>
        <p:nvSpPr>
          <p:cNvPr id="16" name="Text Placeholder 15">
            <a:extLst>
              <a:ext uri="{FF2B5EF4-FFF2-40B4-BE49-F238E27FC236}">
                <a16:creationId xmlns:a16="http://schemas.microsoft.com/office/drawing/2014/main" id="{B1FAB7DE-E1BF-4036-A07B-364BF2754477}"/>
              </a:ext>
            </a:extLst>
          </p:cNvPr>
          <p:cNvSpPr>
            <a:spLocks noGrp="1"/>
          </p:cNvSpPr>
          <p:nvPr>
            <p:ph type="body" sz="quarter" idx="14"/>
          </p:nvPr>
        </p:nvSpPr>
        <p:spPr>
          <a:xfrm>
            <a:off x="838200" y="2590800"/>
            <a:ext cx="7391400" cy="457200"/>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convert dates to datetime objects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with inferred formatting</a:t>
            </a:r>
            <a:endParaRPr lang="en-US" sz="2400" b="1" dirty="0">
              <a:solidFill>
                <a:srgbClr val="000099"/>
              </a:solidFill>
              <a:effectLst/>
              <a:latin typeface="Montserrat Medium"/>
              <a:ea typeface="Times New Roman" panose="02020603050405020304" pitchFamily="18" charset="0"/>
              <a:cs typeface="Times New Roman" panose="02020603050405020304" pitchFamily="18" charset="0"/>
            </a:endParaRPr>
          </a:p>
          <a:p>
            <a:pPr marL="228600" marR="0">
              <a:spcBef>
                <a:spcPts val="0"/>
              </a:spcBef>
              <a:spcAft>
                <a:spcPts val="0"/>
              </a:spcAft>
              <a:tabLst>
                <a:tab pos="1371600" algn="l"/>
              </a:tabLst>
            </a:pPr>
            <a:r>
              <a:rPr lang="en-US" sz="1600" b="1"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polls[['</a:t>
            </a:r>
            <a:r>
              <a:rPr lang="en-US" sz="1600" b="1" dirty="0" err="1">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startdate</a:t>
            </a:r>
            <a:r>
              <a:rPr lang="en-US" sz="1600" b="1"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enddate</a:t>
            </a:r>
            <a:r>
              <a:rPr lang="en-US" sz="1600" b="1"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 =  </a:t>
            </a:r>
          </a:p>
          <a:p>
            <a:pPr marL="228600" marR="0">
              <a:spcBef>
                <a:spcPts val="0"/>
              </a:spcBef>
              <a:spcAft>
                <a:spcPts val="0"/>
              </a:spcAft>
              <a:tabLst>
                <a:tab pos="1371600" algn="l"/>
              </a:tabLst>
            </a:pPr>
            <a:r>
              <a:rPr lang="en-US" sz="1600" b="1"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    polls[['</a:t>
            </a:r>
            <a:r>
              <a:rPr lang="en-US" sz="1600" b="1" dirty="0" err="1">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startdate</a:t>
            </a:r>
            <a:r>
              <a:rPr lang="en-US" sz="1600" b="1"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enddate</a:t>
            </a:r>
            <a:r>
              <a:rPr lang="en-US" sz="1600" b="1"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']].apply(</a:t>
            </a:r>
            <a:r>
              <a:rPr lang="en-US" sz="1600" b="1" dirty="0" err="1">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pd.to_datetime</a:t>
            </a:r>
            <a:r>
              <a:rPr lang="en-US" sz="1600" b="1"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a:t>
            </a:r>
          </a:p>
          <a:p>
            <a:pPr marL="228600" marR="0">
              <a:spcBef>
                <a:spcPts val="0"/>
              </a:spcBef>
              <a:spcAft>
                <a:spcPts val="0"/>
              </a:spcAft>
              <a:tabLst>
                <a:tab pos="1371600" algn="l"/>
              </a:tabLst>
            </a:pPr>
            <a:r>
              <a:rPr lang="en-US" sz="1600" b="1"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polls[['timestamp']] = polls[['timestamp']].apply(</a:t>
            </a:r>
            <a:r>
              <a:rPr lang="en-US" sz="1600" b="1" dirty="0" err="1">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pd.to_datetime</a:t>
            </a:r>
            <a:r>
              <a:rPr lang="en-US" sz="1600" b="1" dirty="0">
                <a:solidFill>
                  <a:schemeClr val="tx1"/>
                </a:solidFill>
                <a:effectLst/>
                <a:latin typeface="Consolas" panose="020B0609020204030204" pitchFamily="49" charset="0"/>
                <a:ea typeface="Times New Roman" panose="02020603050405020304" pitchFamily="18" charset="0"/>
                <a:cs typeface="Times New Roman" panose="02020603050405020304" pitchFamily="18" charset="0"/>
              </a:rPr>
              <a:t>)</a:t>
            </a:r>
          </a:p>
          <a:p>
            <a:endParaRPr lang="en-US" dirty="0"/>
          </a:p>
        </p:txBody>
      </p:sp>
      <p:sp>
        <p:nvSpPr>
          <p:cNvPr id="4" name="Date Placeholder 3">
            <a:extLst>
              <a:ext uri="{FF2B5EF4-FFF2-40B4-BE49-F238E27FC236}">
                <a16:creationId xmlns:a16="http://schemas.microsoft.com/office/drawing/2014/main" id="{8E6A5CD4-1F33-4B5D-9522-1EF121580B60}"/>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10343F06-A390-4283-9D45-C7F5B38C7AC7}"/>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20FE0D87-F652-4729-B51B-815387F1F2EA}"/>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C6, Slide </a:t>
            </a:r>
            <a:fld id="{BF5C1183-B085-4070-A402-C03A3F977D3D}" type="slidenum">
              <a:rPr lang="en-US" sz="900" smtClean="0">
                <a:solidFill>
                  <a:schemeClr val="bg1"/>
                </a:solidFill>
                <a:latin typeface="Arial Narrow" panose="020B0606020202030204" pitchFamily="34" charset="0"/>
              </a:rPr>
              <a:pPr algn="r">
                <a:defRPr/>
              </a:pPr>
              <a:t>46</a:t>
            </a:fld>
            <a:endParaRPr lang="en-US" sz="900" dirty="0">
              <a:solidFill>
                <a:schemeClr val="bg1"/>
              </a:solidFill>
              <a:latin typeface="Arial Narrow" panose="020B0606020202030204" pitchFamily="34" charset="0"/>
            </a:endParaRPr>
          </a:p>
        </p:txBody>
      </p:sp>
      <p:pic>
        <p:nvPicPr>
          <p:cNvPr id="3" name="Picture 2">
            <a:extLst>
              <a:ext uri="{FF2B5EF4-FFF2-40B4-BE49-F238E27FC236}">
                <a16:creationId xmlns:a16="http://schemas.microsoft.com/office/drawing/2014/main" id="{65E76EC9-F687-C3E0-0614-B82E6E046A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8832" y="4692052"/>
            <a:ext cx="5029200" cy="1077601"/>
          </a:xfrm>
          <a:prstGeom prst="rect">
            <a:avLst/>
          </a:prstGeom>
        </p:spPr>
      </p:pic>
    </p:spTree>
    <p:extLst>
      <p:ext uri="{BB962C8B-B14F-4D97-AF65-F5344CB8AC3E}">
        <p14:creationId xmlns:p14="http://schemas.microsoft.com/office/powerpoint/2010/main" val="18812232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3BFCE41-3F91-4278-A4E9-636B3E188E3E}"/>
              </a:ext>
            </a:extLst>
          </p:cNvPr>
          <p:cNvSpPr>
            <a:spLocks noGrp="1"/>
          </p:cNvSpPr>
          <p:nvPr>
            <p:ph type="title"/>
          </p:nvPr>
        </p:nvSpPr>
        <p:spPr>
          <a:xfrm>
            <a:off x="914400" y="440323"/>
            <a:ext cx="7315200" cy="738664"/>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 few of the formatting codes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for the Python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strftime</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a:t>
            </a:r>
            <a:endParaRPr lang="en-US" dirty="0"/>
          </a:p>
        </p:txBody>
      </p:sp>
      <p:graphicFrame>
        <p:nvGraphicFramePr>
          <p:cNvPr id="9" name="Table Placeholder 8">
            <a:extLst>
              <a:ext uri="{FF2B5EF4-FFF2-40B4-BE49-F238E27FC236}">
                <a16:creationId xmlns:a16="http://schemas.microsoft.com/office/drawing/2014/main" id="{DFF01597-0903-4876-A673-485C8096051F}"/>
              </a:ext>
            </a:extLst>
          </p:cNvPr>
          <p:cNvGraphicFramePr>
            <a:graphicFrameLocks noGrp="1"/>
          </p:cNvGraphicFramePr>
          <p:nvPr>
            <p:ph type="tbl" sz="quarter" idx="13"/>
            <p:extLst>
              <p:ext uri="{D42A27DB-BD31-4B8C-83A1-F6EECF244321}">
                <p14:modId xmlns:p14="http://schemas.microsoft.com/office/powerpoint/2010/main" val="2708909238"/>
              </p:ext>
            </p:extLst>
          </p:nvPr>
        </p:nvGraphicFramePr>
        <p:xfrm>
          <a:off x="914400" y="1295400"/>
          <a:ext cx="5212080" cy="1981200"/>
        </p:xfrm>
        <a:graphic>
          <a:graphicData uri="http://schemas.openxmlformats.org/drawingml/2006/table">
            <a:tbl>
              <a:tblPr firstRow="1"/>
              <a:tblGrid>
                <a:gridCol w="1211580">
                  <a:extLst>
                    <a:ext uri="{9D8B030D-6E8A-4147-A177-3AD203B41FA5}">
                      <a16:colId xmlns:a16="http://schemas.microsoft.com/office/drawing/2014/main" val="3157694545"/>
                    </a:ext>
                  </a:extLst>
                </a:gridCol>
                <a:gridCol w="4000500">
                  <a:extLst>
                    <a:ext uri="{9D8B030D-6E8A-4147-A177-3AD203B41FA5}">
                      <a16:colId xmlns:a16="http://schemas.microsoft.com/office/drawing/2014/main" val="216698560"/>
                    </a:ext>
                  </a:extLst>
                </a:gridCol>
              </a:tblGrid>
              <a:tr h="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Code</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nchor="ctr">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nchor="ctr">
                    <a:lnL>
                      <a:noFill/>
                    </a:lnL>
                    <a:lnR>
                      <a:noFill/>
                    </a:lnR>
                    <a:lnT>
                      <a:noFill/>
                    </a:lnT>
                    <a:lnB>
                      <a:noFill/>
                    </a:lnB>
                    <a:solidFill>
                      <a:srgbClr val="3D87B7"/>
                    </a:solidFill>
                  </a:tcPr>
                </a:tc>
                <a:extLst>
                  <a:ext uri="{0D108BD9-81ED-4DB2-BD59-A6C34878D82A}">
                    <a16:rowId xmlns:a16="http://schemas.microsoft.com/office/drawing/2014/main" val="1339583627"/>
                  </a:ext>
                </a:extLst>
              </a:tr>
              <a:tr h="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%m</a:t>
                      </a:r>
                      <a:endParaRPr lang="en-US" sz="200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The month of the year as an integer</a:t>
                      </a:r>
                      <a:endParaRPr lang="en-US" sz="200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extLst>
                  <a:ext uri="{0D108BD9-81ED-4DB2-BD59-A6C34878D82A}">
                    <a16:rowId xmlns:a16="http://schemas.microsoft.com/office/drawing/2014/main" val="4101786411"/>
                  </a:ext>
                </a:extLst>
              </a:tr>
              <a:tr h="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%d</a:t>
                      </a:r>
                      <a:endParaRPr lang="en-US" sz="200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The day of the month as an integer</a:t>
                      </a:r>
                      <a:endParaRPr lang="en-US" sz="200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extLst>
                  <a:ext uri="{0D108BD9-81ED-4DB2-BD59-A6C34878D82A}">
                    <a16:rowId xmlns:a16="http://schemas.microsoft.com/office/drawing/2014/main" val="2585579606"/>
                  </a:ext>
                </a:extLst>
              </a:tr>
              <a:tr h="0">
                <a:tc>
                  <a:txBody>
                    <a:bodyPr/>
                    <a:lstStyle/>
                    <a:p>
                      <a:pPr marL="0" marR="0" indent="0">
                        <a:spcBef>
                          <a:spcPts val="600"/>
                        </a:spcBef>
                        <a:spcAft>
                          <a:spcPts val="600"/>
                        </a:spcAft>
                        <a:tabLst>
                          <a:tab pos="800100" algn="l"/>
                          <a:tab pos="2514600" algn="l"/>
                          <a:tab pos="457200" algn="l"/>
                        </a:tabLst>
                      </a:pPr>
                      <a:r>
                        <a:rPr lang="es-ES" sz="1600" b="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%y</a:t>
                      </a:r>
                      <a:r>
                        <a:rPr lang="es-ES" sz="2000">
                          <a:solidFill>
                            <a:srgbClr val="000000"/>
                          </a:solidFill>
                          <a:effectLst/>
                          <a:latin typeface="Times New Roman" panose="02020603050405020304" pitchFamily="18" charset="0"/>
                          <a:ea typeface="Times New Roman" panose="02020603050405020304" pitchFamily="18" charset="0"/>
                        </a:rPr>
                        <a:t> </a:t>
                      </a:r>
                      <a:endParaRPr lang="en-US" sz="200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s-ES" sz="2000">
                          <a:solidFill>
                            <a:srgbClr val="000000"/>
                          </a:solidFill>
                          <a:effectLst/>
                          <a:latin typeface="Times New Roman" panose="02020603050405020304" pitchFamily="18" charset="0"/>
                          <a:ea typeface="Times New Roman" panose="02020603050405020304" pitchFamily="18" charset="0"/>
                        </a:rPr>
                        <a:t>A 2-digit year</a:t>
                      </a:r>
                      <a:endParaRPr lang="en-US" sz="200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extLst>
                  <a:ext uri="{0D108BD9-81ED-4DB2-BD59-A6C34878D82A}">
                    <a16:rowId xmlns:a16="http://schemas.microsoft.com/office/drawing/2014/main" val="2977671598"/>
                  </a:ext>
                </a:extLst>
              </a:tr>
              <a:tr h="0">
                <a:tc>
                  <a:txBody>
                    <a:bodyPr/>
                    <a:lstStyle/>
                    <a:p>
                      <a:pPr marL="0" marR="0" indent="0">
                        <a:spcBef>
                          <a:spcPts val="600"/>
                        </a:spcBef>
                        <a:spcAft>
                          <a:spcPts val="600"/>
                        </a:spcAft>
                        <a:tabLst>
                          <a:tab pos="800100" algn="l"/>
                          <a:tab pos="2514600" algn="l"/>
                          <a:tab pos="457200" algn="l"/>
                        </a:tabLst>
                      </a:pPr>
                      <a:r>
                        <a:rPr lang="es-E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%Y</a:t>
                      </a:r>
                      <a:endParaRPr lang="en-US" sz="2000" dirty="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s-ES" sz="2000" dirty="0">
                          <a:solidFill>
                            <a:srgbClr val="000000"/>
                          </a:solidFill>
                          <a:effectLst/>
                          <a:latin typeface="Times New Roman" panose="02020603050405020304" pitchFamily="18" charset="0"/>
                          <a:ea typeface="Times New Roman" panose="02020603050405020304" pitchFamily="18" charset="0"/>
                        </a:rPr>
                        <a:t>A 4-digit </a:t>
                      </a:r>
                      <a:r>
                        <a:rPr lang="es-ES" sz="2000" dirty="0" err="1">
                          <a:solidFill>
                            <a:srgbClr val="000000"/>
                          </a:solidFill>
                          <a:effectLst/>
                          <a:latin typeface="Times New Roman" panose="02020603050405020304" pitchFamily="18" charset="0"/>
                          <a:ea typeface="Times New Roman" panose="02020603050405020304" pitchFamily="18" charset="0"/>
                        </a:rPr>
                        <a:t>year</a:t>
                      </a:r>
                      <a:endParaRPr lang="en-US" sz="2000" dirty="0">
                        <a:effectLst/>
                        <a:latin typeface="Times New Roman" panose="02020603050405020304" pitchFamily="18" charset="0"/>
                        <a:ea typeface="Times New Roman" panose="02020603050405020304" pitchFamily="18" charset="0"/>
                      </a:endParaRPr>
                    </a:p>
                  </a:txBody>
                  <a:tcPr marL="68580" marR="68580" anchor="ctr">
                    <a:lnL>
                      <a:noFill/>
                    </a:lnL>
                    <a:lnR>
                      <a:noFill/>
                    </a:lnR>
                    <a:lnT>
                      <a:noFill/>
                    </a:lnT>
                    <a:lnB>
                      <a:noFill/>
                    </a:lnB>
                    <a:solidFill>
                      <a:srgbClr val="DFECF5"/>
                    </a:solidFill>
                  </a:tcPr>
                </a:tc>
                <a:extLst>
                  <a:ext uri="{0D108BD9-81ED-4DB2-BD59-A6C34878D82A}">
                    <a16:rowId xmlns:a16="http://schemas.microsoft.com/office/drawing/2014/main" val="3670733080"/>
                  </a:ext>
                </a:extLst>
              </a:tr>
            </a:tbl>
          </a:graphicData>
        </a:graphic>
      </p:graphicFrame>
      <p:sp>
        <p:nvSpPr>
          <p:cNvPr id="4" name="Date Placeholder 3">
            <a:extLst>
              <a:ext uri="{FF2B5EF4-FFF2-40B4-BE49-F238E27FC236}">
                <a16:creationId xmlns:a16="http://schemas.microsoft.com/office/drawing/2014/main" id="{5585B93E-3A6E-4860-8611-3A99A52EAC23}"/>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16C178A7-30DF-4057-9403-A9A2D636491E}"/>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F1753C41-DA55-43D2-B944-AEAA150EDEC9}"/>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47</a:t>
            </a:fld>
            <a:endParaRPr lang="en-US" dirty="0">
              <a:solidFill>
                <a:schemeClr val="bg1"/>
              </a:solidFill>
            </a:endParaRPr>
          </a:p>
        </p:txBody>
      </p:sp>
    </p:spTree>
    <p:extLst>
      <p:ext uri="{BB962C8B-B14F-4D97-AF65-F5344CB8AC3E}">
        <p14:creationId xmlns:p14="http://schemas.microsoft.com/office/powerpoint/2010/main" val="39660538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18F99D3-2389-45F2-9A6F-18E570D591EB}"/>
              </a:ext>
            </a:extLst>
          </p:cNvPr>
          <p:cNvSpPr>
            <a:spLocks noGrp="1"/>
          </p:cNvSpPr>
          <p:nvPr>
            <p:ph type="title"/>
          </p:nvPr>
        </p:nvSpPr>
        <p:spPr>
          <a:xfrm>
            <a:off x="914400" y="440323"/>
            <a:ext cx="7315200" cy="738664"/>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convert dates to datetime objects with specified formatting</a:t>
            </a:r>
            <a:endParaRPr lang="en-US" dirty="0"/>
          </a:p>
        </p:txBody>
      </p:sp>
      <p:sp>
        <p:nvSpPr>
          <p:cNvPr id="9" name="Text Placeholder 8">
            <a:extLst>
              <a:ext uri="{FF2B5EF4-FFF2-40B4-BE49-F238E27FC236}">
                <a16:creationId xmlns:a16="http://schemas.microsoft.com/office/drawing/2014/main" id="{27FA8912-D153-41F8-B498-F1CE2971A3A9}"/>
              </a:ext>
            </a:extLst>
          </p:cNvPr>
          <p:cNvSpPr>
            <a:spLocks noGrp="1"/>
          </p:cNvSpPr>
          <p:nvPr>
            <p:ph type="body" sz="quarter" idx="15"/>
          </p:nvPr>
        </p:nvSpPr>
        <p:spPr>
          <a:xfrm>
            <a:off x="812800" y="1215158"/>
            <a:ext cx="7391400" cy="2213842"/>
          </a:xfrm>
        </p:spPr>
        <p:txBody>
          <a:bodyPr/>
          <a:lstStyle/>
          <a:p>
            <a:pPr marL="228600" marR="0">
              <a:spcBef>
                <a:spcPts val="0"/>
              </a:spcBef>
              <a:spcAft>
                <a:spcPts val="0"/>
              </a:spcAft>
              <a:tabLst>
                <a:tab pos="1371600" algn="l"/>
              </a:tabLst>
            </a:pP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polls[['</a:t>
            </a:r>
            <a:r>
              <a:rPr lang="en-US" sz="1800" b="1" dirty="0" err="1">
                <a:effectLst/>
                <a:latin typeface="Consolas" panose="020B0609020204030204" pitchFamily="49" charset="0"/>
                <a:ea typeface="Times New Roman" panose="02020603050405020304" pitchFamily="18" charset="0"/>
                <a:cs typeface="Times New Roman" panose="02020603050405020304" pitchFamily="18" charset="0"/>
              </a:rPr>
              <a:t>createddate</a:t>
            </a: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 = </a:t>
            </a:r>
          </a:p>
          <a:p>
            <a:pPr marL="228600" marR="0">
              <a:spcBef>
                <a:spcPts val="0"/>
              </a:spcBef>
              <a:spcAft>
                <a:spcPts val="0"/>
              </a:spcAft>
              <a:tabLst>
                <a:tab pos="1371600" algn="l"/>
              </a:tabLst>
            </a:pP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    polls[['</a:t>
            </a:r>
            <a:r>
              <a:rPr lang="en-US" sz="1800" b="1" dirty="0" err="1">
                <a:effectLst/>
                <a:latin typeface="Consolas" panose="020B0609020204030204" pitchFamily="49" charset="0"/>
                <a:ea typeface="Times New Roman" panose="02020603050405020304" pitchFamily="18" charset="0"/>
                <a:cs typeface="Times New Roman" panose="02020603050405020304" pitchFamily="18" charset="0"/>
              </a:rPr>
              <a:t>createddate</a:t>
            </a: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']].apply(</a:t>
            </a:r>
            <a:r>
              <a:rPr lang="en-US" sz="1800" b="1" dirty="0" err="1">
                <a:effectLst/>
                <a:latin typeface="Consolas" panose="020B0609020204030204" pitchFamily="49" charset="0"/>
                <a:ea typeface="Times New Roman" panose="02020603050405020304" pitchFamily="18" charset="0"/>
                <a:cs typeface="Times New Roman" panose="02020603050405020304" pitchFamily="18" charset="0"/>
              </a:rPr>
              <a:t>pd.to_datetime</a:t>
            </a:r>
            <a:r>
              <a:rPr lang="en-US" sz="1800" b="1" dirty="0">
                <a:effectLst/>
                <a:latin typeface="Consolas" panose="020B0609020204030204" pitchFamily="49" charset="0"/>
                <a:ea typeface="Times New Roman" panose="02020603050405020304" pitchFamily="18" charset="0"/>
                <a:cs typeface="Times New Roman" panose="02020603050405020304" pitchFamily="18" charset="0"/>
              </a:rPr>
              <a:t>, format='%m/%d/%Y')</a:t>
            </a:r>
          </a:p>
          <a:p>
            <a:pPr marL="347345" marR="0">
              <a:spcBef>
                <a:spcPts val="0"/>
              </a:spcBef>
              <a:spcAft>
                <a:spcPts val="600"/>
              </a:spcAft>
              <a:tabLst>
                <a:tab pos="1371600" algn="l"/>
              </a:tabLst>
            </a:pPr>
            <a:endParaRPr lang="en-US" sz="1600" b="1" dirty="0">
              <a:effectLst/>
              <a:latin typeface="Consolas" panose="020B0609020204030204" pitchFamily="49" charset="0"/>
              <a:ea typeface="Times New Roman" panose="02020603050405020304" pitchFamily="18" charset="0"/>
              <a:cs typeface="Times New Roman" panose="02020603050405020304" pitchFamily="18" charset="0"/>
            </a:endParaRPr>
          </a:p>
          <a:p>
            <a:endParaRPr lang="en-US" sz="1600" dirty="0"/>
          </a:p>
        </p:txBody>
      </p:sp>
      <p:sp>
        <p:nvSpPr>
          <p:cNvPr id="4" name="Date Placeholder 3">
            <a:extLst>
              <a:ext uri="{FF2B5EF4-FFF2-40B4-BE49-F238E27FC236}">
                <a16:creationId xmlns:a16="http://schemas.microsoft.com/office/drawing/2014/main" id="{80FB7AAC-C0B0-45A0-8B8C-297C597DD102}"/>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3C584A21-D03A-4375-B16E-2CEFB426076E}"/>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804F1712-10AA-42C4-ACF6-81DDA002C776}"/>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C6, Slide </a:t>
            </a:r>
            <a:fld id="{BF5C1183-B085-4070-A402-C03A3F977D3D}" type="slidenum">
              <a:rPr lang="en-US" sz="900" smtClean="0">
                <a:solidFill>
                  <a:schemeClr val="bg1"/>
                </a:solidFill>
                <a:latin typeface="Arial Narrow" panose="020B0606020202030204" pitchFamily="34" charset="0"/>
              </a:rPr>
              <a:pPr algn="r">
                <a:defRPr/>
              </a:pPr>
              <a:t>48</a:t>
            </a:fld>
            <a:endParaRPr lang="en-US" sz="900" dirty="0">
              <a:solidFill>
                <a:schemeClr val="bg1"/>
              </a:solidFill>
              <a:latin typeface="Arial Narrow" panose="020B0606020202030204" pitchFamily="34" charset="0"/>
            </a:endParaRPr>
          </a:p>
        </p:txBody>
      </p:sp>
      <p:pic>
        <p:nvPicPr>
          <p:cNvPr id="3" name="Picture 2">
            <a:extLst>
              <a:ext uri="{FF2B5EF4-FFF2-40B4-BE49-F238E27FC236}">
                <a16:creationId xmlns:a16="http://schemas.microsoft.com/office/drawing/2014/main" id="{F0CBAF43-C8D4-D6C6-6186-3F387F0E63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9800" y="2300714"/>
            <a:ext cx="6527115" cy="1356886"/>
          </a:xfrm>
          <a:prstGeom prst="rect">
            <a:avLst/>
          </a:prstGeom>
        </p:spPr>
      </p:pic>
    </p:spTree>
    <p:extLst>
      <p:ext uri="{BB962C8B-B14F-4D97-AF65-F5344CB8AC3E}">
        <p14:creationId xmlns:p14="http://schemas.microsoft.com/office/powerpoint/2010/main" val="459792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18F99D3-2389-45F2-9A6F-18E570D591EB}"/>
              </a:ext>
            </a:extLst>
          </p:cNvPr>
          <p:cNvSpPr>
            <a:spLocks noGrp="1"/>
          </p:cNvSpPr>
          <p:nvPr>
            <p:ph type="title"/>
          </p:nvPr>
        </p:nvSpPr>
        <p:spPr>
          <a:xfrm>
            <a:off x="914400" y="440323"/>
            <a:ext cx="7315200" cy="738664"/>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use the Python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strftime</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to format dates as strings</a:t>
            </a:r>
            <a:endParaRPr lang="en-US" dirty="0"/>
          </a:p>
        </p:txBody>
      </p:sp>
      <p:sp>
        <p:nvSpPr>
          <p:cNvPr id="9" name="Text Placeholder 8">
            <a:extLst>
              <a:ext uri="{FF2B5EF4-FFF2-40B4-BE49-F238E27FC236}">
                <a16:creationId xmlns:a16="http://schemas.microsoft.com/office/drawing/2014/main" id="{27FA8912-D153-41F8-B498-F1CE2971A3A9}"/>
              </a:ext>
            </a:extLst>
          </p:cNvPr>
          <p:cNvSpPr>
            <a:spLocks noGrp="1"/>
          </p:cNvSpPr>
          <p:nvPr>
            <p:ph type="body" sz="quarter" idx="15"/>
          </p:nvPr>
        </p:nvSpPr>
        <p:spPr>
          <a:xfrm>
            <a:off x="812800" y="1215158"/>
            <a:ext cx="7391400" cy="2213842"/>
          </a:xfrm>
        </p:spPr>
        <p:txBody>
          <a:bodyPr/>
          <a:lstStyle/>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polls['</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startdate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polls.startdate.dt.strftime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("%m/%d/%Y")</a:t>
            </a:r>
          </a:p>
          <a:p>
            <a:pPr marL="347345" marR="0">
              <a:spcBef>
                <a:spcPts val="0"/>
              </a:spcBef>
              <a:spcAft>
                <a:spcPts val="60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polls['</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enddate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polls.enddate.dt.strftime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("%m-%d-%y")</a:t>
            </a:r>
          </a:p>
          <a:p>
            <a:endParaRPr lang="en-US" sz="1600" dirty="0"/>
          </a:p>
        </p:txBody>
      </p:sp>
      <p:pic>
        <p:nvPicPr>
          <p:cNvPr id="10" name="Content Placeholder 9" descr="Refer to page 221 in textbook">
            <a:extLst>
              <a:ext uri="{FF2B5EF4-FFF2-40B4-BE49-F238E27FC236}">
                <a16:creationId xmlns:a16="http://schemas.microsoft.com/office/drawing/2014/main" id="{FC55940D-00AC-4C2C-99F2-8EC4BBF24904}"/>
              </a:ext>
            </a:extLst>
          </p:cNvPr>
          <p:cNvPicPr>
            <a:picLocks noGrp="1" noChangeAspect="1"/>
          </p:cNvPicPr>
          <p:nvPr>
            <p:ph sz="quarter" idx="13"/>
          </p:nvPr>
        </p:nvPicPr>
        <p:blipFill>
          <a:blip r:embed="rId2"/>
          <a:stretch>
            <a:fillRect/>
          </a:stretch>
        </p:blipFill>
        <p:spPr>
          <a:xfrm>
            <a:off x="1264040" y="1904908"/>
            <a:ext cx="5480312" cy="1143092"/>
          </a:xfrm>
          <a:prstGeom prst="rect">
            <a:avLst/>
          </a:prstGeom>
        </p:spPr>
      </p:pic>
      <p:sp>
        <p:nvSpPr>
          <p:cNvPr id="4" name="Date Placeholder 3">
            <a:extLst>
              <a:ext uri="{FF2B5EF4-FFF2-40B4-BE49-F238E27FC236}">
                <a16:creationId xmlns:a16="http://schemas.microsoft.com/office/drawing/2014/main" id="{80FB7AAC-C0B0-45A0-8B8C-297C597DD102}"/>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3C584A21-D03A-4375-B16E-2CEFB426076E}"/>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804F1712-10AA-42C4-ACF6-81DDA002C776}"/>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C6, Slide </a:t>
            </a:r>
            <a:fld id="{BF5C1183-B085-4070-A402-C03A3F977D3D}" type="slidenum">
              <a:rPr lang="en-US" sz="900" smtClean="0">
                <a:solidFill>
                  <a:schemeClr val="bg1"/>
                </a:solidFill>
                <a:latin typeface="Arial Narrow" panose="020B0606020202030204" pitchFamily="34" charset="0"/>
              </a:rPr>
              <a:pPr algn="r">
                <a:defRPr/>
              </a:pPr>
              <a:t>49</a:t>
            </a:fld>
            <a:endParaRPr lang="en-US" sz="9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36707397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DE12B4-B770-4C56-8B24-581CEBE4E425}"/>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to_numeric</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a:t>
            </a:r>
            <a:endParaRPr lang="en-US" dirty="0"/>
          </a:p>
        </p:txBody>
      </p:sp>
      <p:graphicFrame>
        <p:nvGraphicFramePr>
          <p:cNvPr id="13" name="Table Placeholder 12">
            <a:extLst>
              <a:ext uri="{FF2B5EF4-FFF2-40B4-BE49-F238E27FC236}">
                <a16:creationId xmlns:a16="http://schemas.microsoft.com/office/drawing/2014/main" id="{D6979F3B-6ECD-4252-A77F-15DF270AC40A}"/>
              </a:ext>
            </a:extLst>
          </p:cNvPr>
          <p:cNvGraphicFramePr>
            <a:graphicFrameLocks noGrp="1"/>
          </p:cNvGraphicFramePr>
          <p:nvPr>
            <p:ph type="tbl" sz="quarter" idx="13"/>
            <p:extLst>
              <p:ext uri="{D42A27DB-BD31-4B8C-83A1-F6EECF244321}">
                <p14:modId xmlns:p14="http://schemas.microsoft.com/office/powerpoint/2010/main" val="2324418388"/>
              </p:ext>
            </p:extLst>
          </p:nvPr>
        </p:nvGraphicFramePr>
        <p:xfrm>
          <a:off x="914400" y="1088810"/>
          <a:ext cx="6709410" cy="1097280"/>
        </p:xfrm>
        <a:graphic>
          <a:graphicData uri="http://schemas.openxmlformats.org/drawingml/2006/table">
            <a:tbl>
              <a:tblPr firstRow="1"/>
              <a:tblGrid>
                <a:gridCol w="3268980">
                  <a:extLst>
                    <a:ext uri="{9D8B030D-6E8A-4147-A177-3AD203B41FA5}">
                      <a16:colId xmlns:a16="http://schemas.microsoft.com/office/drawing/2014/main" val="3360242310"/>
                    </a:ext>
                  </a:extLst>
                </a:gridCol>
                <a:gridCol w="3440430">
                  <a:extLst>
                    <a:ext uri="{9D8B030D-6E8A-4147-A177-3AD203B41FA5}">
                      <a16:colId xmlns:a16="http://schemas.microsoft.com/office/drawing/2014/main" val="3012545253"/>
                    </a:ext>
                  </a:extLst>
                </a:gridCol>
              </a:tblGrid>
              <a:tr h="0">
                <a:tc>
                  <a:txBody>
                    <a:bodyPr/>
                    <a:lstStyle/>
                    <a:p>
                      <a:pPr marL="0" marR="0">
                        <a:spcBef>
                          <a:spcPts val="600"/>
                        </a:spcBef>
                        <a:spcAft>
                          <a:spcPts val="600"/>
                        </a:spcAft>
                        <a:tabLst>
                          <a:tab pos="1828800" algn="l"/>
                          <a:tab pos="457200" algn="l"/>
                        </a:tabLst>
                      </a:pPr>
                      <a:r>
                        <a:rPr lang="en-US" sz="20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Method</a:t>
                      </a:r>
                      <a:endParaRPr lang="en-US" sz="2000" b="1" dirty="0">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extLst>
                  <a:ext uri="{0D108BD9-81ED-4DB2-BD59-A6C34878D82A}">
                    <a16:rowId xmlns:a16="http://schemas.microsoft.com/office/drawing/2014/main" val="1274682223"/>
                  </a:ext>
                </a:extLst>
              </a:tr>
              <a:tr h="0">
                <a:tc>
                  <a:txBody>
                    <a:bodyPr/>
                    <a:lstStyle/>
                    <a:p>
                      <a:pPr marL="0" marR="0" indent="0">
                        <a:spcBef>
                          <a:spcPts val="600"/>
                        </a:spcBef>
                        <a:spcAft>
                          <a:spcPts val="600"/>
                        </a:spcAft>
                        <a:tabLst>
                          <a:tab pos="800100" algn="l"/>
                          <a:tab pos="2514600" algn="l"/>
                          <a:tab pos="457200" algn="l"/>
                        </a:tabLst>
                      </a:pPr>
                      <a:r>
                        <a:rPr lang="en-US" sz="1600" b="1"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to_numeric</a:t>
                      </a: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600" b="1"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columns</a:t>
                      </a:r>
                      <a:r>
                        <a:rPr lang="en-US" sz="1600" b="1" i="1"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600" b="1"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errors</a:t>
                      </a: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Tries to convert the data in a column to a numeric type.</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340938700"/>
                  </a:ext>
                </a:extLst>
              </a:tr>
            </a:tbl>
          </a:graphicData>
        </a:graphic>
      </p:graphicFrame>
      <p:sp>
        <p:nvSpPr>
          <p:cNvPr id="10" name="Text Placeholder 9">
            <a:extLst>
              <a:ext uri="{FF2B5EF4-FFF2-40B4-BE49-F238E27FC236}">
                <a16:creationId xmlns:a16="http://schemas.microsoft.com/office/drawing/2014/main" id="{B00A4737-BCCB-43B4-B421-598FB19498FB}"/>
              </a:ext>
            </a:extLst>
          </p:cNvPr>
          <p:cNvSpPr>
            <a:spLocks noGrp="1"/>
          </p:cNvSpPr>
          <p:nvPr>
            <p:ph type="body" sz="quarter" idx="17"/>
          </p:nvPr>
        </p:nvSpPr>
        <p:spPr>
          <a:xfrm>
            <a:off x="838200" y="2286000"/>
            <a:ext cx="7391400" cy="457200"/>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Three options for the errors parameter</a:t>
            </a:r>
            <a:endParaRPr lang="en-US" sz="2400" b="1" dirty="0">
              <a:solidFill>
                <a:srgbClr val="000099"/>
              </a:solidFill>
              <a:effectLst/>
              <a:latin typeface="Montserrat Medium"/>
              <a:ea typeface="Times New Roman" panose="02020603050405020304" pitchFamily="18" charset="0"/>
              <a:cs typeface="Times New Roman" panose="02020603050405020304" pitchFamily="18" charset="0"/>
            </a:endParaRPr>
          </a:p>
          <a:p>
            <a:endParaRPr lang="en-US" sz="2400" dirty="0"/>
          </a:p>
        </p:txBody>
      </p:sp>
      <p:graphicFrame>
        <p:nvGraphicFramePr>
          <p:cNvPr id="14" name="Table Placeholder 13">
            <a:extLst>
              <a:ext uri="{FF2B5EF4-FFF2-40B4-BE49-F238E27FC236}">
                <a16:creationId xmlns:a16="http://schemas.microsoft.com/office/drawing/2014/main" id="{DFB4E885-9910-4A62-BBFA-130A171E6627}"/>
              </a:ext>
            </a:extLst>
          </p:cNvPr>
          <p:cNvGraphicFramePr>
            <a:graphicFrameLocks noGrp="1"/>
          </p:cNvGraphicFramePr>
          <p:nvPr>
            <p:ph type="tbl" sz="quarter" idx="14"/>
            <p:extLst>
              <p:ext uri="{D42A27DB-BD31-4B8C-83A1-F6EECF244321}">
                <p14:modId xmlns:p14="http://schemas.microsoft.com/office/powerpoint/2010/main" val="1175808900"/>
              </p:ext>
            </p:extLst>
          </p:nvPr>
        </p:nvGraphicFramePr>
        <p:xfrm>
          <a:off x="914400" y="2756104"/>
          <a:ext cx="7086600" cy="1889760"/>
        </p:xfrm>
        <a:graphic>
          <a:graphicData uri="http://schemas.openxmlformats.org/drawingml/2006/table">
            <a:tbl>
              <a:tblPr firstRow="1"/>
              <a:tblGrid>
                <a:gridCol w="1266686">
                  <a:extLst>
                    <a:ext uri="{9D8B030D-6E8A-4147-A177-3AD203B41FA5}">
                      <a16:colId xmlns:a16="http://schemas.microsoft.com/office/drawing/2014/main" val="1720713116"/>
                    </a:ext>
                  </a:extLst>
                </a:gridCol>
                <a:gridCol w="5819914">
                  <a:extLst>
                    <a:ext uri="{9D8B030D-6E8A-4147-A177-3AD203B41FA5}">
                      <a16:colId xmlns:a16="http://schemas.microsoft.com/office/drawing/2014/main" val="1171841285"/>
                    </a:ext>
                  </a:extLst>
                </a:gridCol>
              </a:tblGrid>
              <a:tr h="31622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Option</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73152" marR="73152">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73152" marR="73152">
                    <a:lnL>
                      <a:noFill/>
                    </a:lnL>
                    <a:lnR>
                      <a:noFill/>
                    </a:lnR>
                    <a:lnT>
                      <a:noFill/>
                    </a:lnT>
                    <a:lnB>
                      <a:noFill/>
                    </a:lnB>
                    <a:solidFill>
                      <a:srgbClr val="3D87B7"/>
                    </a:solidFill>
                  </a:tcPr>
                </a:tc>
                <a:extLst>
                  <a:ext uri="{0D108BD9-81ED-4DB2-BD59-A6C34878D82A}">
                    <a16:rowId xmlns:a16="http://schemas.microsoft.com/office/drawing/2014/main" val="3757207515"/>
                  </a:ext>
                </a:extLst>
              </a:tr>
              <a:tr h="559466">
                <a:tc>
                  <a:txBody>
                    <a:bodyPr/>
                    <a:lstStyle/>
                    <a:p>
                      <a:pPr marL="0" marR="0" indent="0">
                        <a:spcBef>
                          <a:spcPts val="600"/>
                        </a:spcBef>
                        <a:spcAft>
                          <a:spcPts val="600"/>
                        </a:spcAft>
                        <a:tabLst>
                          <a:tab pos="800100" algn="l"/>
                          <a:tab pos="25146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raise</a:t>
                      </a:r>
                      <a:endParaRPr lang="en-US" sz="16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Raises an error if there is any non-numeric data in a column except for NA values. This is the default.</a:t>
                      </a:r>
                      <a:endParaRPr lang="en-US" sz="20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2278509410"/>
                  </a:ext>
                </a:extLst>
              </a:tr>
              <a:tr h="316220">
                <a:tc>
                  <a:txBody>
                    <a:bodyPr/>
                    <a:lstStyle/>
                    <a:p>
                      <a:pPr marL="0" marR="0" indent="0">
                        <a:spcBef>
                          <a:spcPts val="600"/>
                        </a:spcBef>
                        <a:spcAft>
                          <a:spcPts val="600"/>
                        </a:spcAft>
                        <a:tabLst>
                          <a:tab pos="800100" algn="l"/>
                          <a:tab pos="25146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ignore</a:t>
                      </a:r>
                      <a:endParaRPr lang="en-US" sz="16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Ignores the error and doesn’t change the column at all.</a:t>
                      </a:r>
                      <a:endParaRPr lang="en-US" sz="20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3977291830"/>
                  </a:ext>
                </a:extLst>
              </a:tr>
              <a:tr h="316220">
                <a:tc>
                  <a:txBody>
                    <a:bodyPr/>
                    <a:lstStyle/>
                    <a:p>
                      <a:pPr marL="0" marR="0" indent="0">
                        <a:spcBef>
                          <a:spcPts val="600"/>
                        </a:spcBef>
                        <a:spcAft>
                          <a:spcPts val="600"/>
                        </a:spcAft>
                        <a:tabLst>
                          <a:tab pos="800100" algn="l"/>
                          <a:tab pos="25146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coerce</a:t>
                      </a:r>
                      <a:endParaRPr lang="en-US" sz="16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Converts non-numeric values to </a:t>
                      </a:r>
                      <a:r>
                        <a:rPr lang="en-US" sz="2000" dirty="0" err="1">
                          <a:solidFill>
                            <a:srgbClr val="000000"/>
                          </a:solidFill>
                          <a:effectLst/>
                          <a:latin typeface="Times New Roman" panose="02020603050405020304" pitchFamily="18" charset="0"/>
                          <a:ea typeface="Times New Roman" panose="02020603050405020304" pitchFamily="18" charset="0"/>
                        </a:rPr>
                        <a:t>NaN</a:t>
                      </a:r>
                      <a:r>
                        <a:rPr lang="en-US" sz="2000" dirty="0">
                          <a:solidFill>
                            <a:srgbClr val="000000"/>
                          </a:solidFill>
                          <a:effectLst/>
                          <a:latin typeface="Times New Roman" panose="02020603050405020304" pitchFamily="18"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a:txBody>
                  <a:tcPr marL="73152" marR="73152">
                    <a:lnL>
                      <a:noFill/>
                    </a:lnL>
                    <a:lnR>
                      <a:noFill/>
                    </a:lnR>
                    <a:lnT>
                      <a:noFill/>
                    </a:lnT>
                    <a:lnB>
                      <a:noFill/>
                    </a:lnB>
                    <a:solidFill>
                      <a:srgbClr val="DFECF5"/>
                    </a:solidFill>
                  </a:tcPr>
                </a:tc>
                <a:extLst>
                  <a:ext uri="{0D108BD9-81ED-4DB2-BD59-A6C34878D82A}">
                    <a16:rowId xmlns:a16="http://schemas.microsoft.com/office/drawing/2014/main" val="634720849"/>
                  </a:ext>
                </a:extLst>
              </a:tr>
            </a:tbl>
          </a:graphicData>
        </a:graphic>
      </p:graphicFrame>
      <p:sp>
        <p:nvSpPr>
          <p:cNvPr id="4" name="Date Placeholder 3">
            <a:extLst>
              <a:ext uri="{FF2B5EF4-FFF2-40B4-BE49-F238E27FC236}">
                <a16:creationId xmlns:a16="http://schemas.microsoft.com/office/drawing/2014/main" id="{96205532-7D26-489D-90F2-9CE17A836465}"/>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E55A2453-753B-4268-82A9-9747DBF75223}"/>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5A42B76A-54DD-431B-A47E-28AEC009A936}"/>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50</a:t>
            </a:fld>
            <a:endParaRPr lang="en-US" dirty="0">
              <a:solidFill>
                <a:schemeClr val="bg1"/>
              </a:solidFill>
            </a:endParaRPr>
          </a:p>
        </p:txBody>
      </p:sp>
    </p:spTree>
    <p:extLst>
      <p:ext uri="{BB962C8B-B14F-4D97-AF65-F5344CB8AC3E}">
        <p14:creationId xmlns:p14="http://schemas.microsoft.com/office/powerpoint/2010/main" val="17505192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E66BB-8B6D-49BC-BD09-2DB25C62B066}"/>
              </a:ext>
            </a:extLst>
          </p:cNvPr>
          <p:cNvSpPr>
            <a:spLocks noGrp="1"/>
          </p:cNvSpPr>
          <p:nvPr>
            <p:ph type="title"/>
          </p:nvPr>
        </p:nvSpPr>
        <p:spPr>
          <a:xfrm>
            <a:off x="914400" y="440323"/>
            <a:ext cx="7315200" cy="738664"/>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convert columns with valid numeric strings to numeric data types</a:t>
            </a:r>
            <a:endParaRPr lang="en-US" dirty="0"/>
          </a:p>
        </p:txBody>
      </p:sp>
      <p:sp>
        <p:nvSpPr>
          <p:cNvPr id="3" name="Text Placeholder 2">
            <a:extLst>
              <a:ext uri="{FF2B5EF4-FFF2-40B4-BE49-F238E27FC236}">
                <a16:creationId xmlns:a16="http://schemas.microsoft.com/office/drawing/2014/main" id="{080B8B93-A923-4C7E-B9EB-886F75A17B40}"/>
              </a:ext>
            </a:extLst>
          </p:cNvPr>
          <p:cNvSpPr>
            <a:spLocks noGrp="1"/>
          </p:cNvSpPr>
          <p:nvPr>
            <p:ph type="body" sz="quarter" idx="13"/>
          </p:nvPr>
        </p:nvSpPr>
        <p:spPr>
          <a:xfrm>
            <a:off x="838200" y="1219200"/>
            <a:ext cx="7391400" cy="4876800"/>
          </a:xfrm>
        </p:spPr>
        <p:txBody>
          <a:bodyPr/>
          <a:lstStyle/>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pd.to_numeric</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jobs.tot_emp</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endParaRPr lang="en-US" sz="1600" dirty="0"/>
          </a:p>
        </p:txBody>
      </p:sp>
      <p:sp>
        <p:nvSpPr>
          <p:cNvPr id="4" name="Date Placeholder 3">
            <a:extLst>
              <a:ext uri="{FF2B5EF4-FFF2-40B4-BE49-F238E27FC236}">
                <a16:creationId xmlns:a16="http://schemas.microsoft.com/office/drawing/2014/main" id="{40F77CD4-950E-4995-982C-743DCC0F756C}"/>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1CABBBAC-F124-4ABD-973A-AB034CAB6FFF}"/>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5A8F88BB-82FE-444C-B27E-671AF1F5389D}"/>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51</a:t>
            </a:fld>
            <a:endParaRPr lang="en-US" dirty="0">
              <a:solidFill>
                <a:schemeClr val="bg1"/>
              </a:solidFill>
            </a:endParaRPr>
          </a:p>
        </p:txBody>
      </p:sp>
    </p:spTree>
    <p:extLst>
      <p:ext uri="{BB962C8B-B14F-4D97-AF65-F5344CB8AC3E}">
        <p14:creationId xmlns:p14="http://schemas.microsoft.com/office/powerpoint/2010/main" val="27652693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02923-E630-4DB3-B6EA-302227A88C01}"/>
              </a:ext>
            </a:extLst>
          </p:cNvPr>
          <p:cNvSpPr>
            <a:spLocks noGrp="1"/>
          </p:cNvSpPr>
          <p:nvPr>
            <p:ph type="title"/>
          </p:nvPr>
        </p:nvSpPr>
        <p:spPr>
          <a:xfrm>
            <a:off x="914400" y="440323"/>
            <a:ext cx="7315200" cy="738664"/>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coerce columns with invalid strings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into numeric data types</a:t>
            </a:r>
            <a:endParaRPr lang="en-US" dirty="0"/>
          </a:p>
        </p:txBody>
      </p:sp>
      <p:sp>
        <p:nvSpPr>
          <p:cNvPr id="3" name="Text Placeholder 2">
            <a:extLst>
              <a:ext uri="{FF2B5EF4-FFF2-40B4-BE49-F238E27FC236}">
                <a16:creationId xmlns:a16="http://schemas.microsoft.com/office/drawing/2014/main" id="{9DECAEF7-2A9D-4CE3-B300-25C9CA74D4EE}"/>
              </a:ext>
            </a:extLst>
          </p:cNvPr>
          <p:cNvSpPr>
            <a:spLocks noGrp="1"/>
          </p:cNvSpPr>
          <p:nvPr>
            <p:ph type="body" sz="quarter" idx="13"/>
          </p:nvPr>
        </p:nvSpPr>
        <p:spPr>
          <a:xfrm>
            <a:off x="838200" y="1219200"/>
            <a:ext cx="7391400" cy="4876800"/>
          </a:xfrm>
        </p:spPr>
        <p:txBody>
          <a:bodyPr/>
          <a:lstStyle/>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original data</a:t>
            </a:r>
            <a:endParaRPr lang="en-US" b="1" spc="-10" dirty="0">
              <a:solidFill>
                <a:srgbClr val="000099"/>
              </a:solidFill>
              <a:effectLst/>
              <a:latin typeface="Montserrat Medium"/>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jobs.tot_emp.tail</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(3)</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403892    170</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403893    130</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403894     **</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Name: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tot_emp</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dtype</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object</a:t>
            </a:r>
          </a:p>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Without an errors parameter, an error is raised</a:t>
            </a:r>
            <a:endParaRPr lang="en-US" b="1" spc="-10" dirty="0">
              <a:solidFill>
                <a:srgbClr val="000099"/>
              </a:solidFill>
              <a:effectLst/>
              <a:latin typeface="Montserrat Medium"/>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pd.to_numeric</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jobs.tot_emp</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ValueError</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Unable to parse string "**" at position 1906</a:t>
            </a:r>
          </a:p>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With the errors parameter set to coerce</a:t>
            </a:r>
            <a:endParaRPr lang="en-US" b="1" spc="-10" dirty="0">
              <a:solidFill>
                <a:srgbClr val="000099"/>
              </a:solidFill>
              <a:effectLst/>
              <a:latin typeface="Montserrat Medium"/>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pd.to_numeric</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jobs.tot_emp</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errors='coerce').tail(3)</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403892    170.0</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403893    130.0</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403894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NaN</a:t>
            </a:r>
            <a:endParaRPr lang="en-US" sz="1400" b="1" dirty="0">
              <a:effectLst/>
              <a:latin typeface="Consolas" panose="020B0609020204030204" pitchFamily="49" charset="0"/>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Name: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tot_emp</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dtype</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float64</a:t>
            </a:r>
          </a:p>
          <a:p>
            <a:endParaRPr lang="en-US" sz="1400" dirty="0"/>
          </a:p>
        </p:txBody>
      </p:sp>
      <p:sp>
        <p:nvSpPr>
          <p:cNvPr id="4" name="Date Placeholder 3">
            <a:extLst>
              <a:ext uri="{FF2B5EF4-FFF2-40B4-BE49-F238E27FC236}">
                <a16:creationId xmlns:a16="http://schemas.microsoft.com/office/drawing/2014/main" id="{74DB9EFA-7E2C-44AB-AD95-B232C42EA571}"/>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E5D8C65F-DAB1-49DA-902B-B8650914A85E}"/>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98B9B71B-1BF9-41EB-B562-2536807A70E5}"/>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52</a:t>
            </a:fld>
            <a:endParaRPr lang="en-US" dirty="0">
              <a:solidFill>
                <a:schemeClr val="bg1"/>
              </a:solidFill>
            </a:endParaRPr>
          </a:p>
        </p:txBody>
      </p:sp>
    </p:spTree>
    <p:extLst>
      <p:ext uri="{BB962C8B-B14F-4D97-AF65-F5344CB8AC3E}">
        <p14:creationId xmlns:p14="http://schemas.microsoft.com/office/powerpoint/2010/main" val="9929143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409E277-11E1-4283-A169-AE65C1D5319D}"/>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astype</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 for converting data types</a:t>
            </a:r>
            <a:endParaRPr lang="en-US" dirty="0"/>
          </a:p>
        </p:txBody>
      </p:sp>
      <p:graphicFrame>
        <p:nvGraphicFramePr>
          <p:cNvPr id="10" name="Table Placeholder 9">
            <a:extLst>
              <a:ext uri="{FF2B5EF4-FFF2-40B4-BE49-F238E27FC236}">
                <a16:creationId xmlns:a16="http://schemas.microsoft.com/office/drawing/2014/main" id="{20444544-0B42-4C0F-829E-004D9BBAE674}"/>
              </a:ext>
            </a:extLst>
          </p:cNvPr>
          <p:cNvGraphicFramePr>
            <a:graphicFrameLocks noGrp="1"/>
          </p:cNvGraphicFramePr>
          <p:nvPr>
            <p:ph type="tbl" sz="quarter" idx="16"/>
            <p:extLst>
              <p:ext uri="{D42A27DB-BD31-4B8C-83A1-F6EECF244321}">
                <p14:modId xmlns:p14="http://schemas.microsoft.com/office/powerpoint/2010/main" val="3852250814"/>
              </p:ext>
            </p:extLst>
          </p:nvPr>
        </p:nvGraphicFramePr>
        <p:xfrm>
          <a:off x="1295400" y="1143000"/>
          <a:ext cx="6934200" cy="1706880"/>
        </p:xfrm>
        <a:graphic>
          <a:graphicData uri="http://schemas.openxmlformats.org/drawingml/2006/table">
            <a:tbl>
              <a:tblPr firstRow="1"/>
              <a:tblGrid>
                <a:gridCol w="2438400">
                  <a:extLst>
                    <a:ext uri="{9D8B030D-6E8A-4147-A177-3AD203B41FA5}">
                      <a16:colId xmlns:a16="http://schemas.microsoft.com/office/drawing/2014/main" val="3978319876"/>
                    </a:ext>
                  </a:extLst>
                </a:gridCol>
                <a:gridCol w="4495800">
                  <a:extLst>
                    <a:ext uri="{9D8B030D-6E8A-4147-A177-3AD203B41FA5}">
                      <a16:colId xmlns:a16="http://schemas.microsoft.com/office/drawing/2014/main" val="3066096612"/>
                    </a:ext>
                  </a:extLst>
                </a:gridCol>
              </a:tblGrid>
              <a:tr h="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Method</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extLst>
                  <a:ext uri="{0D108BD9-81ED-4DB2-BD59-A6C34878D82A}">
                    <a16:rowId xmlns:a16="http://schemas.microsoft.com/office/drawing/2014/main" val="396723060"/>
                  </a:ext>
                </a:extLst>
              </a:tr>
              <a:tr h="0">
                <a:tc>
                  <a:txBody>
                    <a:bodyPr/>
                    <a:lstStyle/>
                    <a:p>
                      <a:pPr marL="0" marR="0" indent="0">
                        <a:spcBef>
                          <a:spcPts val="600"/>
                        </a:spcBef>
                        <a:spcAft>
                          <a:spcPts val="600"/>
                        </a:spcAft>
                        <a:tabLst>
                          <a:tab pos="800100" algn="l"/>
                          <a:tab pos="2514600" algn="l"/>
                          <a:tab pos="457200" algn="l"/>
                        </a:tabLst>
                      </a:pPr>
                      <a:r>
                        <a:rPr lang="en-US" sz="1600" b="1"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astype</a:t>
                      </a: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600" b="1"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type</a:t>
                      </a:r>
                      <a:r>
                        <a:rPr lang="en-US" sz="1600" b="1" i="1"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r>
                        <a:rPr lang="en-US" sz="1600" b="1" dirty="0" err="1">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errors</a:t>
                      </a:r>
                      <a:r>
                        <a:rPr lang="en-US" sz="1600" b="1" dirty="0">
                          <a:solidFill>
                            <a:srgbClr val="000000"/>
                          </a:solidFill>
                          <a:effectLst/>
                          <a:latin typeface="Consolas" panose="020B0609020204030204" pitchFamily="49" charset="0"/>
                          <a:ea typeface="Times New Roman" panose="02020603050405020304" pitchFamily="18" charset="0"/>
                          <a:cs typeface="Courier New" panose="02070309020205020404" pitchFamily="49" charset="0"/>
                        </a:rPr>
                        <a:t>)</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Tries to convert the data to the specified data type. Errors are raised by default, but they can be ignored by setting the errors parameter to ‘ignore’.</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3184371916"/>
                  </a:ext>
                </a:extLst>
              </a:tr>
            </a:tbl>
          </a:graphicData>
        </a:graphic>
      </p:graphicFrame>
      <p:sp>
        <p:nvSpPr>
          <p:cNvPr id="8" name="Text Placeholder 7">
            <a:extLst>
              <a:ext uri="{FF2B5EF4-FFF2-40B4-BE49-F238E27FC236}">
                <a16:creationId xmlns:a16="http://schemas.microsoft.com/office/drawing/2014/main" id="{159548EF-C281-414F-ACEC-3FD927DD5CBD}"/>
              </a:ext>
            </a:extLst>
          </p:cNvPr>
          <p:cNvSpPr>
            <a:spLocks noGrp="1"/>
          </p:cNvSpPr>
          <p:nvPr>
            <p:ph type="body" sz="quarter" idx="15"/>
          </p:nvPr>
        </p:nvSpPr>
        <p:spPr>
          <a:xfrm>
            <a:off x="838200" y="2971800"/>
            <a:ext cx="7391400" cy="2209799"/>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convert object columns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to the category data type</a:t>
            </a:r>
            <a:endParaRPr lang="en-US" sz="2400" b="1" dirty="0">
              <a:solidFill>
                <a:srgbClr val="000099"/>
              </a:solidFill>
              <a:effectLst/>
              <a:latin typeface="Montserrat Medium"/>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fires.state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fires.state.astype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('category')</a:t>
            </a:r>
          </a:p>
          <a:p>
            <a:endParaRPr lang="en-US" sz="2400" dirty="0"/>
          </a:p>
        </p:txBody>
      </p:sp>
      <p:sp>
        <p:nvSpPr>
          <p:cNvPr id="4" name="Date Placeholder 3">
            <a:extLst>
              <a:ext uri="{FF2B5EF4-FFF2-40B4-BE49-F238E27FC236}">
                <a16:creationId xmlns:a16="http://schemas.microsoft.com/office/drawing/2014/main" id="{616EA30C-6F3B-4681-A388-489C8BF900A6}"/>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E1808A8F-A87E-4634-B3D4-1BB44A2CFDEE}"/>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DEF03D57-C354-48DA-80AA-CD6EB66318D2}"/>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C6, Slide </a:t>
            </a:r>
            <a:fld id="{BF5C1183-B085-4070-A402-C03A3F977D3D}" type="slidenum">
              <a:rPr lang="en-US" sz="900" smtClean="0">
                <a:solidFill>
                  <a:schemeClr val="bg1"/>
                </a:solidFill>
                <a:latin typeface="Arial Narrow" panose="020B0606020202030204" pitchFamily="34" charset="0"/>
              </a:rPr>
              <a:pPr algn="r">
                <a:defRPr/>
              </a:pPr>
              <a:t>53</a:t>
            </a:fld>
            <a:endParaRPr lang="en-US" sz="9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9923914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858C49B-081B-4908-B553-7041382CE6AD}"/>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remove_unused_categories</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a:t>
            </a:r>
            <a:endParaRPr lang="en-US" dirty="0"/>
          </a:p>
        </p:txBody>
      </p:sp>
      <p:graphicFrame>
        <p:nvGraphicFramePr>
          <p:cNvPr id="9" name="Table Placeholder 8">
            <a:extLst>
              <a:ext uri="{FF2B5EF4-FFF2-40B4-BE49-F238E27FC236}">
                <a16:creationId xmlns:a16="http://schemas.microsoft.com/office/drawing/2014/main" id="{B2875990-F01F-4EB2-BE76-F03D99E6B22F}"/>
              </a:ext>
            </a:extLst>
          </p:cNvPr>
          <p:cNvGraphicFramePr>
            <a:graphicFrameLocks noGrp="1"/>
          </p:cNvGraphicFramePr>
          <p:nvPr>
            <p:ph type="tbl" sz="quarter" idx="13"/>
            <p:extLst>
              <p:ext uri="{D42A27DB-BD31-4B8C-83A1-F6EECF244321}">
                <p14:modId xmlns:p14="http://schemas.microsoft.com/office/powerpoint/2010/main" val="2225005191"/>
              </p:ext>
            </p:extLst>
          </p:nvPr>
        </p:nvGraphicFramePr>
        <p:xfrm>
          <a:off x="914400" y="1112520"/>
          <a:ext cx="6412230" cy="1097280"/>
        </p:xfrm>
        <a:graphic>
          <a:graphicData uri="http://schemas.openxmlformats.org/drawingml/2006/table">
            <a:tbl>
              <a:tblPr firstRow="1"/>
              <a:tblGrid>
                <a:gridCol w="3326130">
                  <a:extLst>
                    <a:ext uri="{9D8B030D-6E8A-4147-A177-3AD203B41FA5}">
                      <a16:colId xmlns:a16="http://schemas.microsoft.com/office/drawing/2014/main" val="1137238299"/>
                    </a:ext>
                  </a:extLst>
                </a:gridCol>
                <a:gridCol w="3086100">
                  <a:extLst>
                    <a:ext uri="{9D8B030D-6E8A-4147-A177-3AD203B41FA5}">
                      <a16:colId xmlns:a16="http://schemas.microsoft.com/office/drawing/2014/main" val="3543289057"/>
                    </a:ext>
                  </a:extLst>
                </a:gridCol>
              </a:tblGrid>
              <a:tr h="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Method</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extLst>
                  <a:ext uri="{0D108BD9-81ED-4DB2-BD59-A6C34878D82A}">
                    <a16:rowId xmlns:a16="http://schemas.microsoft.com/office/drawing/2014/main" val="2144056926"/>
                  </a:ext>
                </a:extLst>
              </a:tr>
              <a:tr h="0">
                <a:tc>
                  <a:txBody>
                    <a:bodyPr/>
                    <a:lstStyle/>
                    <a:p>
                      <a:pPr marL="0" marR="0" indent="0">
                        <a:spcBef>
                          <a:spcPts val="600"/>
                        </a:spcBef>
                        <a:spcAft>
                          <a:spcPts val="600"/>
                        </a:spcAft>
                        <a:tabLst>
                          <a:tab pos="800100" algn="l"/>
                          <a:tab pos="2514600" algn="l"/>
                          <a:tab pos="457200" algn="l"/>
                        </a:tabLst>
                      </a:pPr>
                      <a:r>
                        <a:rPr lang="en-US" sz="1600" b="1" dirty="0" err="1">
                          <a:solidFill>
                            <a:srgbClr val="000000"/>
                          </a:solidFill>
                          <a:effectLst/>
                          <a:latin typeface="Consolas" panose="020B0609020204030204" pitchFamily="49" charset="0"/>
                          <a:ea typeface="Times New Roman" panose="02020603050405020304" pitchFamily="18" charset="0"/>
                        </a:rPr>
                        <a:t>remove_unused_categories</a:t>
                      </a:r>
                      <a:r>
                        <a:rPr lang="en-US" sz="1600" b="1" dirty="0">
                          <a:solidFill>
                            <a:srgbClr val="000000"/>
                          </a:solidFill>
                          <a:effectLst/>
                          <a:latin typeface="Consolas" panose="020B0609020204030204" pitchFamily="49"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Removes unused categories from a table.</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4087338105"/>
                  </a:ext>
                </a:extLst>
              </a:tr>
            </a:tbl>
          </a:graphicData>
        </a:graphic>
      </p:graphicFrame>
      <p:sp>
        <p:nvSpPr>
          <p:cNvPr id="4" name="Date Placeholder 3">
            <a:extLst>
              <a:ext uri="{FF2B5EF4-FFF2-40B4-BE49-F238E27FC236}">
                <a16:creationId xmlns:a16="http://schemas.microsoft.com/office/drawing/2014/main" id="{44A0EB35-89A9-4CFC-8B52-07CEDC51F369}"/>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C8E41AA0-A724-492B-A8AD-02DADED1E200}"/>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9D1E133A-5134-48B9-8318-5D2ED63CC69B}"/>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54</a:t>
            </a:fld>
            <a:endParaRPr lang="en-US" dirty="0">
              <a:solidFill>
                <a:schemeClr val="bg1"/>
              </a:solidFill>
            </a:endParaRPr>
          </a:p>
        </p:txBody>
      </p:sp>
    </p:spTree>
    <p:extLst>
      <p:ext uri="{BB962C8B-B14F-4D97-AF65-F5344CB8AC3E}">
        <p14:creationId xmlns:p14="http://schemas.microsoft.com/office/powerpoint/2010/main" val="18933796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96A76-7662-4CE3-83F8-B3E042B2E681}"/>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drop rows for specific categories</a:t>
            </a:r>
            <a:endParaRPr lang="en-US" dirty="0"/>
          </a:p>
        </p:txBody>
      </p:sp>
      <p:sp>
        <p:nvSpPr>
          <p:cNvPr id="3" name="Text Placeholder 2">
            <a:extLst>
              <a:ext uri="{FF2B5EF4-FFF2-40B4-BE49-F238E27FC236}">
                <a16:creationId xmlns:a16="http://schemas.microsoft.com/office/drawing/2014/main" id="{1E22F556-D11F-4CFA-9346-47E10914DA8B}"/>
              </a:ext>
            </a:extLst>
          </p:cNvPr>
          <p:cNvSpPr>
            <a:spLocks noGrp="1"/>
          </p:cNvSpPr>
          <p:nvPr>
            <p:ph type="body" sz="quarter" idx="13"/>
          </p:nvPr>
        </p:nvSpPr>
        <p:spPr/>
        <p:txBody>
          <a:bodyPr/>
          <a:lstStyle/>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Drop the rows for the categories that aren’t in the query</a:t>
            </a:r>
            <a:endParaRPr lang="en-US" b="1" spc="-10" dirty="0">
              <a:solidFill>
                <a:srgbClr val="000099"/>
              </a:solidFill>
              <a:effectLst/>
              <a:latin typeface="Montserrat Medium"/>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filteredStatCounts</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statCounts.query</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wrkstat</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in ["working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fulltime","working</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parttime","retired</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filteredStatCounts.wrkstat.value_counts</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retired             31892</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working parttime     9121</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working fulltime     6719</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other                   0</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keeping house           0</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school                  0</a:t>
            </a:r>
          </a:p>
          <a:p>
            <a:pPr marL="347345" marR="0">
              <a:spcBef>
                <a:spcPts val="0"/>
              </a:spcBef>
              <a:spcAft>
                <a:spcPts val="0"/>
              </a:spcAft>
              <a:tabLst>
                <a:tab pos="1371600" algn="l"/>
              </a:tabLst>
            </a:pP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unempl</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laid off        0</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temp not working        0</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Name: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wrkstat</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dtype</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int64</a:t>
            </a:r>
          </a:p>
          <a:p>
            <a:endParaRPr lang="en-US" sz="1400" dirty="0"/>
          </a:p>
        </p:txBody>
      </p:sp>
      <p:sp>
        <p:nvSpPr>
          <p:cNvPr id="4" name="Date Placeholder 3">
            <a:extLst>
              <a:ext uri="{FF2B5EF4-FFF2-40B4-BE49-F238E27FC236}">
                <a16:creationId xmlns:a16="http://schemas.microsoft.com/office/drawing/2014/main" id="{2181948E-3E38-4823-B47D-1CD89CB5E37F}"/>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84874FB7-E2FA-4241-9AB3-2D45F1646D3C}"/>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4A2A0B82-BB45-46D8-A023-CB72351D93DD}"/>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55</a:t>
            </a:fld>
            <a:endParaRPr lang="en-US" dirty="0">
              <a:solidFill>
                <a:schemeClr val="bg1"/>
              </a:solidFill>
            </a:endParaRPr>
          </a:p>
        </p:txBody>
      </p:sp>
    </p:spTree>
    <p:extLst>
      <p:ext uri="{BB962C8B-B14F-4D97-AF65-F5344CB8AC3E}">
        <p14:creationId xmlns:p14="http://schemas.microsoft.com/office/powerpoint/2010/main" val="12143779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58579-67BC-472B-8220-1A7BC4EF1A6D}"/>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drop rows for specific categories (cont.)</a:t>
            </a:r>
            <a:endParaRPr lang="en-US" dirty="0"/>
          </a:p>
        </p:txBody>
      </p:sp>
      <p:sp>
        <p:nvSpPr>
          <p:cNvPr id="3" name="Text Placeholder 2">
            <a:extLst>
              <a:ext uri="{FF2B5EF4-FFF2-40B4-BE49-F238E27FC236}">
                <a16:creationId xmlns:a16="http://schemas.microsoft.com/office/drawing/2014/main" id="{FA920B68-DFEA-4D62-82E9-4D74CC4DD836}"/>
              </a:ext>
            </a:extLst>
          </p:cNvPr>
          <p:cNvSpPr>
            <a:spLocks noGrp="1"/>
          </p:cNvSpPr>
          <p:nvPr>
            <p:ph type="body" sz="quarter" idx="13"/>
          </p:nvPr>
        </p:nvSpPr>
        <p:spPr/>
        <p:txBody>
          <a:bodyPr/>
          <a:lstStyle/>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Drop the unused categories</a:t>
            </a:r>
            <a:endParaRPr lang="en-US" b="1" spc="-10" dirty="0">
              <a:solidFill>
                <a:srgbClr val="000099"/>
              </a:solidFill>
              <a:effectLst/>
              <a:latin typeface="Montserrat Medium"/>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filteredStatCounts</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wrkstat</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 \</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filteredStatCounts.wrkstat.cat.remove_unused_categories</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filteredStatCounts.wrkstat.value_counts</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retired             31892</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working parttime     9121</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working fulltime     6719</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Name: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wrkstat</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dtype</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int64</a:t>
            </a:r>
          </a:p>
          <a:p>
            <a:endParaRPr lang="en-US" sz="1400" dirty="0"/>
          </a:p>
        </p:txBody>
      </p:sp>
      <p:sp>
        <p:nvSpPr>
          <p:cNvPr id="4" name="Date Placeholder 3">
            <a:extLst>
              <a:ext uri="{FF2B5EF4-FFF2-40B4-BE49-F238E27FC236}">
                <a16:creationId xmlns:a16="http://schemas.microsoft.com/office/drawing/2014/main" id="{3723253A-F034-4C97-BC48-BAF74EB57CE4}"/>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C90766C2-B2E2-4F3F-A479-6F8FB7ADB9EA}"/>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766E74A8-68C9-4CF5-98B6-009A631B399E}"/>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56</a:t>
            </a:fld>
            <a:endParaRPr lang="en-US" dirty="0">
              <a:solidFill>
                <a:schemeClr val="bg1"/>
              </a:solidFill>
            </a:endParaRPr>
          </a:p>
        </p:txBody>
      </p:sp>
    </p:spTree>
    <p:extLst>
      <p:ext uri="{BB962C8B-B14F-4D97-AF65-F5344CB8AC3E}">
        <p14:creationId xmlns:p14="http://schemas.microsoft.com/office/powerpoint/2010/main" val="11262147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0E9F06D-9A25-48E4-800B-72C460267210}"/>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Pandas replace() method</a:t>
            </a:r>
            <a:endParaRPr lang="en-US" dirty="0"/>
          </a:p>
        </p:txBody>
      </p:sp>
      <p:graphicFrame>
        <p:nvGraphicFramePr>
          <p:cNvPr id="9" name="Table Placeholder 8">
            <a:extLst>
              <a:ext uri="{FF2B5EF4-FFF2-40B4-BE49-F238E27FC236}">
                <a16:creationId xmlns:a16="http://schemas.microsoft.com/office/drawing/2014/main" id="{66FC0CD1-DD21-4907-83CD-4F1397E33A33}"/>
              </a:ext>
            </a:extLst>
          </p:cNvPr>
          <p:cNvGraphicFramePr>
            <a:graphicFrameLocks noGrp="1"/>
          </p:cNvGraphicFramePr>
          <p:nvPr>
            <p:ph type="tbl" sz="quarter" idx="13"/>
            <p:extLst>
              <p:ext uri="{D42A27DB-BD31-4B8C-83A1-F6EECF244321}">
                <p14:modId xmlns:p14="http://schemas.microsoft.com/office/powerpoint/2010/main" val="1886750982"/>
              </p:ext>
            </p:extLst>
          </p:nvPr>
        </p:nvGraphicFramePr>
        <p:xfrm>
          <a:off x="914400" y="1112520"/>
          <a:ext cx="6934200" cy="2011680"/>
        </p:xfrm>
        <a:graphic>
          <a:graphicData uri="http://schemas.openxmlformats.org/drawingml/2006/table">
            <a:tbl>
              <a:tblPr firstRow="1"/>
              <a:tblGrid>
                <a:gridCol w="3276600">
                  <a:extLst>
                    <a:ext uri="{9D8B030D-6E8A-4147-A177-3AD203B41FA5}">
                      <a16:colId xmlns:a16="http://schemas.microsoft.com/office/drawing/2014/main" val="4203321196"/>
                    </a:ext>
                  </a:extLst>
                </a:gridCol>
                <a:gridCol w="3657600">
                  <a:extLst>
                    <a:ext uri="{9D8B030D-6E8A-4147-A177-3AD203B41FA5}">
                      <a16:colId xmlns:a16="http://schemas.microsoft.com/office/drawing/2014/main" val="2869788425"/>
                    </a:ext>
                  </a:extLst>
                </a:gridCol>
              </a:tblGrid>
              <a:tr h="0">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Method</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extLst>
                  <a:ext uri="{0D108BD9-81ED-4DB2-BD59-A6C34878D82A}">
                    <a16:rowId xmlns:a16="http://schemas.microsoft.com/office/drawing/2014/main" val="461299525"/>
                  </a:ext>
                </a:extLst>
              </a:tr>
              <a:tr h="0">
                <a:tc>
                  <a:txBody>
                    <a:bodyPr/>
                    <a:lstStyle/>
                    <a:p>
                      <a:pPr marL="0" marR="0" indent="0">
                        <a:spcBef>
                          <a:spcPts val="600"/>
                        </a:spcBef>
                        <a:spcAft>
                          <a:spcPts val="600"/>
                        </a:spcAft>
                        <a:tabLst>
                          <a:tab pos="800100" algn="l"/>
                          <a:tab pos="2514600" algn="l"/>
                          <a:tab pos="457200" algn="l"/>
                        </a:tabLst>
                      </a:pPr>
                      <a:r>
                        <a:rPr lang="en-US" sz="1600" b="1" dirty="0">
                          <a:solidFill>
                            <a:srgbClr val="000000"/>
                          </a:solidFill>
                          <a:effectLst/>
                          <a:latin typeface="Consolas" panose="020B0609020204030204" pitchFamily="49" charset="0"/>
                          <a:ea typeface="Times New Roman" panose="02020603050405020304" pitchFamily="18" charset="0"/>
                        </a:rPr>
                        <a:t>replace(</a:t>
                      </a:r>
                      <a:r>
                        <a:rPr lang="en-US" sz="1600" b="1" dirty="0" err="1">
                          <a:solidFill>
                            <a:srgbClr val="000000"/>
                          </a:solidFill>
                          <a:effectLst/>
                          <a:latin typeface="Consolas" panose="020B0609020204030204" pitchFamily="49" charset="0"/>
                          <a:ea typeface="Times New Roman" panose="02020603050405020304" pitchFamily="18" charset="0"/>
                        </a:rPr>
                        <a:t>to_replace,value</a:t>
                      </a:r>
                      <a:r>
                        <a:rPr lang="en-US" sz="1600" b="1" dirty="0">
                          <a:solidFill>
                            <a:srgbClr val="000000"/>
                          </a:solidFill>
                          <a:effectLst/>
                          <a:latin typeface="Consolas" panose="020B0609020204030204" pitchFamily="49" charset="0"/>
                          <a:ea typeface="Times New Roman" panose="02020603050405020304" pitchFamily="18" charset="0"/>
                        </a:rPr>
                        <a:t>)</a:t>
                      </a:r>
                      <a:endParaRPr lang="en-US" sz="2000" dirty="0">
                        <a:effectLst/>
                        <a:latin typeface="Consolas" panose="020B0609020204030204" pitchFamily="49"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Replaces the strings in the</a:t>
                      </a:r>
                      <a:br>
                        <a:rPr lang="en-US" sz="2000" dirty="0">
                          <a:solidFill>
                            <a:srgbClr val="000000"/>
                          </a:solidFill>
                          <a:effectLst/>
                          <a:latin typeface="Times New Roman" panose="02020603050405020304" pitchFamily="18" charset="0"/>
                          <a:ea typeface="Times New Roman" panose="02020603050405020304" pitchFamily="18" charset="0"/>
                        </a:rPr>
                      </a:br>
                      <a:r>
                        <a:rPr lang="en-US" sz="2000" dirty="0" err="1">
                          <a:solidFill>
                            <a:srgbClr val="000000"/>
                          </a:solidFill>
                          <a:effectLst/>
                          <a:latin typeface="Times New Roman" panose="02020603050405020304" pitchFamily="18" charset="0"/>
                          <a:ea typeface="Times New Roman" panose="02020603050405020304" pitchFamily="18" charset="0"/>
                        </a:rPr>
                        <a:t>to_replace</a:t>
                      </a:r>
                      <a:r>
                        <a:rPr lang="en-US" sz="2000" dirty="0">
                          <a:solidFill>
                            <a:srgbClr val="000000"/>
                          </a:solidFill>
                          <a:effectLst/>
                          <a:latin typeface="Times New Roman" panose="02020603050405020304" pitchFamily="18" charset="0"/>
                          <a:ea typeface="Times New Roman" panose="02020603050405020304" pitchFamily="18" charset="0"/>
                        </a:rPr>
                        <a:t> parameter with the </a:t>
                      </a:r>
                      <a:br>
                        <a:rPr lang="en-US" sz="2000" dirty="0">
                          <a:solidFill>
                            <a:srgbClr val="000000"/>
                          </a:solidFill>
                          <a:effectLst/>
                          <a:latin typeface="Times New Roman" panose="02020603050405020304" pitchFamily="18" charset="0"/>
                          <a:ea typeface="Times New Roman" panose="02020603050405020304" pitchFamily="18" charset="0"/>
                        </a:rPr>
                      </a:br>
                      <a:r>
                        <a:rPr lang="en-US" sz="2000" dirty="0">
                          <a:solidFill>
                            <a:srgbClr val="000000"/>
                          </a:solidFill>
                          <a:effectLst/>
                          <a:latin typeface="Times New Roman" panose="02020603050405020304" pitchFamily="18" charset="0"/>
                          <a:ea typeface="Times New Roman" panose="02020603050405020304" pitchFamily="18" charset="0"/>
                        </a:rPr>
                        <a:t>strings in the value parameter or</a:t>
                      </a:r>
                      <a:br>
                        <a:rPr lang="en-US" sz="2000" dirty="0">
                          <a:solidFill>
                            <a:srgbClr val="000000"/>
                          </a:solidFill>
                          <a:effectLst/>
                          <a:latin typeface="Times New Roman" panose="02020603050405020304" pitchFamily="18" charset="0"/>
                          <a:ea typeface="Times New Roman" panose="02020603050405020304" pitchFamily="18" charset="0"/>
                        </a:rPr>
                      </a:br>
                      <a:r>
                        <a:rPr lang="en-US" sz="2000" dirty="0">
                          <a:solidFill>
                            <a:srgbClr val="000000"/>
                          </a:solidFill>
                          <a:effectLst/>
                          <a:latin typeface="Times New Roman" panose="02020603050405020304" pitchFamily="18" charset="0"/>
                          <a:ea typeface="Times New Roman" panose="02020603050405020304" pitchFamily="18" charset="0"/>
                        </a:rPr>
                        <a:t>replaces the old values in</a:t>
                      </a:r>
                      <a:br>
                        <a:rPr lang="en-US" sz="2000" dirty="0">
                          <a:solidFill>
                            <a:srgbClr val="000000"/>
                          </a:solidFill>
                          <a:effectLst/>
                          <a:latin typeface="Times New Roman" panose="02020603050405020304" pitchFamily="18" charset="0"/>
                          <a:ea typeface="Times New Roman" panose="02020603050405020304" pitchFamily="18" charset="0"/>
                        </a:rPr>
                      </a:br>
                      <a:r>
                        <a:rPr lang="en-US" sz="2000" dirty="0">
                          <a:solidFill>
                            <a:srgbClr val="000000"/>
                          </a:solidFill>
                          <a:effectLst/>
                          <a:latin typeface="Times New Roman" panose="02020603050405020304" pitchFamily="18" charset="0"/>
                          <a:ea typeface="Times New Roman" panose="02020603050405020304" pitchFamily="18" charset="0"/>
                        </a:rPr>
                        <a:t>a dictionary with the new values.</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1945690564"/>
                  </a:ext>
                </a:extLst>
              </a:tr>
            </a:tbl>
          </a:graphicData>
        </a:graphic>
      </p:graphicFrame>
      <p:sp>
        <p:nvSpPr>
          <p:cNvPr id="4" name="Date Placeholder 3">
            <a:extLst>
              <a:ext uri="{FF2B5EF4-FFF2-40B4-BE49-F238E27FC236}">
                <a16:creationId xmlns:a16="http://schemas.microsoft.com/office/drawing/2014/main" id="{2CAA1ABD-FCC2-4455-A7D5-AB5AE3EFE245}"/>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A28EB2C2-A2B3-4349-AD66-9FFD08D6382A}"/>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5D188F64-D9BC-48A4-85D5-842E01231E94}"/>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57</a:t>
            </a:fld>
            <a:endParaRPr lang="en-US" dirty="0">
              <a:solidFill>
                <a:schemeClr val="bg1"/>
              </a:solidFill>
            </a:endParaRPr>
          </a:p>
        </p:txBody>
      </p:sp>
    </p:spTree>
    <p:extLst>
      <p:ext uri="{BB962C8B-B14F-4D97-AF65-F5344CB8AC3E}">
        <p14:creationId xmlns:p14="http://schemas.microsoft.com/office/powerpoint/2010/main" val="25813726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D17FE88-01C1-4606-8988-5F3E3A6B2529}"/>
              </a:ext>
            </a:extLst>
          </p:cNvPr>
          <p:cNvSpPr>
            <a:spLocks noGrp="1"/>
          </p:cNvSpPr>
          <p:nvPr>
            <p:ph type="title"/>
          </p:nvPr>
        </p:nvSpPr>
        <p:spPr>
          <a:xfrm>
            <a:off x="914400" y="440323"/>
            <a:ext cx="7315200" cy="738664"/>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Documentation that identifies some data problems in the Jobs data</a:t>
            </a:r>
            <a:endParaRPr lang="en-US" dirty="0"/>
          </a:p>
        </p:txBody>
      </p:sp>
      <p:pic>
        <p:nvPicPr>
          <p:cNvPr id="9" name="Content Placeholder 8" descr="Refer to page 227 in textbook">
            <a:extLst>
              <a:ext uri="{FF2B5EF4-FFF2-40B4-BE49-F238E27FC236}">
                <a16:creationId xmlns:a16="http://schemas.microsoft.com/office/drawing/2014/main" id="{01998E4B-7365-483A-94AC-4EE9D117D4B6}"/>
              </a:ext>
            </a:extLst>
          </p:cNvPr>
          <p:cNvPicPr>
            <a:picLocks noGrp="1" noChangeAspect="1"/>
          </p:cNvPicPr>
          <p:nvPr>
            <p:ph sz="quarter" idx="13"/>
          </p:nvPr>
        </p:nvPicPr>
        <p:blipFill>
          <a:blip r:embed="rId2"/>
          <a:stretch>
            <a:fillRect/>
          </a:stretch>
        </p:blipFill>
        <p:spPr>
          <a:xfrm>
            <a:off x="914400" y="1295399"/>
            <a:ext cx="7239000" cy="1835697"/>
          </a:xfrm>
          <a:prstGeom prst="rect">
            <a:avLst/>
          </a:prstGeom>
        </p:spPr>
      </p:pic>
      <p:sp>
        <p:nvSpPr>
          <p:cNvPr id="4" name="Date Placeholder 3">
            <a:extLst>
              <a:ext uri="{FF2B5EF4-FFF2-40B4-BE49-F238E27FC236}">
                <a16:creationId xmlns:a16="http://schemas.microsoft.com/office/drawing/2014/main" id="{7E3804A2-8D05-4CC3-BE03-429BF1238D21}"/>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0D574DC5-F4EB-4DBB-8EE1-484D3B169C6A}"/>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3C752298-BABD-4A96-8862-4FE5C04CE2C8}"/>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58</a:t>
            </a:fld>
            <a:endParaRPr lang="en-US" dirty="0">
              <a:solidFill>
                <a:schemeClr val="bg1"/>
              </a:solidFill>
            </a:endParaRPr>
          </a:p>
        </p:txBody>
      </p:sp>
    </p:spTree>
    <p:extLst>
      <p:ext uri="{BB962C8B-B14F-4D97-AF65-F5344CB8AC3E}">
        <p14:creationId xmlns:p14="http://schemas.microsoft.com/office/powerpoint/2010/main" val="15854327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53EE0-7E19-4368-9F8F-C6B92C6DFB26}"/>
              </a:ext>
            </a:extLst>
          </p:cNvPr>
          <p:cNvSpPr>
            <a:spLocks noGrp="1"/>
          </p:cNvSpPr>
          <p:nvPr>
            <p:ph type="title"/>
          </p:nvPr>
        </p:nvSpPr>
        <p:spPr>
          <a:xfrm>
            <a:off x="914400" y="440323"/>
            <a:ext cx="7315200" cy="738664"/>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replace * or ** values in a single column with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NaN</a:t>
            </a:r>
            <a:endParaRPr lang="en-US" dirty="0"/>
          </a:p>
        </p:txBody>
      </p:sp>
      <p:sp>
        <p:nvSpPr>
          <p:cNvPr id="3" name="Text Placeholder 2">
            <a:extLst>
              <a:ext uri="{FF2B5EF4-FFF2-40B4-BE49-F238E27FC236}">
                <a16:creationId xmlns:a16="http://schemas.microsoft.com/office/drawing/2014/main" id="{7A9A955F-1B1A-4D1A-95CF-C5E15433B166}"/>
              </a:ext>
            </a:extLst>
          </p:cNvPr>
          <p:cNvSpPr>
            <a:spLocks noGrp="1"/>
          </p:cNvSpPr>
          <p:nvPr>
            <p:ph type="body" sz="quarter" idx="13"/>
          </p:nvPr>
        </p:nvSpPr>
        <p:spPr>
          <a:xfrm>
            <a:off x="838200" y="1219200"/>
            <a:ext cx="7391400" cy="4876800"/>
          </a:xfrm>
        </p:spPr>
        <p:txBody>
          <a:bodyPr/>
          <a:lstStyle/>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import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numpy</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as np</a:t>
            </a:r>
          </a:p>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jobs.tot_emp</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jobs.tot_emp.replace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to_replace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b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b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value=[</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np.nan,np.nan</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use a dictionary to replace * or ** values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in a single column with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NaN</a:t>
            </a:r>
            <a:endParaRPr lang="en-US" sz="2400" b="1" dirty="0">
              <a:solidFill>
                <a:srgbClr val="000099"/>
              </a:solidFill>
              <a:effectLst/>
              <a:latin typeface="Montserrat Medium"/>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jobs.tot_emp</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jobs.tot_emp.replace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np.nan</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p>
          <a:p>
            <a:pPr marL="347345" marR="0">
              <a:spcBef>
                <a:spcPts val="0"/>
              </a:spcBef>
              <a:spcAft>
                <a:spcPts val="0"/>
              </a:spcAft>
              <a:tabLst>
                <a:tab pos="1371600" algn="l"/>
              </a:tabLst>
            </a:pPr>
            <a:r>
              <a:rPr lang="en-US" sz="1600" b="1" dirty="0">
                <a:latin typeface="Consolas" panose="020B0609020204030204" pitchFamily="49" charset="0"/>
                <a:ea typeface="Times New Roman" panose="02020603050405020304" pitchFamily="18" charset="0"/>
                <a:cs typeface="Times New Roman" panose="02020603050405020304" pitchFamily="18" charset="0"/>
              </a:rPr>
              <a:t>   </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np.nan</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replace # values with a numeric value</a:t>
            </a:r>
            <a:endParaRPr lang="en-US" sz="2400" b="1" dirty="0">
              <a:solidFill>
                <a:srgbClr val="000099"/>
              </a:solidFill>
              <a:effectLst/>
              <a:latin typeface="Montserrat Medium"/>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jobs.h_median</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jobs.h.replace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to_replace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value=100)</a:t>
            </a:r>
          </a:p>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replace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NaN</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values with False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in what should be a Boolean column</a:t>
            </a:r>
            <a:endParaRPr lang="en-US" sz="2400" b="1" dirty="0">
              <a:solidFill>
                <a:srgbClr val="000099"/>
              </a:solidFill>
              <a:effectLst/>
              <a:latin typeface="Montserrat Medium"/>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jobs.hourly</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jobs.hourly.replace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to_replace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np.nan</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p>
          <a:p>
            <a:pPr marL="347345" marR="0">
              <a:spcBef>
                <a:spcPts val="0"/>
              </a:spcBef>
              <a:spcAft>
                <a:spcPts val="0"/>
              </a:spcAft>
              <a:tabLst>
                <a:tab pos="1371600" algn="l"/>
              </a:tabLst>
            </a:pPr>
            <a:r>
              <a:rPr lang="en-US" sz="1600" b="1" dirty="0">
                <a:latin typeface="Consolas" panose="020B0609020204030204" pitchFamily="49" charset="0"/>
                <a:ea typeface="Times New Roman" panose="02020603050405020304" pitchFamily="18" charset="0"/>
                <a:cs typeface="Times New Roman" panose="02020603050405020304" pitchFamily="18" charset="0"/>
              </a:rPr>
              <a:t>   </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value=False)</a:t>
            </a:r>
          </a:p>
          <a:p>
            <a:endParaRPr lang="en-US" sz="1600" dirty="0"/>
          </a:p>
        </p:txBody>
      </p:sp>
      <p:sp>
        <p:nvSpPr>
          <p:cNvPr id="4" name="Date Placeholder 3">
            <a:extLst>
              <a:ext uri="{FF2B5EF4-FFF2-40B4-BE49-F238E27FC236}">
                <a16:creationId xmlns:a16="http://schemas.microsoft.com/office/drawing/2014/main" id="{6AA4ECE0-0F69-4F25-A805-311B005611AD}"/>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7B6026DA-41CF-4C4D-AC05-02DB01289B23}"/>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B6F59EDD-ABF0-47B7-8908-12A6D79D3AE2}"/>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59</a:t>
            </a:fld>
            <a:endParaRPr lang="en-US" dirty="0">
              <a:solidFill>
                <a:schemeClr val="bg1"/>
              </a:solidFill>
            </a:endParaRPr>
          </a:p>
        </p:txBody>
      </p:sp>
    </p:spTree>
    <p:extLst>
      <p:ext uri="{BB962C8B-B14F-4D97-AF65-F5344CB8AC3E}">
        <p14:creationId xmlns:p14="http://schemas.microsoft.com/office/powerpoint/2010/main" val="30671828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8C17230-C4B3-4144-8EAD-636BF6DF6939}"/>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Some useful parameters of 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read_csv</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method</a:t>
            </a:r>
            <a:endParaRPr lang="en-US" dirty="0"/>
          </a:p>
        </p:txBody>
      </p:sp>
      <p:graphicFrame>
        <p:nvGraphicFramePr>
          <p:cNvPr id="9" name="Table Placeholder 8">
            <a:extLst>
              <a:ext uri="{FF2B5EF4-FFF2-40B4-BE49-F238E27FC236}">
                <a16:creationId xmlns:a16="http://schemas.microsoft.com/office/drawing/2014/main" id="{00067205-B7A7-4265-9799-0BA842805847}"/>
              </a:ext>
            </a:extLst>
          </p:cNvPr>
          <p:cNvGraphicFramePr>
            <a:graphicFrameLocks noGrp="1"/>
          </p:cNvGraphicFramePr>
          <p:nvPr>
            <p:ph type="tbl" sz="quarter" idx="13"/>
            <p:extLst>
              <p:ext uri="{D42A27DB-BD31-4B8C-83A1-F6EECF244321}">
                <p14:modId xmlns:p14="http://schemas.microsoft.com/office/powerpoint/2010/main" val="1504443957"/>
              </p:ext>
            </p:extLst>
          </p:nvPr>
        </p:nvGraphicFramePr>
        <p:xfrm>
          <a:off x="1295400" y="1143000"/>
          <a:ext cx="6469380" cy="3779520"/>
        </p:xfrm>
        <a:graphic>
          <a:graphicData uri="http://schemas.openxmlformats.org/drawingml/2006/table">
            <a:tbl>
              <a:tblPr firstRow="1"/>
              <a:tblGrid>
                <a:gridCol w="1954530">
                  <a:extLst>
                    <a:ext uri="{9D8B030D-6E8A-4147-A177-3AD203B41FA5}">
                      <a16:colId xmlns:a16="http://schemas.microsoft.com/office/drawing/2014/main" val="2609277820"/>
                    </a:ext>
                  </a:extLst>
                </a:gridCol>
                <a:gridCol w="4514850">
                  <a:extLst>
                    <a:ext uri="{9D8B030D-6E8A-4147-A177-3AD203B41FA5}">
                      <a16:colId xmlns:a16="http://schemas.microsoft.com/office/drawing/2014/main" val="1557275088"/>
                    </a:ext>
                  </a:extLst>
                </a:gridCol>
              </a:tblGrid>
              <a:tr h="0">
                <a:tc>
                  <a:txBody>
                    <a:bodyPr/>
                    <a:lstStyle/>
                    <a:p>
                      <a:pPr marL="0" marR="0">
                        <a:spcBef>
                          <a:spcPts val="600"/>
                        </a:spcBef>
                        <a:spcAft>
                          <a:spcPts val="600"/>
                        </a:spcAft>
                        <a:tabLst>
                          <a:tab pos="1828800" algn="l"/>
                          <a:tab pos="457200" algn="l"/>
                        </a:tabLst>
                      </a:pPr>
                      <a:r>
                        <a:rPr lang="en-US" sz="2000" b="1" dirty="0">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Parameter</a:t>
                      </a:r>
                      <a:endParaRPr lang="en-US" sz="2000" b="1" dirty="0">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tc>
                  <a:txBody>
                    <a:bodyPr/>
                    <a:lstStyle/>
                    <a:p>
                      <a:pPr marL="0" marR="0">
                        <a:spcBef>
                          <a:spcPts val="600"/>
                        </a:spcBef>
                        <a:spcAft>
                          <a:spcPts val="600"/>
                        </a:spcAft>
                        <a:tabLst>
                          <a:tab pos="1828800" algn="l"/>
                          <a:tab pos="457200" algn="l"/>
                        </a:tabLst>
                      </a:pPr>
                      <a:r>
                        <a:rPr lang="en-US" sz="2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Description</a:t>
                      </a:r>
                      <a:endParaRPr lang="en-US" sz="2000" b="1">
                        <a:solidFill>
                          <a:srgbClr val="FFFFFF"/>
                        </a:solidFill>
                        <a:effectLst/>
                        <a:latin typeface="Montserrat Medium"/>
                        <a:ea typeface="Times New Roman" panose="02020603050405020304" pitchFamily="18" charset="0"/>
                        <a:cs typeface="Times New Roman" panose="02020603050405020304" pitchFamily="18" charset="0"/>
                      </a:endParaRPr>
                    </a:p>
                  </a:txBody>
                  <a:tcPr marL="68580" marR="68580">
                    <a:lnL>
                      <a:noFill/>
                    </a:lnL>
                    <a:lnR>
                      <a:noFill/>
                    </a:lnR>
                    <a:lnT>
                      <a:noFill/>
                    </a:lnT>
                    <a:lnB>
                      <a:noFill/>
                    </a:lnB>
                    <a:solidFill>
                      <a:srgbClr val="3D87B7"/>
                    </a:solidFill>
                  </a:tcPr>
                </a:tc>
                <a:extLst>
                  <a:ext uri="{0D108BD9-81ED-4DB2-BD59-A6C34878D82A}">
                    <a16:rowId xmlns:a16="http://schemas.microsoft.com/office/drawing/2014/main" val="1386051271"/>
                  </a:ext>
                </a:extLst>
              </a:tr>
              <a:tr h="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urier New" panose="02070309020205020404" pitchFamily="49" charset="0"/>
                          <a:ea typeface="Times New Roman" panose="02020603050405020304" pitchFamily="18" charset="0"/>
                        </a:rPr>
                        <a:t>header</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The row and column names where the import should start.</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1165643786"/>
                  </a:ext>
                </a:extLst>
              </a:tr>
              <a:tr h="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urier New" panose="02070309020205020404" pitchFamily="49" charset="0"/>
                          <a:ea typeface="Times New Roman" panose="02020603050405020304" pitchFamily="18" charset="0"/>
                        </a:rPr>
                        <a:t>usecols</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The columns to be imported.</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2916634477"/>
                  </a:ext>
                </a:extLst>
              </a:tr>
              <a:tr h="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urier New" panose="02070309020205020404" pitchFamily="49" charset="0"/>
                          <a:ea typeface="Times New Roman" panose="02020603050405020304" pitchFamily="18" charset="0"/>
                        </a:rPr>
                        <a:t>nrows</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The number of rows to import. </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1714524707"/>
                  </a:ext>
                </a:extLst>
              </a:tr>
              <a:tr h="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urier New" panose="02070309020205020404" pitchFamily="49" charset="0"/>
                          <a:ea typeface="Times New Roman" panose="02020603050405020304" pitchFamily="18" charset="0"/>
                        </a:rPr>
                        <a:t>parse_dates</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The columns that the to_datetime() method should try to convert.</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804225463"/>
                  </a:ext>
                </a:extLst>
              </a:tr>
              <a:tr h="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urier New" panose="02070309020205020404" pitchFamily="49" charset="0"/>
                          <a:ea typeface="Times New Roman" panose="02020603050405020304" pitchFamily="18" charset="0"/>
                        </a:rPr>
                        <a:t>na_values</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The strings that should be treated as NAs.</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3158782610"/>
                  </a:ext>
                </a:extLst>
              </a:tr>
              <a:tr h="0">
                <a:tc>
                  <a:txBody>
                    <a:bodyPr/>
                    <a:lstStyle/>
                    <a:p>
                      <a:pPr marL="0" marR="0" indent="0">
                        <a:spcBef>
                          <a:spcPts val="600"/>
                        </a:spcBef>
                        <a:spcAft>
                          <a:spcPts val="600"/>
                        </a:spcAft>
                        <a:tabLst>
                          <a:tab pos="800100" algn="l"/>
                          <a:tab pos="2514600" algn="l"/>
                          <a:tab pos="457200" algn="l"/>
                        </a:tabLst>
                      </a:pPr>
                      <a:r>
                        <a:rPr lang="en-US" sz="1600" b="1">
                          <a:solidFill>
                            <a:srgbClr val="000000"/>
                          </a:solidFill>
                          <a:effectLst/>
                          <a:latin typeface="Courier New" panose="02070309020205020404" pitchFamily="49" charset="0"/>
                          <a:ea typeface="Times New Roman" panose="02020603050405020304" pitchFamily="18" charset="0"/>
                        </a:rPr>
                        <a:t>true_values</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a:solidFill>
                            <a:srgbClr val="000000"/>
                          </a:solidFill>
                          <a:effectLst/>
                          <a:latin typeface="Times New Roman" panose="02020603050405020304" pitchFamily="18" charset="0"/>
                          <a:ea typeface="Times New Roman" panose="02020603050405020304" pitchFamily="18" charset="0"/>
                        </a:rPr>
                        <a:t>The values that the dataset uses for True.</a:t>
                      </a:r>
                      <a:endParaRPr lang="en-US" sz="200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3741680667"/>
                  </a:ext>
                </a:extLst>
              </a:tr>
              <a:tr h="0">
                <a:tc>
                  <a:txBody>
                    <a:bodyPr/>
                    <a:lstStyle/>
                    <a:p>
                      <a:pPr marL="0" marR="0" indent="0">
                        <a:spcBef>
                          <a:spcPts val="600"/>
                        </a:spcBef>
                        <a:spcAft>
                          <a:spcPts val="600"/>
                        </a:spcAft>
                        <a:tabLst>
                          <a:tab pos="800100" algn="l"/>
                          <a:tab pos="2514600" algn="l"/>
                          <a:tab pos="457200" algn="l"/>
                        </a:tabLst>
                      </a:pPr>
                      <a:r>
                        <a:rPr lang="en-US" sz="1600" b="1" dirty="0" err="1">
                          <a:solidFill>
                            <a:srgbClr val="000000"/>
                          </a:solidFill>
                          <a:effectLst/>
                          <a:latin typeface="Courier New" panose="02070309020205020404" pitchFamily="49" charset="0"/>
                          <a:ea typeface="Times New Roman" panose="02020603050405020304" pitchFamily="18" charset="0"/>
                        </a:rPr>
                        <a:t>false_values</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tc>
                  <a:txBody>
                    <a:bodyPr/>
                    <a:lstStyle/>
                    <a:p>
                      <a:pPr marL="0" marR="0" indent="0">
                        <a:spcBef>
                          <a:spcPts val="600"/>
                        </a:spcBef>
                        <a:spcAft>
                          <a:spcPts val="600"/>
                        </a:spcAft>
                        <a:tabLst>
                          <a:tab pos="800100" algn="l"/>
                          <a:tab pos="2514600" algn="l"/>
                          <a:tab pos="457200" algn="l"/>
                        </a:tabLst>
                      </a:pPr>
                      <a:r>
                        <a:rPr lang="en-US" sz="2000" dirty="0">
                          <a:solidFill>
                            <a:srgbClr val="000000"/>
                          </a:solidFill>
                          <a:effectLst/>
                          <a:latin typeface="Times New Roman" panose="02020603050405020304" pitchFamily="18" charset="0"/>
                          <a:ea typeface="Times New Roman" panose="02020603050405020304" pitchFamily="18" charset="0"/>
                        </a:rPr>
                        <a:t>The values that the dataset uses for False.</a:t>
                      </a:r>
                      <a:r>
                        <a:rPr lang="en-US" sz="900" b="1" dirty="0">
                          <a:solidFill>
                            <a:srgbClr val="000000"/>
                          </a:solidFill>
                          <a:effectLst/>
                          <a:latin typeface="Courier New" panose="02070309020205020404" pitchFamily="49" charset="0"/>
                          <a:ea typeface="Times New Roman" panose="02020603050405020304" pitchFamily="18" charset="0"/>
                        </a:rPr>
                        <a:t> </a:t>
                      </a:r>
                      <a:endParaRPr lang="en-US" sz="2000" dirty="0">
                        <a:effectLst/>
                        <a:latin typeface="Times New Roman" panose="02020603050405020304" pitchFamily="18" charset="0"/>
                        <a:ea typeface="Times New Roman" panose="02020603050405020304" pitchFamily="18" charset="0"/>
                      </a:endParaRPr>
                    </a:p>
                  </a:txBody>
                  <a:tcPr marL="68580" marR="68580">
                    <a:lnL>
                      <a:noFill/>
                    </a:lnL>
                    <a:lnR>
                      <a:noFill/>
                    </a:lnR>
                    <a:lnT>
                      <a:noFill/>
                    </a:lnT>
                    <a:lnB>
                      <a:noFill/>
                    </a:lnB>
                    <a:solidFill>
                      <a:srgbClr val="DFECF5"/>
                    </a:solidFill>
                  </a:tcPr>
                </a:tc>
                <a:extLst>
                  <a:ext uri="{0D108BD9-81ED-4DB2-BD59-A6C34878D82A}">
                    <a16:rowId xmlns:a16="http://schemas.microsoft.com/office/drawing/2014/main" val="4021628707"/>
                  </a:ext>
                </a:extLst>
              </a:tr>
            </a:tbl>
          </a:graphicData>
        </a:graphic>
      </p:graphicFrame>
      <p:sp>
        <p:nvSpPr>
          <p:cNvPr id="4" name="Date Placeholder 3">
            <a:extLst>
              <a:ext uri="{FF2B5EF4-FFF2-40B4-BE49-F238E27FC236}">
                <a16:creationId xmlns:a16="http://schemas.microsoft.com/office/drawing/2014/main" id="{3BD9858D-981F-4199-8966-253B7EB0F4B9}"/>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FB2A7FFE-46CB-4999-859B-AECAD782BB1E}"/>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257E40D3-2595-4663-A78C-85E65BCF53CD}"/>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60</a:t>
            </a:fld>
            <a:endParaRPr lang="en-US" dirty="0">
              <a:solidFill>
                <a:schemeClr val="bg1"/>
              </a:solidFill>
            </a:endParaRPr>
          </a:p>
        </p:txBody>
      </p:sp>
    </p:spTree>
    <p:extLst>
      <p:ext uri="{BB962C8B-B14F-4D97-AF65-F5344CB8AC3E}">
        <p14:creationId xmlns:p14="http://schemas.microsoft.com/office/powerpoint/2010/main" val="13307070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1E49B8C-E233-41F2-A8D4-212FC1EB9A5D}"/>
              </a:ext>
            </a:extLst>
          </p:cNvPr>
          <p:cNvSpPr>
            <a:spLocks noGrp="1"/>
          </p:cNvSpPr>
          <p:nvPr>
            <p:ph type="title"/>
          </p:nvPr>
        </p:nvSpPr>
        <p:spPr>
          <a:xfrm>
            <a:off x="914400" y="440323"/>
            <a:ext cx="7315200" cy="738664"/>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parse object columns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that contain dates and times</a:t>
            </a:r>
            <a:endParaRPr lang="en-US" dirty="0"/>
          </a:p>
        </p:txBody>
      </p:sp>
      <p:sp>
        <p:nvSpPr>
          <p:cNvPr id="9" name="Text Placeholder 8">
            <a:extLst>
              <a:ext uri="{FF2B5EF4-FFF2-40B4-BE49-F238E27FC236}">
                <a16:creationId xmlns:a16="http://schemas.microsoft.com/office/drawing/2014/main" id="{9EE6F8FF-C9B1-4C2C-840C-16CBA5C477B0}"/>
              </a:ext>
            </a:extLst>
          </p:cNvPr>
          <p:cNvSpPr>
            <a:spLocks noGrp="1"/>
          </p:cNvSpPr>
          <p:nvPr>
            <p:ph type="body" sz="quarter" idx="15"/>
          </p:nvPr>
        </p:nvSpPr>
        <p:spPr>
          <a:xfrm>
            <a:off x="812800" y="1215158"/>
            <a:ext cx="7391400" cy="2213842"/>
          </a:xfrm>
        </p:spPr>
        <p:txBody>
          <a:bodyPr/>
          <a:lstStyle/>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date columns to be parsed</a:t>
            </a:r>
            <a:endParaRPr lang="en-US" b="1" spc="-10" dirty="0">
              <a:solidFill>
                <a:srgbClr val="000099"/>
              </a:solidFill>
              <a:effectLst/>
              <a:latin typeface="Montserrat Medium"/>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200" b="1" dirty="0" err="1">
                <a:effectLst/>
                <a:latin typeface="Consolas" panose="020B0609020204030204" pitchFamily="49" charset="0"/>
                <a:ea typeface="Times New Roman" panose="02020603050405020304" pitchFamily="18" charset="0"/>
                <a:cs typeface="Times New Roman" panose="02020603050405020304" pitchFamily="18" charset="0"/>
              </a:rPr>
              <a:t>date_cols</a:t>
            </a:r>
            <a:r>
              <a:rPr lang="en-US" sz="12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200" b="1" dirty="0" err="1">
                <a:effectLst/>
                <a:latin typeface="Consolas" panose="020B0609020204030204" pitchFamily="49" charset="0"/>
                <a:ea typeface="Times New Roman" panose="02020603050405020304" pitchFamily="18" charset="0"/>
                <a:cs typeface="Times New Roman" panose="02020603050405020304" pitchFamily="18" charset="0"/>
              </a:rPr>
              <a:t>forecastdate</a:t>
            </a:r>
            <a:r>
              <a:rPr lang="en-US" sz="12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200" b="1" dirty="0" err="1">
                <a:effectLst/>
                <a:latin typeface="Consolas" panose="020B0609020204030204" pitchFamily="49" charset="0"/>
                <a:ea typeface="Times New Roman" panose="02020603050405020304" pitchFamily="18" charset="0"/>
                <a:cs typeface="Times New Roman" panose="02020603050405020304" pitchFamily="18" charset="0"/>
              </a:rPr>
              <a:t>startdate</a:t>
            </a:r>
            <a:r>
              <a:rPr lang="en-US" sz="12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200" b="1" dirty="0" err="1">
                <a:effectLst/>
                <a:latin typeface="Consolas" panose="020B0609020204030204" pitchFamily="49" charset="0"/>
                <a:ea typeface="Times New Roman" panose="02020603050405020304" pitchFamily="18" charset="0"/>
                <a:cs typeface="Times New Roman" panose="02020603050405020304" pitchFamily="18" charset="0"/>
              </a:rPr>
              <a:t>enddate</a:t>
            </a:r>
            <a:r>
              <a:rPr lang="en-US" sz="12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200" b="1" dirty="0" err="1">
                <a:effectLst/>
                <a:latin typeface="Consolas" panose="020B0609020204030204" pitchFamily="49" charset="0"/>
                <a:ea typeface="Times New Roman" panose="02020603050405020304" pitchFamily="18" charset="0"/>
                <a:cs typeface="Times New Roman" panose="02020603050405020304" pitchFamily="18" charset="0"/>
              </a:rPr>
              <a:t>createddate</a:t>
            </a:r>
            <a:r>
              <a:rPr lang="en-US" sz="1200" b="1" dirty="0">
                <a:effectLst/>
                <a:latin typeface="Consolas" panose="020B0609020204030204" pitchFamily="49" charset="0"/>
                <a:ea typeface="Times New Roman" panose="02020603050405020304" pitchFamily="18" charset="0"/>
                <a:cs typeface="Times New Roman" panose="02020603050405020304" pitchFamily="18" charset="0"/>
              </a:rPr>
              <a:t>','timestamp']</a:t>
            </a:r>
          </a:p>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a:t>
            </a:r>
            <a:r>
              <a:rPr lang="en-US" b="1" spc="-10"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url</a:t>
            </a: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for the file</a:t>
            </a:r>
            <a:endParaRPr lang="en-US" b="1" spc="-10" dirty="0">
              <a:solidFill>
                <a:srgbClr val="000099"/>
              </a:solidFill>
              <a:effectLst/>
              <a:latin typeface="Montserrat Medium"/>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200" b="1" dirty="0" err="1">
                <a:effectLst/>
                <a:latin typeface="Consolas" panose="020B0609020204030204" pitchFamily="49" charset="0"/>
                <a:ea typeface="Times New Roman" panose="02020603050405020304" pitchFamily="18" charset="0"/>
                <a:cs typeface="Times New Roman" panose="02020603050405020304" pitchFamily="18" charset="0"/>
              </a:rPr>
              <a:t>polls_url</a:t>
            </a:r>
            <a:r>
              <a:rPr lang="en-US" sz="1200" b="1" dirty="0">
                <a:effectLst/>
                <a:latin typeface="Consolas" panose="020B0609020204030204" pitchFamily="49" charset="0"/>
                <a:ea typeface="Times New Roman" panose="02020603050405020304" pitchFamily="18" charset="0"/>
                <a:cs typeface="Times New Roman" panose="02020603050405020304" pitchFamily="18" charset="0"/>
              </a:rPr>
              <a:t> = '../../data/president_polls_2016.csv'</a:t>
            </a:r>
          </a:p>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An import with no changes</a:t>
            </a:r>
            <a:endParaRPr lang="en-US" b="1" spc="-10" dirty="0">
              <a:solidFill>
                <a:srgbClr val="000099"/>
              </a:solidFill>
              <a:effectLst/>
              <a:latin typeface="Montserrat Medium"/>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200" b="1" dirty="0">
                <a:effectLst/>
                <a:latin typeface="Consolas" panose="020B0609020204030204" pitchFamily="49" charset="0"/>
                <a:ea typeface="Times New Roman" panose="02020603050405020304" pitchFamily="18" charset="0"/>
                <a:cs typeface="Times New Roman" panose="02020603050405020304" pitchFamily="18" charset="0"/>
              </a:rPr>
              <a:t>polls = </a:t>
            </a:r>
            <a:r>
              <a:rPr lang="en-US" sz="1200" b="1" dirty="0" err="1">
                <a:effectLst/>
                <a:latin typeface="Consolas" panose="020B0609020204030204" pitchFamily="49" charset="0"/>
                <a:ea typeface="Times New Roman" panose="02020603050405020304" pitchFamily="18" charset="0"/>
                <a:cs typeface="Times New Roman" panose="02020603050405020304" pitchFamily="18" charset="0"/>
              </a:rPr>
              <a:t>pd.read_csv</a:t>
            </a:r>
            <a:r>
              <a:rPr lang="en-US" sz="12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200" b="1" dirty="0" err="1">
                <a:effectLst/>
                <a:latin typeface="Consolas" panose="020B0609020204030204" pitchFamily="49" charset="0"/>
                <a:ea typeface="Times New Roman" panose="02020603050405020304" pitchFamily="18" charset="0"/>
                <a:cs typeface="Times New Roman" panose="02020603050405020304" pitchFamily="18" charset="0"/>
              </a:rPr>
              <a:t>polls_url</a:t>
            </a:r>
            <a:r>
              <a:rPr lang="en-US" sz="12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600"/>
              </a:spcAft>
              <a:tabLst>
                <a:tab pos="1371600" algn="l"/>
              </a:tabLst>
            </a:pPr>
            <a:r>
              <a:rPr lang="en-US" sz="1200" b="1" dirty="0">
                <a:effectLst/>
                <a:latin typeface="Consolas" panose="020B0609020204030204" pitchFamily="49" charset="0"/>
                <a:ea typeface="Times New Roman" panose="02020603050405020304" pitchFamily="18" charset="0"/>
                <a:cs typeface="Times New Roman" panose="02020603050405020304" pitchFamily="18" charset="0"/>
              </a:rPr>
              <a:t>polls[</a:t>
            </a:r>
            <a:r>
              <a:rPr lang="en-US" sz="1200" b="1" dirty="0" err="1">
                <a:effectLst/>
                <a:latin typeface="Consolas" panose="020B0609020204030204" pitchFamily="49" charset="0"/>
                <a:ea typeface="Times New Roman" panose="02020603050405020304" pitchFamily="18" charset="0"/>
                <a:cs typeface="Times New Roman" panose="02020603050405020304" pitchFamily="18" charset="0"/>
              </a:rPr>
              <a:t>date_cols</a:t>
            </a:r>
            <a:r>
              <a:rPr lang="en-US" sz="1200" b="1" dirty="0">
                <a:effectLst/>
                <a:latin typeface="Consolas" panose="020B0609020204030204" pitchFamily="49" charset="0"/>
                <a:ea typeface="Times New Roman" panose="02020603050405020304" pitchFamily="18" charset="0"/>
                <a:cs typeface="Times New Roman" panose="02020603050405020304" pitchFamily="18" charset="0"/>
              </a:rPr>
              <a:t>].head(3)</a:t>
            </a:r>
          </a:p>
          <a:p>
            <a:endParaRPr lang="en-US" sz="1200" dirty="0"/>
          </a:p>
        </p:txBody>
      </p:sp>
      <p:pic>
        <p:nvPicPr>
          <p:cNvPr id="10" name="Content Placeholder 9" descr="Refer to page 229 in textbook">
            <a:extLst>
              <a:ext uri="{FF2B5EF4-FFF2-40B4-BE49-F238E27FC236}">
                <a16:creationId xmlns:a16="http://schemas.microsoft.com/office/drawing/2014/main" id="{81F699B2-544B-4E45-9460-613C7CC4E6DB}"/>
              </a:ext>
            </a:extLst>
          </p:cNvPr>
          <p:cNvPicPr>
            <a:picLocks noGrp="1" noChangeAspect="1"/>
          </p:cNvPicPr>
          <p:nvPr>
            <p:ph sz="quarter" idx="13"/>
          </p:nvPr>
        </p:nvPicPr>
        <p:blipFill>
          <a:blip r:embed="rId2"/>
          <a:stretch>
            <a:fillRect/>
          </a:stretch>
        </p:blipFill>
        <p:spPr>
          <a:xfrm>
            <a:off x="1267642" y="3658501"/>
            <a:ext cx="5437958" cy="1294499"/>
          </a:xfrm>
          <a:prstGeom prst="rect">
            <a:avLst/>
          </a:prstGeom>
        </p:spPr>
      </p:pic>
      <p:sp>
        <p:nvSpPr>
          <p:cNvPr id="4" name="Date Placeholder 3">
            <a:extLst>
              <a:ext uri="{FF2B5EF4-FFF2-40B4-BE49-F238E27FC236}">
                <a16:creationId xmlns:a16="http://schemas.microsoft.com/office/drawing/2014/main" id="{BBD54E8F-95EE-4761-BA65-D181CE8C9B2F}"/>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8557336F-AB2D-4B3B-A9E1-ED40678D9B2B}"/>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2E02DC01-9A11-4D18-8CDE-0D64A52429B0}"/>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C6, Slide </a:t>
            </a:r>
            <a:fld id="{BF5C1183-B085-4070-A402-C03A3F977D3D}" type="slidenum">
              <a:rPr lang="en-US" sz="900" smtClean="0">
                <a:solidFill>
                  <a:schemeClr val="bg1"/>
                </a:solidFill>
                <a:latin typeface="Arial Narrow" panose="020B0606020202030204" pitchFamily="34" charset="0"/>
              </a:rPr>
              <a:pPr algn="r">
                <a:defRPr/>
              </a:pPr>
              <a:t>61</a:t>
            </a:fld>
            <a:endParaRPr lang="en-US" sz="9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31006002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9DF5484-7387-4C07-A9D5-7FD524DF82FB}"/>
              </a:ext>
            </a:extLst>
          </p:cNvPr>
          <p:cNvSpPr>
            <a:spLocks noGrp="1"/>
          </p:cNvSpPr>
          <p:nvPr>
            <p:ph type="title"/>
          </p:nvPr>
        </p:nvSpPr>
        <p:spPr>
          <a:xfrm>
            <a:off x="914400" y="440323"/>
            <a:ext cx="7315200" cy="738664"/>
          </a:xfrm>
        </p:spPr>
        <p:txBody>
          <a:bodyPr/>
          <a:lstStyle/>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parse object columns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that contain dates and times (continued)</a:t>
            </a:r>
            <a:endParaRPr lang="en-US" dirty="0"/>
          </a:p>
        </p:txBody>
      </p:sp>
      <p:sp>
        <p:nvSpPr>
          <p:cNvPr id="9" name="Text Placeholder 8">
            <a:extLst>
              <a:ext uri="{FF2B5EF4-FFF2-40B4-BE49-F238E27FC236}">
                <a16:creationId xmlns:a16="http://schemas.microsoft.com/office/drawing/2014/main" id="{CCAAA15F-32DF-4BA5-9087-BBE7EB6AC7BA}"/>
              </a:ext>
            </a:extLst>
          </p:cNvPr>
          <p:cNvSpPr>
            <a:spLocks noGrp="1"/>
          </p:cNvSpPr>
          <p:nvPr>
            <p:ph type="body" sz="quarter" idx="15"/>
          </p:nvPr>
        </p:nvSpPr>
        <p:spPr>
          <a:xfrm>
            <a:off x="812800" y="1215158"/>
            <a:ext cx="7391400" cy="2213842"/>
          </a:xfrm>
        </p:spPr>
        <p:txBody>
          <a:bodyPr/>
          <a:lstStyle/>
          <a:p>
            <a:pPr marL="347345" marR="0">
              <a:spcBef>
                <a:spcPts val="900"/>
              </a:spcBef>
              <a:spcAft>
                <a:spcPts val="600"/>
              </a:spcAft>
              <a:tabLst>
                <a:tab pos="1371600" algn="l"/>
                <a:tab pos="2743200" algn="l"/>
              </a:tabLst>
            </a:pPr>
            <a:r>
              <a:rPr lang="en-US" b="1" spc="-10"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An import with parsed dates</a:t>
            </a:r>
            <a:endParaRPr lang="en-US" b="1" spc="-10" dirty="0">
              <a:solidFill>
                <a:srgbClr val="000099"/>
              </a:solidFill>
              <a:effectLst/>
              <a:latin typeface="Montserrat Medium"/>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200" b="1" dirty="0" err="1">
                <a:effectLst/>
                <a:latin typeface="Consolas" panose="020B0609020204030204" pitchFamily="49" charset="0"/>
                <a:ea typeface="Times New Roman" panose="02020603050405020304" pitchFamily="18" charset="0"/>
                <a:cs typeface="Times New Roman" panose="02020603050405020304" pitchFamily="18" charset="0"/>
              </a:rPr>
              <a:t>polls_new</a:t>
            </a:r>
            <a:r>
              <a:rPr lang="en-US" sz="12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200" b="1" dirty="0" err="1">
                <a:effectLst/>
                <a:latin typeface="Consolas" panose="020B0609020204030204" pitchFamily="49" charset="0"/>
                <a:ea typeface="Times New Roman" panose="02020603050405020304" pitchFamily="18" charset="0"/>
                <a:cs typeface="Times New Roman" panose="02020603050405020304" pitchFamily="18" charset="0"/>
              </a:rPr>
              <a:t>pd.read_csv</a:t>
            </a:r>
            <a:r>
              <a:rPr lang="en-US" sz="12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200" b="1" dirty="0" err="1">
                <a:effectLst/>
                <a:latin typeface="Consolas" panose="020B0609020204030204" pitchFamily="49" charset="0"/>
                <a:ea typeface="Times New Roman" panose="02020603050405020304" pitchFamily="18" charset="0"/>
                <a:cs typeface="Times New Roman" panose="02020603050405020304" pitchFamily="18" charset="0"/>
              </a:rPr>
              <a:t>polls_url</a:t>
            </a:r>
            <a:r>
              <a:rPr lang="en-US" sz="12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200" b="1" dirty="0" err="1">
                <a:effectLst/>
                <a:latin typeface="Consolas" panose="020B0609020204030204" pitchFamily="49" charset="0"/>
                <a:ea typeface="Times New Roman" panose="02020603050405020304" pitchFamily="18" charset="0"/>
                <a:cs typeface="Times New Roman" panose="02020603050405020304" pitchFamily="18" charset="0"/>
              </a:rPr>
              <a:t>parse_dates</a:t>
            </a:r>
            <a:r>
              <a:rPr lang="en-US" sz="12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200" b="1" dirty="0" err="1">
                <a:effectLst/>
                <a:latin typeface="Consolas" panose="020B0609020204030204" pitchFamily="49" charset="0"/>
                <a:ea typeface="Times New Roman" panose="02020603050405020304" pitchFamily="18" charset="0"/>
                <a:cs typeface="Times New Roman" panose="02020603050405020304" pitchFamily="18" charset="0"/>
              </a:rPr>
              <a:t>date_cols</a:t>
            </a:r>
            <a:r>
              <a:rPr lang="en-US" sz="12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600"/>
              </a:spcAft>
              <a:tabLst>
                <a:tab pos="1371600" algn="l"/>
              </a:tabLst>
            </a:pPr>
            <a:r>
              <a:rPr lang="en-US" sz="1200" b="1" dirty="0" err="1">
                <a:effectLst/>
                <a:latin typeface="Consolas" panose="020B0609020204030204" pitchFamily="49" charset="0"/>
                <a:ea typeface="Times New Roman" panose="02020603050405020304" pitchFamily="18" charset="0"/>
                <a:cs typeface="Times New Roman" panose="02020603050405020304" pitchFamily="18" charset="0"/>
              </a:rPr>
              <a:t>polls_new</a:t>
            </a:r>
            <a:r>
              <a:rPr lang="en-US" sz="12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200" b="1" dirty="0" err="1">
                <a:effectLst/>
                <a:latin typeface="Consolas" panose="020B0609020204030204" pitchFamily="49" charset="0"/>
                <a:ea typeface="Times New Roman" panose="02020603050405020304" pitchFamily="18" charset="0"/>
                <a:cs typeface="Times New Roman" panose="02020603050405020304" pitchFamily="18" charset="0"/>
              </a:rPr>
              <a:t>date_cols</a:t>
            </a:r>
            <a:r>
              <a:rPr lang="en-US" sz="1200" b="1" dirty="0">
                <a:effectLst/>
                <a:latin typeface="Consolas" panose="020B0609020204030204" pitchFamily="49" charset="0"/>
                <a:ea typeface="Times New Roman" panose="02020603050405020304" pitchFamily="18" charset="0"/>
                <a:cs typeface="Times New Roman" panose="02020603050405020304" pitchFamily="18" charset="0"/>
              </a:rPr>
              <a:t>].head(3)</a:t>
            </a:r>
          </a:p>
          <a:p>
            <a:endParaRPr lang="en-US" sz="1200" dirty="0"/>
          </a:p>
        </p:txBody>
      </p:sp>
      <p:pic>
        <p:nvPicPr>
          <p:cNvPr id="10" name="Content Placeholder 9" descr="Refer to page 229 in textbook">
            <a:extLst>
              <a:ext uri="{FF2B5EF4-FFF2-40B4-BE49-F238E27FC236}">
                <a16:creationId xmlns:a16="http://schemas.microsoft.com/office/drawing/2014/main" id="{F80063BB-434E-42B8-B6BE-1E37CA98C2FE}"/>
              </a:ext>
            </a:extLst>
          </p:cNvPr>
          <p:cNvPicPr>
            <a:picLocks noGrp="1" noChangeAspect="1"/>
          </p:cNvPicPr>
          <p:nvPr>
            <p:ph sz="quarter" idx="13"/>
          </p:nvPr>
        </p:nvPicPr>
        <p:blipFill>
          <a:blip r:embed="rId2"/>
          <a:stretch>
            <a:fillRect/>
          </a:stretch>
        </p:blipFill>
        <p:spPr>
          <a:xfrm>
            <a:off x="1262742" y="2121288"/>
            <a:ext cx="5366658" cy="1291868"/>
          </a:xfrm>
          <a:prstGeom prst="rect">
            <a:avLst/>
          </a:prstGeom>
        </p:spPr>
      </p:pic>
      <p:sp>
        <p:nvSpPr>
          <p:cNvPr id="4" name="Date Placeholder 3">
            <a:extLst>
              <a:ext uri="{FF2B5EF4-FFF2-40B4-BE49-F238E27FC236}">
                <a16:creationId xmlns:a16="http://schemas.microsoft.com/office/drawing/2014/main" id="{6471F6EE-9C1F-4A39-9E47-038C120D870F}"/>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7493DCC0-0BF4-488C-9CDE-77119891A18A}"/>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8242C6EB-A1E0-4FD1-97DF-4E79A8D1F12E}"/>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C6, Slide </a:t>
            </a:r>
            <a:fld id="{BF5C1183-B085-4070-A402-C03A3F977D3D}" type="slidenum">
              <a:rPr lang="en-US" sz="900" smtClean="0">
                <a:solidFill>
                  <a:schemeClr val="bg1"/>
                </a:solidFill>
                <a:latin typeface="Arial Narrow" panose="020B0606020202030204" pitchFamily="34" charset="0"/>
              </a:rPr>
              <a:pPr algn="r">
                <a:defRPr/>
              </a:pPr>
              <a:t>62</a:t>
            </a:fld>
            <a:endParaRPr lang="en-US" sz="9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7047222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F4EF827-A2A6-490A-8B67-B7D25D6C4E1A}"/>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The mortality data for the 15-19 age group</a:t>
            </a:r>
            <a:endParaRPr lang="en-US" dirty="0"/>
          </a:p>
        </p:txBody>
      </p:sp>
      <p:sp>
        <p:nvSpPr>
          <p:cNvPr id="9" name="Text Placeholder 8">
            <a:extLst>
              <a:ext uri="{FF2B5EF4-FFF2-40B4-BE49-F238E27FC236}">
                <a16:creationId xmlns:a16="http://schemas.microsoft.com/office/drawing/2014/main" id="{27B3BF55-7A91-4725-A1E7-35A9F969056A}"/>
              </a:ext>
            </a:extLst>
          </p:cNvPr>
          <p:cNvSpPr>
            <a:spLocks noGrp="1"/>
          </p:cNvSpPr>
          <p:nvPr>
            <p:ph type="body" sz="quarter" idx="15"/>
          </p:nvPr>
        </p:nvSpPr>
        <p:spPr/>
        <p:txBody>
          <a:bodyPr/>
          <a:lstStyle/>
          <a:p>
            <a:pPr marL="347345" marR="0">
              <a:spcBef>
                <a:spcPts val="0"/>
              </a:spcBef>
              <a:spcAft>
                <a:spcPts val="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mortality_group</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 \</a:t>
            </a:r>
          </a:p>
          <a:p>
            <a:pPr marL="347345" marR="0">
              <a:spcBef>
                <a:spcPts val="0"/>
              </a:spcBef>
              <a:spcAft>
                <a:spcPts val="0"/>
              </a:spcAft>
              <a:tabLst>
                <a:tab pos="1371600" algn="l"/>
              </a:tabLst>
            </a:pP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mortality_data.query</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AgeGroup</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 "15-19 Years"')</a:t>
            </a:r>
          </a:p>
          <a:p>
            <a:pPr marL="347345" marR="0">
              <a:spcBef>
                <a:spcPts val="0"/>
              </a:spcBef>
              <a:spcAft>
                <a:spcPts val="60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mortality_group.head</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(3)</a:t>
            </a:r>
          </a:p>
          <a:p>
            <a:endParaRPr lang="en-US" sz="1600" dirty="0"/>
          </a:p>
        </p:txBody>
      </p:sp>
      <p:pic>
        <p:nvPicPr>
          <p:cNvPr id="10" name="Content Placeholder 9" descr="Refer to page 231 in textbook">
            <a:extLst>
              <a:ext uri="{FF2B5EF4-FFF2-40B4-BE49-F238E27FC236}">
                <a16:creationId xmlns:a16="http://schemas.microsoft.com/office/drawing/2014/main" id="{B9933DAB-109C-4EF1-ADC6-AD13768E6400}"/>
              </a:ext>
            </a:extLst>
          </p:cNvPr>
          <p:cNvPicPr>
            <a:picLocks noGrp="1" noChangeAspect="1"/>
          </p:cNvPicPr>
          <p:nvPr>
            <p:ph sz="quarter" idx="13"/>
          </p:nvPr>
        </p:nvPicPr>
        <p:blipFill>
          <a:blip r:embed="rId2"/>
          <a:stretch>
            <a:fillRect/>
          </a:stretch>
        </p:blipFill>
        <p:spPr>
          <a:xfrm>
            <a:off x="1260435" y="1983903"/>
            <a:ext cx="3105692" cy="1445097"/>
          </a:xfrm>
          <a:prstGeom prst="rect">
            <a:avLst/>
          </a:prstGeom>
        </p:spPr>
      </p:pic>
      <p:sp>
        <p:nvSpPr>
          <p:cNvPr id="4" name="Date Placeholder 3">
            <a:extLst>
              <a:ext uri="{FF2B5EF4-FFF2-40B4-BE49-F238E27FC236}">
                <a16:creationId xmlns:a16="http://schemas.microsoft.com/office/drawing/2014/main" id="{55060FB6-90CE-44EE-8A1F-858D37F9DB15}"/>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0A340BED-3CB8-4894-9EE5-99449F1941F5}"/>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EBC2C05B-3F1A-477D-9C43-D9CA5F0B55EA}"/>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C6, Slide </a:t>
            </a:r>
            <a:fld id="{BF5C1183-B085-4070-A402-C03A3F977D3D}" type="slidenum">
              <a:rPr lang="en-US" sz="900" smtClean="0">
                <a:solidFill>
                  <a:schemeClr val="bg1"/>
                </a:solidFill>
                <a:latin typeface="Arial Narrow" panose="020B0606020202030204" pitchFamily="34" charset="0"/>
              </a:rPr>
              <a:pPr algn="r">
                <a:defRPr/>
              </a:pPr>
              <a:t>63</a:t>
            </a:fld>
            <a:endParaRPr lang="en-US" sz="9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146341523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B6065CD-BCC6-4A76-87FB-779D64B8C019}"/>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use the describe() method to find outliers</a:t>
            </a:r>
            <a:endParaRPr lang="en-US" dirty="0"/>
          </a:p>
        </p:txBody>
      </p:sp>
      <p:sp>
        <p:nvSpPr>
          <p:cNvPr id="9" name="Text Placeholder 8">
            <a:extLst>
              <a:ext uri="{FF2B5EF4-FFF2-40B4-BE49-F238E27FC236}">
                <a16:creationId xmlns:a16="http://schemas.microsoft.com/office/drawing/2014/main" id="{07993D9E-7352-4F55-B17D-E3D62629863B}"/>
              </a:ext>
            </a:extLst>
          </p:cNvPr>
          <p:cNvSpPr>
            <a:spLocks noGrp="1"/>
          </p:cNvSpPr>
          <p:nvPr>
            <p:ph type="body" sz="quarter" idx="15"/>
          </p:nvPr>
        </p:nvSpPr>
        <p:spPr/>
        <p:txBody>
          <a:bodyPr/>
          <a:lstStyle/>
          <a:p>
            <a:pPr marL="347345" marR="0">
              <a:spcBef>
                <a:spcPts val="0"/>
              </a:spcBef>
              <a:spcAft>
                <a:spcPts val="60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mortality_group.describe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().T</a:t>
            </a:r>
          </a:p>
          <a:p>
            <a:endParaRPr lang="en-US" sz="1600" dirty="0"/>
          </a:p>
        </p:txBody>
      </p:sp>
      <p:pic>
        <p:nvPicPr>
          <p:cNvPr id="10" name="Content Placeholder 9" descr="Refer to page 231 in textbook">
            <a:extLst>
              <a:ext uri="{FF2B5EF4-FFF2-40B4-BE49-F238E27FC236}">
                <a16:creationId xmlns:a16="http://schemas.microsoft.com/office/drawing/2014/main" id="{0FF8E325-AF12-48A8-99A9-A420C4032EF1}"/>
              </a:ext>
            </a:extLst>
          </p:cNvPr>
          <p:cNvPicPr>
            <a:picLocks noGrp="1" noChangeAspect="1"/>
          </p:cNvPicPr>
          <p:nvPr>
            <p:ph sz="quarter" idx="13"/>
          </p:nvPr>
        </p:nvPicPr>
        <p:blipFill>
          <a:blip r:embed="rId2"/>
          <a:stretch>
            <a:fillRect/>
          </a:stretch>
        </p:blipFill>
        <p:spPr>
          <a:xfrm>
            <a:off x="1262742" y="1447721"/>
            <a:ext cx="6419602" cy="990679"/>
          </a:xfrm>
          <a:prstGeom prst="rect">
            <a:avLst/>
          </a:prstGeom>
        </p:spPr>
      </p:pic>
      <p:sp>
        <p:nvSpPr>
          <p:cNvPr id="4" name="Date Placeholder 3">
            <a:extLst>
              <a:ext uri="{FF2B5EF4-FFF2-40B4-BE49-F238E27FC236}">
                <a16:creationId xmlns:a16="http://schemas.microsoft.com/office/drawing/2014/main" id="{AFBF4285-799A-4949-9235-8A9CBC91EB9C}"/>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ECCEC440-5780-4491-8914-651B3DC58BD4}"/>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035B8C39-0F46-4A31-ACA8-D390271FCFEE}"/>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C6, Slide </a:t>
            </a:r>
            <a:fld id="{BF5C1183-B085-4070-A402-C03A3F977D3D}" type="slidenum">
              <a:rPr lang="en-US" sz="900" smtClean="0">
                <a:solidFill>
                  <a:schemeClr val="bg1"/>
                </a:solidFill>
                <a:latin typeface="Arial Narrow" panose="020B0606020202030204" pitchFamily="34" charset="0"/>
              </a:rPr>
              <a:pPr algn="r">
                <a:defRPr/>
              </a:pPr>
              <a:t>64</a:t>
            </a:fld>
            <a:endParaRPr lang="en-US" sz="9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38156373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4F6FF43-EDF1-41D9-B8C1-61C61AA3A0C9}"/>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use the plot() method to find outliers</a:t>
            </a:r>
            <a:endParaRPr lang="en-US" dirty="0"/>
          </a:p>
        </p:txBody>
      </p:sp>
      <p:sp>
        <p:nvSpPr>
          <p:cNvPr id="9" name="Text Placeholder 8">
            <a:extLst>
              <a:ext uri="{FF2B5EF4-FFF2-40B4-BE49-F238E27FC236}">
                <a16:creationId xmlns:a16="http://schemas.microsoft.com/office/drawing/2014/main" id="{BAC65D6B-CAFB-43AB-80A3-BD0E702ECB95}"/>
              </a:ext>
            </a:extLst>
          </p:cNvPr>
          <p:cNvSpPr>
            <a:spLocks noGrp="1"/>
          </p:cNvSpPr>
          <p:nvPr>
            <p:ph type="body" sz="quarter" idx="15"/>
          </p:nvPr>
        </p:nvSpPr>
        <p:spPr/>
        <p:txBody>
          <a:bodyPr/>
          <a:lstStyle/>
          <a:p>
            <a:pPr marL="347345" marR="0">
              <a:spcBef>
                <a:spcPts val="0"/>
              </a:spcBef>
              <a:spcAft>
                <a:spcPts val="60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mortality_group.plot</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(x='Year', y='</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DeathRate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p>
          <a:p>
            <a:endParaRPr lang="en-US" sz="1600" dirty="0"/>
          </a:p>
        </p:txBody>
      </p:sp>
      <p:pic>
        <p:nvPicPr>
          <p:cNvPr id="10" name="Content Placeholder 9" descr="Refer to page 231 in textbook">
            <a:extLst>
              <a:ext uri="{FF2B5EF4-FFF2-40B4-BE49-F238E27FC236}">
                <a16:creationId xmlns:a16="http://schemas.microsoft.com/office/drawing/2014/main" id="{3249C8F5-AB20-4BB4-A129-08F8E7C58D34}"/>
              </a:ext>
            </a:extLst>
          </p:cNvPr>
          <p:cNvPicPr>
            <a:picLocks noGrp="1" noChangeAspect="1"/>
          </p:cNvPicPr>
          <p:nvPr>
            <p:ph sz="quarter" idx="13"/>
          </p:nvPr>
        </p:nvPicPr>
        <p:blipFill>
          <a:blip r:embed="rId2"/>
          <a:stretch>
            <a:fillRect/>
          </a:stretch>
        </p:blipFill>
        <p:spPr>
          <a:xfrm>
            <a:off x="1262742" y="1447800"/>
            <a:ext cx="4835903" cy="3352800"/>
          </a:xfrm>
          <a:prstGeom prst="rect">
            <a:avLst/>
          </a:prstGeom>
        </p:spPr>
      </p:pic>
      <p:sp>
        <p:nvSpPr>
          <p:cNvPr id="4" name="Date Placeholder 3">
            <a:extLst>
              <a:ext uri="{FF2B5EF4-FFF2-40B4-BE49-F238E27FC236}">
                <a16:creationId xmlns:a16="http://schemas.microsoft.com/office/drawing/2014/main" id="{298D0623-EF27-43A7-91C8-F5E37C16127C}"/>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14FAB1CE-A1C1-4E43-AEB3-248510D36BC5}"/>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05CBC402-1B60-4809-9C2B-4E830CCFE2BF}"/>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C6, Slide </a:t>
            </a:r>
            <a:fld id="{BF5C1183-B085-4070-A402-C03A3F977D3D}" type="slidenum">
              <a:rPr lang="en-US" sz="900" smtClean="0">
                <a:solidFill>
                  <a:schemeClr val="bg1"/>
                </a:solidFill>
                <a:latin typeface="Arial Narrow" panose="020B0606020202030204" pitchFamily="34" charset="0"/>
              </a:rPr>
              <a:pPr algn="r">
                <a:defRPr/>
              </a:pPr>
              <a:t>65</a:t>
            </a:fld>
            <a:endParaRPr lang="en-US" sz="9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422996285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C2BFF78-3072-4D09-A478-0ECFBF27C7D7}"/>
              </a:ext>
            </a:extLst>
          </p:cNvPr>
          <p:cNvSpPr>
            <a:spLocks noGrp="1"/>
          </p:cNvSpPr>
          <p:nvPr>
            <p:ph type="title"/>
          </p:nvPr>
        </p:nvSpPr>
        <p:spPr>
          <a:xfrm>
            <a:off x="914400" y="440323"/>
            <a:ext cx="7289800" cy="738664"/>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review the outliers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in the </a:t>
            </a:r>
            <a:r>
              <a:rPr lang="en-US" sz="2400" b="1" dirty="0" err="1">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DeathRate</a:t>
            </a: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 column</a:t>
            </a:r>
            <a:endParaRPr lang="en-US" dirty="0"/>
          </a:p>
        </p:txBody>
      </p:sp>
      <p:sp>
        <p:nvSpPr>
          <p:cNvPr id="9" name="Text Placeholder 8">
            <a:extLst>
              <a:ext uri="{FF2B5EF4-FFF2-40B4-BE49-F238E27FC236}">
                <a16:creationId xmlns:a16="http://schemas.microsoft.com/office/drawing/2014/main" id="{0C0F13BD-5521-4616-A034-49749E639DAB}"/>
              </a:ext>
            </a:extLst>
          </p:cNvPr>
          <p:cNvSpPr>
            <a:spLocks noGrp="1"/>
          </p:cNvSpPr>
          <p:nvPr>
            <p:ph type="body" sz="quarter" idx="15"/>
          </p:nvPr>
        </p:nvSpPr>
        <p:spPr>
          <a:xfrm>
            <a:off x="812800" y="1215158"/>
            <a:ext cx="7391400" cy="2213842"/>
          </a:xfrm>
        </p:spPr>
        <p:txBody>
          <a:bodyPr/>
          <a:lstStyle/>
          <a:p>
            <a:pPr marL="347345" marR="0">
              <a:spcBef>
                <a:spcPts val="0"/>
              </a:spcBef>
              <a:spcAft>
                <a:spcPts val="600"/>
              </a:spcAft>
              <a:tabLst>
                <a:tab pos="1371600" algn="l"/>
              </a:tabLst>
            </a:pP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mortality_group.query</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600" b="1" dirty="0" err="1">
                <a:effectLst/>
                <a:latin typeface="Consolas" panose="020B0609020204030204" pitchFamily="49" charset="0"/>
                <a:ea typeface="Times New Roman" panose="02020603050405020304" pitchFamily="18" charset="0"/>
                <a:cs typeface="Times New Roman" panose="02020603050405020304" pitchFamily="18" charset="0"/>
              </a:rPr>
              <a:t>DeathRate</a:t>
            </a:r>
            <a:r>
              <a:rPr lang="en-US" sz="1600" b="1" dirty="0">
                <a:effectLst/>
                <a:latin typeface="Consolas" panose="020B0609020204030204" pitchFamily="49" charset="0"/>
                <a:ea typeface="Times New Roman" panose="02020603050405020304" pitchFamily="18" charset="0"/>
                <a:cs typeface="Times New Roman" panose="02020603050405020304" pitchFamily="18" charset="0"/>
              </a:rPr>
              <a:t> &gt; 500')</a:t>
            </a:r>
          </a:p>
          <a:p>
            <a:endParaRPr lang="en-US" sz="1600" dirty="0"/>
          </a:p>
        </p:txBody>
      </p:sp>
      <p:pic>
        <p:nvPicPr>
          <p:cNvPr id="10" name="Content Placeholder 9" descr="Refer to page 231 in textbook">
            <a:extLst>
              <a:ext uri="{FF2B5EF4-FFF2-40B4-BE49-F238E27FC236}">
                <a16:creationId xmlns:a16="http://schemas.microsoft.com/office/drawing/2014/main" id="{79B75947-F885-4F0B-8FF5-28C8A6E6FC6A}"/>
              </a:ext>
            </a:extLst>
          </p:cNvPr>
          <p:cNvPicPr>
            <a:picLocks noGrp="1" noChangeAspect="1"/>
          </p:cNvPicPr>
          <p:nvPr>
            <p:ph sz="quarter" idx="13"/>
          </p:nvPr>
        </p:nvPicPr>
        <p:blipFill>
          <a:blip r:embed="rId2"/>
          <a:stretch>
            <a:fillRect/>
          </a:stretch>
        </p:blipFill>
        <p:spPr>
          <a:xfrm>
            <a:off x="1249116" y="1648906"/>
            <a:ext cx="3259192" cy="789494"/>
          </a:xfrm>
          <a:prstGeom prst="rect">
            <a:avLst/>
          </a:prstGeom>
        </p:spPr>
      </p:pic>
      <p:sp>
        <p:nvSpPr>
          <p:cNvPr id="4" name="Date Placeholder 3">
            <a:extLst>
              <a:ext uri="{FF2B5EF4-FFF2-40B4-BE49-F238E27FC236}">
                <a16:creationId xmlns:a16="http://schemas.microsoft.com/office/drawing/2014/main" id="{1F795394-E051-45DA-B8D8-B1A73F67BD9D}"/>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7EB765EC-871A-4301-8733-7D83E2227F47}"/>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5EFA80B3-A9BA-4D2D-A6DA-B4C5F47BF3CD}"/>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C6, Slide </a:t>
            </a:r>
            <a:fld id="{BF5C1183-B085-4070-A402-C03A3F977D3D}" type="slidenum">
              <a:rPr lang="en-US" sz="900" smtClean="0">
                <a:solidFill>
                  <a:schemeClr val="bg1"/>
                </a:solidFill>
                <a:latin typeface="Arial Narrow" panose="020B0606020202030204" pitchFamily="34" charset="0"/>
              </a:rPr>
              <a:pPr algn="r">
                <a:defRPr/>
              </a:pPr>
              <a:t>66</a:t>
            </a:fld>
            <a:endParaRPr lang="en-US" sz="9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12742357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FEEA8-6DBC-44F5-8376-15B4177BEE9F}"/>
              </a:ext>
            </a:extLst>
          </p:cNvPr>
          <p:cNvSpPr>
            <a:spLocks noGrp="1"/>
          </p:cNvSpPr>
          <p:nvPr>
            <p:ph type="title"/>
          </p:nvPr>
        </p:nvSpPr>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Three ways to handle outliers that are valid</a:t>
            </a:r>
            <a:endParaRPr lang="en-US" sz="2400" b="1" dirty="0">
              <a:solidFill>
                <a:srgbClr val="000099"/>
              </a:solidFill>
              <a:effectLst/>
              <a:latin typeface="Montserrat Medium"/>
              <a:ea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1792FDE-B030-4DA7-9FC5-D7093DA54B95}"/>
              </a:ext>
            </a:extLst>
          </p:cNvPr>
          <p:cNvSpPr>
            <a:spLocks noGrp="1"/>
          </p:cNvSpPr>
          <p:nvPr>
            <p:ph type="body" sz="quarter" idx="13"/>
          </p:nvPr>
        </p:nvSpPr>
        <p:spPr/>
        <p:txBody>
          <a:bodyPr/>
          <a:lstStyle/>
          <a:p>
            <a:pPr marL="342900" marR="274320" lvl="0" indent="-342900">
              <a:spcBef>
                <a:spcPts val="0"/>
              </a:spcBef>
              <a:spcAft>
                <a:spcPts val="600"/>
              </a:spcAft>
              <a:buFont typeface="Symbol" panose="05050102010706020507" pitchFamily="18" charset="2"/>
              <a:buChar char=""/>
            </a:pPr>
            <a:r>
              <a:rPr lang="en-US" sz="2000" spc="-10" dirty="0">
                <a:effectLst/>
                <a:latin typeface="Times New Roman" panose="02020603050405020304" pitchFamily="18" charset="0"/>
                <a:ea typeface="Times New Roman" panose="02020603050405020304" pitchFamily="18" charset="0"/>
              </a:rPr>
              <a:t>Drop the outliers.</a:t>
            </a:r>
          </a:p>
          <a:p>
            <a:pPr marL="342900" marR="274320" lvl="0" indent="-342900">
              <a:spcBef>
                <a:spcPts val="0"/>
              </a:spcBef>
              <a:spcAft>
                <a:spcPts val="600"/>
              </a:spcAft>
              <a:buFont typeface="Symbol" panose="05050102010706020507" pitchFamily="18" charset="2"/>
              <a:buChar char=""/>
            </a:pPr>
            <a:r>
              <a:rPr lang="en-US" sz="2000" spc="-10" dirty="0">
                <a:effectLst/>
                <a:latin typeface="Times New Roman" panose="02020603050405020304" pitchFamily="18" charset="0"/>
                <a:ea typeface="Times New Roman" panose="02020603050405020304" pitchFamily="18" charset="0"/>
              </a:rPr>
              <a:t>Cap the outliers at values that won’t skew the results.</a:t>
            </a:r>
          </a:p>
          <a:p>
            <a:pPr marL="342900" marR="274320" lvl="0" indent="-342900">
              <a:spcBef>
                <a:spcPts val="0"/>
              </a:spcBef>
              <a:spcAft>
                <a:spcPts val="600"/>
              </a:spcAft>
              <a:buFont typeface="Symbol" panose="05050102010706020507" pitchFamily="18" charset="2"/>
              <a:buChar char=""/>
            </a:pPr>
            <a:r>
              <a:rPr lang="en-US" sz="2000" spc="-10" dirty="0">
                <a:effectLst/>
                <a:latin typeface="Times New Roman" panose="02020603050405020304" pitchFamily="18" charset="0"/>
                <a:ea typeface="Times New Roman" panose="02020603050405020304" pitchFamily="18" charset="0"/>
              </a:rPr>
              <a:t>Assign new values to the outliers like the mean of the column or a linear interpolation.</a:t>
            </a:r>
          </a:p>
          <a:p>
            <a:endParaRPr lang="en-US" dirty="0"/>
          </a:p>
        </p:txBody>
      </p:sp>
      <p:sp>
        <p:nvSpPr>
          <p:cNvPr id="4" name="Date Placeholder 3">
            <a:extLst>
              <a:ext uri="{FF2B5EF4-FFF2-40B4-BE49-F238E27FC236}">
                <a16:creationId xmlns:a16="http://schemas.microsoft.com/office/drawing/2014/main" id="{D2F84790-9EE0-4C5A-8279-2D1289B0306D}"/>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94D0C0AB-49A0-4B8D-AE70-DC5B81EA7C2A}"/>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6A521142-C17B-4653-9CF3-972FEF74D147}"/>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67</a:t>
            </a:fld>
            <a:endParaRPr lang="en-US" dirty="0">
              <a:solidFill>
                <a:schemeClr val="bg1"/>
              </a:solidFill>
            </a:endParaRPr>
          </a:p>
        </p:txBody>
      </p:sp>
    </p:spTree>
    <p:extLst>
      <p:ext uri="{BB962C8B-B14F-4D97-AF65-F5344CB8AC3E}">
        <p14:creationId xmlns:p14="http://schemas.microsoft.com/office/powerpoint/2010/main" val="382222981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35E54-5DBC-4D7C-8C26-DB0FE6326BCD}"/>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drop the rows for the outliers</a:t>
            </a:r>
            <a:endParaRPr lang="en-US" dirty="0"/>
          </a:p>
        </p:txBody>
      </p:sp>
      <p:sp>
        <p:nvSpPr>
          <p:cNvPr id="3" name="Text Placeholder 2">
            <a:extLst>
              <a:ext uri="{FF2B5EF4-FFF2-40B4-BE49-F238E27FC236}">
                <a16:creationId xmlns:a16="http://schemas.microsoft.com/office/drawing/2014/main" id="{B794FDB6-9AF5-412E-84B4-0F3E7289E005}"/>
              </a:ext>
            </a:extLst>
          </p:cNvPr>
          <p:cNvSpPr>
            <a:spLocks noGrp="1"/>
          </p:cNvSpPr>
          <p:nvPr>
            <p:ph type="body" sz="quarter" idx="13"/>
          </p:nvPr>
        </p:nvSpPr>
        <p:spPr>
          <a:xfrm>
            <a:off x="838200" y="1066800"/>
            <a:ext cx="7467600" cy="4876800"/>
          </a:xfrm>
        </p:spPr>
        <p:txBody>
          <a:bodyPr/>
          <a:lstStyle/>
          <a:p>
            <a:pPr marL="347345" marR="0">
              <a:spcBef>
                <a:spcPts val="0"/>
              </a:spcBef>
              <a:spcAft>
                <a:spcPts val="0"/>
              </a:spcAft>
              <a:tabLst>
                <a:tab pos="1371600" algn="l"/>
              </a:tabLst>
            </a:pP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mortality_group</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mortality_group.query</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DeathRate</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&lt;= 500')</a:t>
            </a:r>
          </a:p>
          <a:p>
            <a:pPr marL="0" marR="0">
              <a:spcBef>
                <a:spcPts val="150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cap the values of the outliers at 450</a:t>
            </a:r>
            <a:endParaRPr lang="en-US" sz="2400" b="1" dirty="0">
              <a:solidFill>
                <a:srgbClr val="000099"/>
              </a:solidFill>
              <a:effectLst/>
              <a:latin typeface="Montserrat Medium"/>
              <a:ea typeface="Times New Roman" panose="02020603050405020304" pitchFamily="18" charset="0"/>
              <a:cs typeface="Times New Roman" panose="02020603050405020304" pitchFamily="18" charset="0"/>
            </a:endParaRPr>
          </a:p>
          <a:p>
            <a:pPr marL="347345" marR="0">
              <a:spcBef>
                <a:spcPts val="0"/>
              </a:spcBef>
              <a:spcAft>
                <a:spcPts val="0"/>
              </a:spcAft>
              <a:tabLst>
                <a:tab pos="1371600" algn="l"/>
              </a:tabLst>
            </a:pP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mortality_group.loc</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mortality_group.DeathRate</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&gt; 500,'DeathRate'] = 450</a:t>
            </a:r>
          </a:p>
          <a:p>
            <a:endParaRPr lang="en-US" sz="1400" dirty="0"/>
          </a:p>
        </p:txBody>
      </p:sp>
      <p:sp>
        <p:nvSpPr>
          <p:cNvPr id="4" name="Date Placeholder 3">
            <a:extLst>
              <a:ext uri="{FF2B5EF4-FFF2-40B4-BE49-F238E27FC236}">
                <a16:creationId xmlns:a16="http://schemas.microsoft.com/office/drawing/2014/main" id="{AB74A89A-DB8D-45FE-ADDF-A7B1C363DB2E}"/>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012091A4-FB7B-4AE9-BAB1-9FD0E7E338ED}"/>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D6D3202B-0C33-473B-B18D-30D36CEB8A03}"/>
              </a:ext>
            </a:extLst>
          </p:cNvPr>
          <p:cNvSpPr>
            <a:spLocks noGrp="1"/>
          </p:cNvSpPr>
          <p:nvPr>
            <p:ph type="sldNum" sz="quarter" idx="12"/>
          </p:nvPr>
        </p:nvSpPr>
        <p:spPr/>
        <p:txBody>
          <a:bodyPr/>
          <a:lstStyle/>
          <a:p>
            <a:pPr algn="l">
              <a:defRPr/>
            </a:pPr>
            <a:endParaRPr lang="en-US" sz="1400">
              <a:latin typeface="Times New Roman"/>
            </a:endParaRPr>
          </a:p>
          <a:p>
            <a:pPr>
              <a:defRPr/>
            </a:pPr>
            <a:r>
              <a:rPr lang="en-US">
                <a:solidFill>
                  <a:schemeClr val="bg1"/>
                </a:solidFill>
              </a:rPr>
              <a:t>C6, Slide </a:t>
            </a:r>
            <a:fld id="{BF5C1183-B085-4070-A402-C03A3F977D3D}" type="slidenum">
              <a:rPr lang="en-US" smtClean="0">
                <a:solidFill>
                  <a:schemeClr val="bg1"/>
                </a:solidFill>
              </a:rPr>
              <a:pPr>
                <a:defRPr/>
              </a:pPr>
              <a:t>68</a:t>
            </a:fld>
            <a:endParaRPr lang="en-US" dirty="0">
              <a:solidFill>
                <a:schemeClr val="bg1"/>
              </a:solidFill>
            </a:endParaRPr>
          </a:p>
        </p:txBody>
      </p:sp>
    </p:spTree>
    <p:extLst>
      <p:ext uri="{BB962C8B-B14F-4D97-AF65-F5344CB8AC3E}">
        <p14:creationId xmlns:p14="http://schemas.microsoft.com/office/powerpoint/2010/main" val="12142460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466A315-4A69-4432-B3DD-81C3F5435EEE}"/>
              </a:ext>
            </a:extLst>
          </p:cNvPr>
          <p:cNvSpPr>
            <a:spLocks noGrp="1"/>
          </p:cNvSpPr>
          <p:nvPr>
            <p:ph type="title"/>
          </p:nvPr>
        </p:nvSpPr>
        <p:spPr>
          <a:xfrm>
            <a:off x="914400" y="440323"/>
            <a:ext cx="7315200" cy="738664"/>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assign the mean of the column </a:t>
            </a:r>
            <a:b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b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to the outliers</a:t>
            </a:r>
            <a:endParaRPr lang="en-US" dirty="0"/>
          </a:p>
        </p:txBody>
      </p:sp>
      <p:sp>
        <p:nvSpPr>
          <p:cNvPr id="9" name="Text Placeholder 8">
            <a:extLst>
              <a:ext uri="{FF2B5EF4-FFF2-40B4-BE49-F238E27FC236}">
                <a16:creationId xmlns:a16="http://schemas.microsoft.com/office/drawing/2014/main" id="{0004432C-A687-41E6-B115-DC7180FA7DA8}"/>
              </a:ext>
            </a:extLst>
          </p:cNvPr>
          <p:cNvSpPr>
            <a:spLocks noGrp="1"/>
          </p:cNvSpPr>
          <p:nvPr>
            <p:ph type="body" sz="quarter" idx="15"/>
          </p:nvPr>
        </p:nvSpPr>
        <p:spPr>
          <a:xfrm>
            <a:off x="812800" y="1215158"/>
            <a:ext cx="7391400" cy="2213842"/>
          </a:xfrm>
        </p:spPr>
        <p:txBody>
          <a:bodyPr/>
          <a:lstStyle/>
          <a:p>
            <a:pPr marL="347345" marR="0">
              <a:spcBef>
                <a:spcPts val="0"/>
              </a:spcBef>
              <a:spcAft>
                <a:spcPts val="0"/>
              </a:spcAft>
              <a:tabLst>
                <a:tab pos="1371600" algn="l"/>
              </a:tabLst>
            </a:pP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mortality_group.loc</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mortality_group.DeathRate</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&gt; 500,'DeathRate'] \</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mortality_group.DeathRate.mean</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0"/>
              </a:spcAft>
              <a:tabLst>
                <a:tab pos="1371600" algn="l"/>
              </a:tabLst>
            </a:pP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mortality_group.plot</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(x='Year', y='</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DeathRate</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p>
          <a:p>
            <a:endParaRPr lang="en-US" sz="1400" dirty="0"/>
          </a:p>
        </p:txBody>
      </p:sp>
      <p:pic>
        <p:nvPicPr>
          <p:cNvPr id="10" name="Content Placeholder 9" descr="Refer to page 233 in textbook">
            <a:extLst>
              <a:ext uri="{FF2B5EF4-FFF2-40B4-BE49-F238E27FC236}">
                <a16:creationId xmlns:a16="http://schemas.microsoft.com/office/drawing/2014/main" id="{CD97CE47-1B1B-4575-9DCB-E67B2632F2B8}"/>
              </a:ext>
            </a:extLst>
          </p:cNvPr>
          <p:cNvPicPr>
            <a:picLocks noGrp="1" noChangeAspect="1"/>
          </p:cNvPicPr>
          <p:nvPr>
            <p:ph sz="quarter" idx="13"/>
          </p:nvPr>
        </p:nvPicPr>
        <p:blipFill>
          <a:blip r:embed="rId2"/>
          <a:stretch>
            <a:fillRect/>
          </a:stretch>
        </p:blipFill>
        <p:spPr>
          <a:xfrm>
            <a:off x="1262742" y="1981199"/>
            <a:ext cx="5296024" cy="3661643"/>
          </a:xfrm>
          <a:prstGeom prst="rect">
            <a:avLst/>
          </a:prstGeom>
        </p:spPr>
      </p:pic>
      <p:sp>
        <p:nvSpPr>
          <p:cNvPr id="4" name="Date Placeholder 3">
            <a:extLst>
              <a:ext uri="{FF2B5EF4-FFF2-40B4-BE49-F238E27FC236}">
                <a16:creationId xmlns:a16="http://schemas.microsoft.com/office/drawing/2014/main" id="{C5BD6094-8F54-459E-A6AE-C28898FA7570}"/>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702519DB-F46D-4323-9A61-EC25246E2FAD}"/>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324CEE9B-A3BC-47D2-9039-EBFCEA00E186}"/>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C6, Slide </a:t>
            </a:r>
            <a:fld id="{BF5C1183-B085-4070-A402-C03A3F977D3D}" type="slidenum">
              <a:rPr lang="en-US" sz="900" smtClean="0">
                <a:solidFill>
                  <a:schemeClr val="bg1"/>
                </a:solidFill>
                <a:latin typeface="Arial Narrow" panose="020B0606020202030204" pitchFamily="34" charset="0"/>
              </a:rPr>
              <a:pPr algn="r">
                <a:defRPr/>
              </a:pPr>
              <a:t>69</a:t>
            </a:fld>
            <a:endParaRPr lang="en-US" sz="9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23903269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CC67D4E-8406-4F71-A103-A8FEC6FFB0D9}"/>
              </a:ext>
            </a:extLst>
          </p:cNvPr>
          <p:cNvSpPr>
            <a:spLocks noGrp="1"/>
          </p:cNvSpPr>
          <p:nvPr>
            <p:ph type="title"/>
          </p:nvPr>
        </p:nvSpPr>
        <p:spPr>
          <a:xfrm>
            <a:off x="914400" y="624989"/>
            <a:ext cx="7315200" cy="369332"/>
          </a:xfrm>
        </p:spPr>
        <p:txBody>
          <a:bodyPr/>
          <a:lstStyle/>
          <a:p>
            <a:pPr marL="0" marR="0">
              <a:spcBef>
                <a:spcPts val="0"/>
              </a:spcBef>
              <a:spcAft>
                <a:spcPts val="600"/>
              </a:spcAft>
              <a:tabLst>
                <a:tab pos="1371600" algn="l"/>
              </a:tabLst>
            </a:pPr>
            <a:r>
              <a:rPr lang="en-US" sz="2400" b="1" dirty="0">
                <a:solidFill>
                  <a:srgbClr val="000099"/>
                </a:solidFill>
                <a:effectLst/>
                <a:latin typeface="Arial" panose="020B0604020202020204" pitchFamily="34" charset="0"/>
                <a:ea typeface="Times New Roman" panose="02020603050405020304" pitchFamily="18" charset="0"/>
                <a:cs typeface="Times New Roman" panose="02020603050405020304" pitchFamily="18" charset="0"/>
              </a:rPr>
              <a:t>How to use interpolation to smooth the outliers</a:t>
            </a:r>
            <a:endParaRPr lang="en-US" dirty="0"/>
          </a:p>
        </p:txBody>
      </p:sp>
      <p:sp>
        <p:nvSpPr>
          <p:cNvPr id="9" name="Text Placeholder 8">
            <a:extLst>
              <a:ext uri="{FF2B5EF4-FFF2-40B4-BE49-F238E27FC236}">
                <a16:creationId xmlns:a16="http://schemas.microsoft.com/office/drawing/2014/main" id="{CB7D0FD0-C4DF-4AF6-84E5-9FFB9B780050}"/>
              </a:ext>
            </a:extLst>
          </p:cNvPr>
          <p:cNvSpPr>
            <a:spLocks noGrp="1"/>
          </p:cNvSpPr>
          <p:nvPr>
            <p:ph type="body" sz="quarter" idx="15"/>
          </p:nvPr>
        </p:nvSpPr>
        <p:spPr/>
        <p:txBody>
          <a:bodyPr/>
          <a:lstStyle/>
          <a:p>
            <a:pPr marL="347345" marR="0">
              <a:spcBef>
                <a:spcPts val="0"/>
              </a:spcBef>
              <a:spcAft>
                <a:spcPts val="0"/>
              </a:spcAft>
              <a:tabLst>
                <a:tab pos="1371600" algn="l"/>
              </a:tabLst>
            </a:pP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mortality_group.loc</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mortality_group.Year.isin</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([1917,1918,1919,1920]),</a:t>
            </a:r>
          </a:p>
          <a:p>
            <a:pPr marL="347345" marR="0">
              <a:spcBef>
                <a:spcPts val="0"/>
              </a:spcBef>
              <a:spcAft>
                <a:spcPts val="0"/>
              </a:spcAft>
              <a:tabLst>
                <a:tab pos="1371600" algn="l"/>
              </a:tabLst>
            </a:pP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DeathRate</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 None</a:t>
            </a:r>
          </a:p>
          <a:p>
            <a:pPr marL="347345" marR="0">
              <a:spcBef>
                <a:spcPts val="0"/>
              </a:spcBef>
              <a:spcAft>
                <a:spcPts val="0"/>
              </a:spcAft>
              <a:tabLst>
                <a:tab pos="1371600" algn="l"/>
              </a:tabLst>
            </a:pP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mortality_group</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 = </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mortality_group.interpolate</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p>
          <a:p>
            <a:pPr marL="347345" marR="0">
              <a:spcBef>
                <a:spcPts val="0"/>
              </a:spcBef>
              <a:spcAft>
                <a:spcPts val="600"/>
              </a:spcAft>
              <a:tabLst>
                <a:tab pos="1371600" algn="l"/>
              </a:tabLst>
            </a:pP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mortality_group.plot</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(x='Year', y='</a:t>
            </a:r>
            <a:r>
              <a:rPr lang="en-US" sz="1400" b="1" dirty="0" err="1">
                <a:effectLst/>
                <a:latin typeface="Consolas" panose="020B0609020204030204" pitchFamily="49" charset="0"/>
                <a:ea typeface="Times New Roman" panose="02020603050405020304" pitchFamily="18" charset="0"/>
                <a:cs typeface="Times New Roman" panose="02020603050405020304" pitchFamily="18" charset="0"/>
              </a:rPr>
              <a:t>DeathRate</a:t>
            </a:r>
            <a:r>
              <a:rPr lang="en-US" sz="1400" b="1" dirty="0">
                <a:effectLst/>
                <a:latin typeface="Consolas" panose="020B0609020204030204" pitchFamily="49" charset="0"/>
                <a:ea typeface="Times New Roman" panose="02020603050405020304" pitchFamily="18" charset="0"/>
                <a:cs typeface="Times New Roman" panose="02020603050405020304" pitchFamily="18" charset="0"/>
              </a:rPr>
              <a:t>')</a:t>
            </a:r>
          </a:p>
          <a:p>
            <a:endParaRPr lang="en-US" sz="1400" dirty="0"/>
          </a:p>
        </p:txBody>
      </p:sp>
      <p:pic>
        <p:nvPicPr>
          <p:cNvPr id="10" name="Content Placeholder 9" descr="Refer to page 233 in textbook">
            <a:extLst>
              <a:ext uri="{FF2B5EF4-FFF2-40B4-BE49-F238E27FC236}">
                <a16:creationId xmlns:a16="http://schemas.microsoft.com/office/drawing/2014/main" id="{0425C69C-30D0-4EA8-90DB-A345B0DD7987}"/>
              </a:ext>
            </a:extLst>
          </p:cNvPr>
          <p:cNvPicPr>
            <a:picLocks noGrp="1" noChangeAspect="1"/>
          </p:cNvPicPr>
          <p:nvPr>
            <p:ph sz="quarter" idx="13"/>
          </p:nvPr>
        </p:nvPicPr>
        <p:blipFill>
          <a:blip r:embed="rId2"/>
          <a:stretch>
            <a:fillRect/>
          </a:stretch>
        </p:blipFill>
        <p:spPr>
          <a:xfrm>
            <a:off x="1251855" y="2057399"/>
            <a:ext cx="5296659" cy="3657601"/>
          </a:xfrm>
          <a:prstGeom prst="rect">
            <a:avLst/>
          </a:prstGeom>
        </p:spPr>
      </p:pic>
      <p:sp>
        <p:nvSpPr>
          <p:cNvPr id="4" name="Date Placeholder 3">
            <a:extLst>
              <a:ext uri="{FF2B5EF4-FFF2-40B4-BE49-F238E27FC236}">
                <a16:creationId xmlns:a16="http://schemas.microsoft.com/office/drawing/2014/main" id="{2B070668-8567-40AA-BD3D-287C062CF1B8}"/>
              </a:ext>
            </a:extLst>
          </p:cNvPr>
          <p:cNvSpPr>
            <a:spLocks noGrp="1"/>
          </p:cNvSpPr>
          <p:nvPr>
            <p:ph type="dt" sz="half" idx="10"/>
          </p:nvPr>
        </p:nvSpPr>
        <p:spPr/>
        <p:txBody>
          <a:bodyPr/>
          <a:lstStyle/>
          <a:p>
            <a:pPr>
              <a:defRPr/>
            </a:pPr>
            <a:r>
              <a:rPr lang="en-US" dirty="0" err="1"/>
              <a:t>Murach's</a:t>
            </a:r>
            <a:r>
              <a:rPr lang="en-US" dirty="0"/>
              <a:t> Python for Data Science</a:t>
            </a:r>
          </a:p>
        </p:txBody>
      </p:sp>
      <p:sp>
        <p:nvSpPr>
          <p:cNvPr id="5" name="Footer Placeholder 4">
            <a:extLst>
              <a:ext uri="{FF2B5EF4-FFF2-40B4-BE49-F238E27FC236}">
                <a16:creationId xmlns:a16="http://schemas.microsoft.com/office/drawing/2014/main" id="{E2C77223-510B-4F16-9665-E74D4C764AF1}"/>
              </a:ext>
            </a:extLst>
          </p:cNvPr>
          <p:cNvSpPr>
            <a:spLocks noGrp="1"/>
          </p:cNvSpPr>
          <p:nvPr>
            <p:ph type="ftr" sz="quarter" idx="11"/>
          </p:nvPr>
        </p:nvSpPr>
        <p:spPr/>
        <p:txBody>
          <a:bodyPr/>
          <a:lstStyle/>
          <a:p>
            <a:pPr>
              <a:defRPr/>
            </a:pPr>
            <a:r>
              <a:rPr lang="en-US"/>
              <a:t>© 2021, Mike Murach &amp; Associates, Inc.</a:t>
            </a:r>
            <a:endParaRPr lang="en-US" dirty="0"/>
          </a:p>
        </p:txBody>
      </p:sp>
      <p:sp>
        <p:nvSpPr>
          <p:cNvPr id="6" name="Slide Number Placeholder 5">
            <a:extLst>
              <a:ext uri="{FF2B5EF4-FFF2-40B4-BE49-F238E27FC236}">
                <a16:creationId xmlns:a16="http://schemas.microsoft.com/office/drawing/2014/main" id="{227286E3-10C8-4A10-82EB-5A0FD219777B}"/>
              </a:ext>
            </a:extLst>
          </p:cNvPr>
          <p:cNvSpPr>
            <a:spLocks noGrp="1"/>
          </p:cNvSpPr>
          <p:nvPr>
            <p:ph type="sldNum" sz="quarter" idx="12"/>
          </p:nvPr>
        </p:nvSpPr>
        <p:spPr/>
        <p:txBody>
          <a:bodyPr/>
          <a:lstStyle/>
          <a:p>
            <a:pPr algn="l">
              <a:defRPr/>
            </a:pPr>
            <a:endParaRPr lang="en-US" sz="1400" dirty="0">
              <a:latin typeface="Times New Roman"/>
            </a:endParaRPr>
          </a:p>
          <a:p>
            <a:pPr algn="r">
              <a:defRPr/>
            </a:pPr>
            <a:r>
              <a:rPr lang="en-US" sz="900" dirty="0">
                <a:solidFill>
                  <a:schemeClr val="bg1"/>
                </a:solidFill>
                <a:latin typeface="Arial Narrow" panose="020B0606020202030204" pitchFamily="34" charset="0"/>
              </a:rPr>
              <a:t>C6, Slide </a:t>
            </a:r>
            <a:fld id="{BF5C1183-B085-4070-A402-C03A3F977D3D}" type="slidenum">
              <a:rPr lang="en-US" sz="900" smtClean="0">
                <a:solidFill>
                  <a:schemeClr val="bg1"/>
                </a:solidFill>
                <a:latin typeface="Arial Narrow" panose="020B0606020202030204" pitchFamily="34" charset="0"/>
              </a:rPr>
              <a:pPr algn="r">
                <a:defRPr/>
              </a:pPr>
              <a:t>70</a:t>
            </a:fld>
            <a:endParaRPr lang="en-US" sz="9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2900977879"/>
      </p:ext>
    </p:extLst>
  </p:cSld>
  <p:clrMapOvr>
    <a:masterClrMapping/>
  </p:clrMapOvr>
</p:sld>
</file>

<file path=ppt/theme/theme1.xml><?xml version="1.0" encoding="utf-8"?>
<a:theme xmlns:a="http://schemas.openxmlformats.org/drawingml/2006/main" name="Master slides_with_titles_logo">
  <a:themeElements>
    <a:clrScheme name="Master slide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bg1"/>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Master slides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Master slides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Master slides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Master slides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aster slides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Master slides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Master slides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MMA accessible slides.potx" id="{611E833D-05D0-4A5D-A09D-85733BEA6AAA}" vid="{7CAD4F6C-8ECE-45F7-A39E-93FAD23107B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MMA accessible slides</Template>
  <TotalTime>2997</TotalTime>
  <Words>4760</Words>
  <Application>Microsoft Office PowerPoint</Application>
  <PresentationFormat>On-screen Show (4:3)</PresentationFormat>
  <Paragraphs>729</Paragraphs>
  <Slides>70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70</vt:i4>
      </vt:variant>
    </vt:vector>
  </HeadingPairs>
  <TitlesOfParts>
    <vt:vector size="78" baseType="lpstr">
      <vt:lpstr>Arial</vt:lpstr>
      <vt:lpstr>Arial Narrow</vt:lpstr>
      <vt:lpstr>Consolas</vt:lpstr>
      <vt:lpstr>Courier New</vt:lpstr>
      <vt:lpstr>Montserrat Medium</vt:lpstr>
      <vt:lpstr>Symbol</vt:lpstr>
      <vt:lpstr>Times New Roman</vt:lpstr>
      <vt:lpstr>Master slides_with_titles_logo</vt:lpstr>
      <vt:lpstr>Chapter 6</vt:lpstr>
      <vt:lpstr>Objectives</vt:lpstr>
      <vt:lpstr>Objectives (continued)</vt:lpstr>
      <vt:lpstr>A general plan for cleaning a DataFrame</vt:lpstr>
      <vt:lpstr>A general plan for cleaning a DataFrame (cont.)</vt:lpstr>
      <vt:lpstr>Documentation that identifies  some data problems in the Jobs data</vt:lpstr>
      <vt:lpstr>Three parameters of the info() method</vt:lpstr>
      <vt:lpstr>Partial results for the info() method  when run on the Polls data </vt:lpstr>
      <vt:lpstr>Partial results for the info() method  when run on the Jobs data</vt:lpstr>
      <vt:lpstr>What you should be looking for</vt:lpstr>
      <vt:lpstr>The nunique() and unique() methods</vt:lpstr>
      <vt:lpstr>Partial results for the nunique() method  when run on the Polls data</vt:lpstr>
      <vt:lpstr>Partial results for a unique() method  that gets the unique values</vt:lpstr>
      <vt:lpstr>The value_counts() method</vt:lpstr>
      <vt:lpstr>How to use the value_counts() method</vt:lpstr>
      <vt:lpstr>How to use the normalize parameter</vt:lpstr>
      <vt:lpstr>How to use the dropna parameter</vt:lpstr>
      <vt:lpstr>How to use the value_counts() method  with multiple columns</vt:lpstr>
      <vt:lpstr>How to drop rows based on conditions</vt:lpstr>
      <vt:lpstr>The duplicated() method</vt:lpstr>
      <vt:lpstr>The drop_duplicates() method</vt:lpstr>
      <vt:lpstr>How to drop duplicate rows</vt:lpstr>
      <vt:lpstr>The drop() method</vt:lpstr>
      <vt:lpstr>How the nunique() method helps you identify columns that you may want to drop</vt:lpstr>
      <vt:lpstr>How to use the drop() method to drop columns</vt:lpstr>
      <vt:lpstr>The rename() method for columns</vt:lpstr>
      <vt:lpstr>How to rename columns with the rename() method</vt:lpstr>
      <vt:lpstr>How to rename columns  with the Python replace() method</vt:lpstr>
      <vt:lpstr>The isnull(), notnull(), and any() methods</vt:lpstr>
      <vt:lpstr>A ten-row DataFrame named mortality_data  that has some missing values</vt:lpstr>
      <vt:lpstr>How to display the count of the missing values </vt:lpstr>
      <vt:lpstr>How to display all rows that contain NA values</vt:lpstr>
      <vt:lpstr>How to display all rows with NA values  in the DeathRate column</vt:lpstr>
      <vt:lpstr>The dropna() method</vt:lpstr>
      <vt:lpstr>How to drop all rows that contain an NA value</vt:lpstr>
      <vt:lpstr>How to drop only the rows that have two  or more NA values</vt:lpstr>
      <vt:lpstr>The ffill() method</vt:lpstr>
      <vt:lpstr>How to forward fill NA values  with a limit of 2 consecutive fills</vt:lpstr>
      <vt:lpstr>The interpolate() method</vt:lpstr>
      <vt:lpstr>The data types that Pandas applies  to imported columns</vt:lpstr>
      <vt:lpstr>The select_dtypes() method of a DataFrame</vt:lpstr>
      <vt:lpstr>Polls data: Dates stored as objects</vt:lpstr>
      <vt:lpstr>Jobs data: Numeric and Boolean values  stored as objects</vt:lpstr>
      <vt:lpstr>How Pandas applies data types  to imported columns</vt:lpstr>
      <vt:lpstr>The Pandas to_datetime() method</vt:lpstr>
      <vt:lpstr>Four of the date columns in the polls DataFrame</vt:lpstr>
      <vt:lpstr>A few of the formatting codes  for the Python strftime() method</vt:lpstr>
      <vt:lpstr>How to convert dates to datetime objects with specified formatting</vt:lpstr>
      <vt:lpstr>How to use the Python strftime() method  to format dates as strings</vt:lpstr>
      <vt:lpstr>The to_numeric() method</vt:lpstr>
      <vt:lpstr>How to convert columns with valid numeric strings to numeric data types</vt:lpstr>
      <vt:lpstr>How to coerce columns with invalid strings  into numeric data types</vt:lpstr>
      <vt:lpstr>The astype() method for converting data types</vt:lpstr>
      <vt:lpstr>The remove_unused_categories() method</vt:lpstr>
      <vt:lpstr>How to drop rows for specific categories</vt:lpstr>
      <vt:lpstr>How to drop rows for specific categories (cont.)</vt:lpstr>
      <vt:lpstr>The Pandas replace() method</vt:lpstr>
      <vt:lpstr>Documentation that identifies some data problems in the Jobs data</vt:lpstr>
      <vt:lpstr>How to replace * or ** values in a single column with NaN</vt:lpstr>
      <vt:lpstr>Some useful parameters of the read_csv() method</vt:lpstr>
      <vt:lpstr>How to parse object columns  that contain dates and times</vt:lpstr>
      <vt:lpstr>How to parse object columns  that contain dates and times (continued)</vt:lpstr>
      <vt:lpstr>The mortality data for the 15-19 age group</vt:lpstr>
      <vt:lpstr>How to use the describe() method to find outliers</vt:lpstr>
      <vt:lpstr>How to use the plot() method to find outliers</vt:lpstr>
      <vt:lpstr>How to review the outliers  in the DeathRate column</vt:lpstr>
      <vt:lpstr>Three ways to handle outliers that are valid</vt:lpstr>
      <vt:lpstr>How to drop the rows for the outliers</vt:lpstr>
      <vt:lpstr>How to assign the mean of the column  to the outliers</vt:lpstr>
      <vt:lpstr>How to use interpolation to smooth the outliers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Bethany Cabrera</dc:creator>
  <cp:lastModifiedBy>Joel Murach</cp:lastModifiedBy>
  <cp:revision>109</cp:revision>
  <cp:lastPrinted>2016-01-14T23:03:16Z</cp:lastPrinted>
  <dcterms:created xsi:type="dcterms:W3CDTF">2021-06-22T20:59:38Z</dcterms:created>
  <dcterms:modified xsi:type="dcterms:W3CDTF">2024-04-15T20:42:58Z</dcterms:modified>
</cp:coreProperties>
</file>