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9" r:id="rId1"/>
  </p:sldMasterIdLst>
  <p:notesMasterIdLst>
    <p:notesMasterId r:id="rId50"/>
  </p:notesMasterIdLst>
  <p:handoutMasterIdLst>
    <p:handoutMasterId r:id="rId51"/>
  </p:handoutMasterIdLst>
  <p:sldIdLst>
    <p:sldId id="256" r:id="rId2"/>
    <p:sldId id="325" r:id="rId3"/>
    <p:sldId id="326" r:id="rId4"/>
    <p:sldId id="327" r:id="rId5"/>
    <p:sldId id="328" r:id="rId6"/>
    <p:sldId id="329" r:id="rId7"/>
    <p:sldId id="330" r:id="rId8"/>
    <p:sldId id="331" r:id="rId9"/>
    <p:sldId id="332" r:id="rId10"/>
    <p:sldId id="333" r:id="rId11"/>
    <p:sldId id="334" r:id="rId12"/>
    <p:sldId id="335" r:id="rId13"/>
    <p:sldId id="336" r:id="rId14"/>
    <p:sldId id="337" r:id="rId15"/>
    <p:sldId id="338" r:id="rId16"/>
    <p:sldId id="339" r:id="rId17"/>
    <p:sldId id="340" r:id="rId18"/>
    <p:sldId id="341" r:id="rId19"/>
    <p:sldId id="342" r:id="rId20"/>
    <p:sldId id="343" r:id="rId21"/>
    <p:sldId id="344" r:id="rId22"/>
    <p:sldId id="345" r:id="rId23"/>
    <p:sldId id="346" r:id="rId24"/>
    <p:sldId id="347" r:id="rId25"/>
    <p:sldId id="348" r:id="rId26"/>
    <p:sldId id="349" r:id="rId27"/>
    <p:sldId id="373" r:id="rId28"/>
    <p:sldId id="350" r:id="rId29"/>
    <p:sldId id="351" r:id="rId30"/>
    <p:sldId id="374" r:id="rId31"/>
    <p:sldId id="352" r:id="rId32"/>
    <p:sldId id="353" r:id="rId33"/>
    <p:sldId id="355" r:id="rId34"/>
    <p:sldId id="356" r:id="rId35"/>
    <p:sldId id="357" r:id="rId36"/>
    <p:sldId id="358" r:id="rId37"/>
    <p:sldId id="359" r:id="rId38"/>
    <p:sldId id="360" r:id="rId39"/>
    <p:sldId id="361" r:id="rId40"/>
    <p:sldId id="362" r:id="rId41"/>
    <p:sldId id="363" r:id="rId42"/>
    <p:sldId id="364" r:id="rId43"/>
    <p:sldId id="365" r:id="rId44"/>
    <p:sldId id="366" r:id="rId45"/>
    <p:sldId id="367" r:id="rId46"/>
    <p:sldId id="368" r:id="rId47"/>
    <p:sldId id="369" r:id="rId48"/>
    <p:sldId id="370" r:id="rId49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3D87B7"/>
    <a:srgbClr val="20396D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0" autoAdjust="0"/>
    <p:restoredTop sz="86452" autoAdjust="0"/>
  </p:normalViewPr>
  <p:slideViewPr>
    <p:cSldViewPr>
      <p:cViewPr varScale="1">
        <p:scale>
          <a:sx n="118" d="100"/>
          <a:sy n="118" d="100"/>
        </p:scale>
        <p:origin x="30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4633A84-D730-4DB1-B585-7559B92CE5D8}" type="datetimeFigureOut">
              <a:rPr lang="en-US"/>
              <a:pPr>
                <a:defRPr/>
              </a:pPr>
              <a:t>7/10/2025</a:t>
            </a:fld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C669EC8-97E7-4C24-A864-1853E75085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857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56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720" y="4415790"/>
            <a:ext cx="514096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56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2C5A2EE-74B4-4329-B2EC-6DFE0575ED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556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numb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1143000"/>
            <a:ext cx="7772400" cy="553998"/>
          </a:xfrm>
        </p:spPr>
        <p:txBody>
          <a:bodyPr lIns="0" tIns="0" rIns="0" bIns="0" anchor="t" anchorCtr="0">
            <a:spAutoFit/>
          </a:bodyPr>
          <a:lstStyle>
            <a:lvl1pPr>
              <a:defRPr sz="3600" b="1" i="0" baseline="0">
                <a:solidFill>
                  <a:srgbClr val="000099"/>
                </a:solidFill>
              </a:defRPr>
            </a:lvl1pPr>
          </a:lstStyle>
          <a:p>
            <a:r>
              <a:rPr lang="en-US" dirty="0"/>
              <a:t>Chapter number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905000" y="2209800"/>
            <a:ext cx="5334000" cy="2971800"/>
          </a:xfrm>
        </p:spPr>
        <p:txBody>
          <a:bodyPr/>
          <a:lstStyle>
            <a:lvl1pPr marL="0" indent="0" algn="ctr">
              <a:buNone/>
              <a:defRPr sz="4800" b="1" baseline="0"/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90800" y="6248400"/>
            <a:ext cx="3962400" cy="457200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Programming (2nd Ed.)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20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48768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90800" y="6248400"/>
            <a:ext cx="3962400" cy="457200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Programming (2nd Ed.)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73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914400" y="1143000"/>
            <a:ext cx="7315200" cy="4800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90800" y="6248400"/>
            <a:ext cx="3962400" cy="457200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Programming (2nd Ed.)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222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27432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3892100"/>
            <a:ext cx="6934200" cy="2049956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90800" y="6248400"/>
            <a:ext cx="3962400" cy="457200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Programming (2nd Ed.)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11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Text_Consol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9906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1295400" y="2150899"/>
            <a:ext cx="6934200" cy="815635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838200" y="3347534"/>
            <a:ext cx="7391400" cy="149673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4982112"/>
            <a:ext cx="6934200" cy="885288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90800" y="6248400"/>
            <a:ext cx="3962400" cy="457200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Programming (2nd Ed.)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291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ol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1143000"/>
            <a:ext cx="6934200" cy="3200400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90800" y="6248400"/>
            <a:ext cx="3962400" cy="457200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Programming (2nd Ed.)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90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38200" y="3733800"/>
            <a:ext cx="7391400" cy="220979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202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730079"/>
            <a:ext cx="7391400" cy="457200"/>
          </a:xfrm>
        </p:spPr>
        <p:txBody>
          <a:bodyPr/>
          <a:lstStyle>
            <a:lvl1pPr marL="0" indent="0">
              <a:buNone/>
              <a:defRPr sz="2400" b="1">
                <a:solidFill>
                  <a:srgbClr val="000099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heading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 hasCustomPrompt="1"/>
          </p:nvPr>
        </p:nvSpPr>
        <p:spPr>
          <a:xfrm>
            <a:off x="914400" y="4267200"/>
            <a:ext cx="7315200" cy="1676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Object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147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22138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12800" y="3319598"/>
            <a:ext cx="7315200" cy="2438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097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17566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12800" y="2895600"/>
            <a:ext cx="7315200" cy="16334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812800" y="4605202"/>
            <a:ext cx="7391400" cy="1414598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24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gur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297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0" y="6172200"/>
            <a:ext cx="9144000" cy="685800"/>
          </a:xfrm>
          <a:prstGeom prst="rect">
            <a:avLst/>
          </a:prstGeom>
          <a:solidFill>
            <a:srgbClr val="20396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2"/>
          </p:nvPr>
        </p:nvSpPr>
        <p:spPr bwMode="auto">
          <a:xfrm>
            <a:off x="2743200" y="6248400"/>
            <a:ext cx="3657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800" b="1" i="1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 bwMode="auto">
          <a:xfrm>
            <a:off x="76200" y="6248400"/>
            <a:ext cx="27432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500">
                <a:solidFill>
                  <a:schemeClr val="bg1"/>
                </a:solidFill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900">
                <a:latin typeface="Arial Narrow" pitchFamily="34" charset="0"/>
              </a:defRPr>
            </a:lvl1pPr>
          </a:lstStyle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0" y="6397412"/>
            <a:ext cx="1228170" cy="2319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3" r:id="rId5"/>
    <p:sldLayoutId id="2147483681" r:id="rId6"/>
    <p:sldLayoutId id="2147483674" r:id="rId7"/>
    <p:sldLayoutId id="2147483676" r:id="rId8"/>
    <p:sldLayoutId id="2147483675" r:id="rId9"/>
    <p:sldLayoutId id="2147483684" r:id="rId10"/>
    <p:sldLayoutId id="2147483685" r:id="rId11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600200" y="2209800"/>
            <a:ext cx="5943600" cy="2971800"/>
          </a:xfrm>
        </p:spPr>
        <p:txBody>
          <a:bodyPr/>
          <a:lstStyle/>
          <a:p>
            <a:pPr>
              <a:spcBef>
                <a:spcPts val="24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write </a:t>
            </a:r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your first programs</a:t>
            </a:r>
          </a:p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A0B8EA-6E03-42B3-A2B1-506A2D98C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26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Python code for a Test Scores program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AC68EA8-96EE-4FCC-BFF5-8DAE5BE565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#!/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usr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/bin/env python3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counter = 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score_total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test_score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test_score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!= 999: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test_score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int(input("Enter test score: "))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if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test_score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&gt;= 0 and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test_score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&lt;= 100: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score_total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+=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test_score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counter += 1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average_score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round(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score_total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/ counter)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print("Total Score: " + str(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score_total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print("Average Score: " + str(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average_score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endParaRPr lang="en-US" sz="16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219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indentation error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DE6C7EC-CEE9-4C0F-9195-1887A6B52A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print("Total Score: " + str(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score_total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print("Average Score: " + str(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average_score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endParaRPr lang="en-US" sz="16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419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24988"/>
            <a:ext cx="7315200" cy="670411"/>
          </a:xfrm>
        </p:spPr>
        <p:txBody>
          <a:bodyPr/>
          <a:lstStyle/>
          <a:p>
            <a:r>
              <a:rPr lang="en-US" dirty="0"/>
              <a:t>Two ways to continue one statement over two </a:t>
            </a:r>
            <a:br>
              <a:rPr lang="en-US" dirty="0"/>
            </a:br>
            <a:r>
              <a:rPr lang="en-US" dirty="0"/>
              <a:t>or more lines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32DD5C-ADEC-4170-8C8A-F1D3AA0A38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447800"/>
            <a:ext cx="7391400" cy="4495800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fr-FR" b="1" spc="-10" dirty="0" err="1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Implicit</a:t>
            </a:r>
            <a:r>
              <a:rPr lang="fr-FR" b="1" spc="-10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continuation</a:t>
            </a:r>
            <a:endParaRPr lang="en-US" b="1" spc="-10" dirty="0">
              <a:solidFill>
                <a:srgbClr val="000099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fr-FR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fr-FR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("Total Score: " + </a:t>
            </a:r>
            <a:r>
              <a:rPr lang="fr-FR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fr-FR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score_total</a:t>
            </a:r>
            <a:r>
              <a:rPr lang="fr-FR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fr-FR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+ "\</a:t>
            </a:r>
            <a:r>
              <a:rPr lang="fr-FR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nAverage</a:t>
            </a:r>
            <a:r>
              <a:rPr lang="fr-FR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Score: " + </a:t>
            </a:r>
            <a:r>
              <a:rPr lang="fr-FR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fr-FR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average_score</a:t>
            </a:r>
            <a:r>
              <a:rPr lang="fr-FR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fr-FR" b="1" spc="-10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Explicit continuation</a:t>
            </a:r>
            <a:endParaRPr lang="en-US" b="1" spc="-10" dirty="0">
              <a:solidFill>
                <a:srgbClr val="000099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print("Total Score: " + str(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score_total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\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+ "\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nAverage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Score: " + str(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average_score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294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rules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7AD0A0F-3C7B-49D3-BCB7-EC76091BD6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Python relies on proper indentation. Incorrect indentation causes an error.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 standard indentation is four spaces.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With </a:t>
            </a:r>
            <a:r>
              <a:rPr lang="en-US" i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implicit continuation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you can divide statements after parentheses, brackets, and braces, and before or after operators like plus or minus signs. 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With </a:t>
            </a:r>
            <a:r>
              <a:rPr lang="en-US" i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explicit continuation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you can use the </a:t>
            </a:r>
            <a:r>
              <a:rPr lang="en-US" sz="1600" b="1" spc="-1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\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character to divide statements anywhere in a line.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5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5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Test Scores program with comments (part 1)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AF1786-2378-4255-8C1F-1D47E80278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5438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#!/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usr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/bin/env python3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This is a tutorial program that illustrates the use of 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the while and if statements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initialize variables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counter = 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score_total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test_score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get scores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test_score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!= 999: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test_score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int(input("Enter test score: "))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if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test_score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&gt;= 0 and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test_score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&lt;= 100: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score_total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+=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test_score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add score to total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counter += 1                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add 1 to counter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6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032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Test Scores program with comments (part 2)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E527792-4018-4317-90A7-9218985D8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5438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calculate average score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average_score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score_total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/ counter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average_score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round(</a:t>
            </a:r>
            <a:r>
              <a:rPr lang="en-US" sz="1600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average_score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average_score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round(      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implicit continuation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score_total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/ counter) 	 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same results as 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commented out statements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display the result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print("======================")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print("Total Score: " + str(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score_total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implicit cont.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+ "\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nAverage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Score: " + str(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average_score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endParaRPr lang="en-US" sz="16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7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567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Guidelines for using comments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E80B24E-C504-429F-8E1F-41F6BEA9C1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Use comments to describe portions of code that are hard to understand, but don’t overdo them.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Use comments to comment out (or disable) statements that you don’t want to test.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If you change the code that’s described by comments, change the comments too.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8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2812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syntax for calling any function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BA838A2-40B3-482A-ACE9-58B3F23A89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2971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function_name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</a:t>
            </a:r>
            <a:r>
              <a:rPr lang="en-US" sz="1600" b="1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arguments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print() function</a:t>
            </a: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lang="en-US" sz="1600" b="1" spc="-10" dirty="0">
                <a:latin typeface="Courier New" panose="02070309020205020404" pitchFamily="49" charset="0"/>
                <a:ea typeface="Times New Roman" panose="02020603050405020304" pitchFamily="18" charset="0"/>
              </a:rPr>
              <a:t>print([</a:t>
            </a:r>
            <a:r>
              <a:rPr lang="en-US" sz="1600" b="1" i="1" spc="-10" dirty="0">
                <a:latin typeface="Courier New" panose="02070309020205020404" pitchFamily="49" charset="0"/>
                <a:ea typeface="Times New Roman" panose="02020603050405020304" pitchFamily="18" charset="0"/>
              </a:rPr>
              <a:t>data</a:t>
            </a:r>
            <a:r>
              <a:rPr lang="en-US" sz="1600" b="1" spc="-10" dirty="0">
                <a:latin typeface="Courier New" panose="02070309020205020404" pitchFamily="49" charset="0"/>
                <a:ea typeface="Times New Roman" panose="02020603050405020304" pitchFamily="18" charset="0"/>
              </a:rPr>
              <a:t>])</a:t>
            </a:r>
            <a:endParaRPr lang="en-US" sz="1600" spc="-1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script with three statements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print("Hello out there!")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print("Goodbye!")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console after the program runs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CF6E4A-EB1C-45EA-BD4E-D7A8F8F11F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95400" y="4111079"/>
            <a:ext cx="5105400" cy="841922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Hello out there!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Goodbye!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9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172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Python data types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A5C0D40-6039-4A88-BF8A-31C1407DE5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4876800"/>
          </a:xfrm>
        </p:spPr>
        <p:txBody>
          <a:bodyPr/>
          <a:lstStyle/>
          <a:p>
            <a:pPr marL="3313113" indent="-3313113">
              <a:spcBef>
                <a:spcPts val="600"/>
              </a:spcBef>
              <a:spcAft>
                <a:spcPts val="600"/>
              </a:spcAft>
              <a:tabLst>
                <a:tab pos="1541463" algn="l"/>
              </a:tabLst>
            </a:pPr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type	Name	Examples</a:t>
            </a:r>
          </a:p>
          <a:p>
            <a:pPr marL="3313113" marR="0" indent="-3313113">
              <a:spcBef>
                <a:spcPts val="600"/>
              </a:spcBef>
              <a:spcAft>
                <a:spcPts val="600"/>
              </a:spcAft>
              <a:tabLst>
                <a:tab pos="1541463" algn="l"/>
              </a:tabLst>
            </a:pP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"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Mike</a:t>
            </a: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"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"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40</a:t>
            </a: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"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     </a:t>
            </a:r>
            <a:b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</a:b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'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Please enter name: </a:t>
            </a: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'</a:t>
            </a:r>
            <a:endParaRPr lang="en-US" sz="1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313113" marR="0" indent="-3313113">
              <a:spcBef>
                <a:spcPts val="600"/>
              </a:spcBef>
              <a:spcAft>
                <a:spcPts val="600"/>
              </a:spcAft>
              <a:tabLst>
                <a:tab pos="1541463" algn="l"/>
              </a:tabLst>
            </a:pP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Integer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21      450      0     -25</a:t>
            </a:r>
            <a:endParaRPr lang="en-US" sz="1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313113" marR="0" indent="-3313113">
              <a:spcBef>
                <a:spcPts val="600"/>
              </a:spcBef>
              <a:spcAft>
                <a:spcPts val="600"/>
              </a:spcAft>
              <a:tabLst>
                <a:tab pos="1541463" algn="l"/>
              </a:tabLst>
            </a:pP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Floating-point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21.9    450.25   0.01  -25.2  3.1416</a:t>
            </a:r>
            <a:endParaRPr lang="en-US" sz="1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10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048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that initializes variables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7F64A8-0762-4EC9-AA84-6ED7C0118A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6200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"Mike"    # sets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a str of "Mike"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quantity1 = 3          # sets quantity1 to an int of 3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quantity2 = 5          # sets quantity2 to an int of 5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list_price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19.99     # sets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list_price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a float of 19.99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Code that assigns new values </a:t>
            </a:r>
            <a:b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the variables above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"Joel"    # sets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a str of "Joel"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quantity1 = 10         # sets quantity1 to an int of 10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quantity1 = quantity2  # sets quantity1 to an int of 5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quantity1 = "15"       # sets quantity1 to a str of "15"</a:t>
            </a:r>
          </a:p>
          <a:p>
            <a:pPr marL="0" marR="0">
              <a:spcBef>
                <a:spcPts val="1200"/>
              </a:spcBef>
              <a:spcAft>
                <a:spcPts val="300"/>
              </a:spcAf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Code that assigns values to two variables</a:t>
            </a:r>
          </a:p>
          <a:p>
            <a:pPr marL="344488" marR="0">
              <a:spcBef>
                <a:spcPts val="0"/>
              </a:spcBef>
              <a:spcAft>
                <a:spcPts val="30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quantity1 = 3, </a:t>
            </a:r>
            <a:r>
              <a:rPr lang="en-US" sz="14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list_price</a:t>
            </a:r>
            <a:r>
              <a:rPr lang="en-US" sz="14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19.99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Code that causes an error due to incorrect case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quantity1 = Quantity2  #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NameError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'Quantity2' is not defined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11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27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code literal values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6A44398-7174-4380-A8AC-B62470495A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To code a </a:t>
            </a:r>
            <a:r>
              <a:rPr lang="en-US" i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literal value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for a string, enclose the characters of the string in single or double quotation marks. This is called a </a:t>
            </a:r>
            <a:r>
              <a:rPr lang="en-US" i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string literal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To code a literal value for a number, code the number without quotation marks. This is called a </a:t>
            </a:r>
            <a:r>
              <a:rPr lang="en-US" i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numeric literal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12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396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for naming variables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F541AA2-A2D0-42EB-8830-F10F1349A1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 variable name must begin with a letter or underscore.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 variable name can’t contain spaces, punctuation, or special characters other than the underscore.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 variable name can’t begin with a number, but can use numbers later in the name.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 variable name can’t be the same as a </a:t>
            </a:r>
            <a:r>
              <a:rPr lang="en-US" i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keyword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that’s reserved by Python.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13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5844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keywords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65F49B9-28EA-450C-885B-A28FC709FF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939925" algn="l"/>
                <a:tab pos="3427413" algn="l"/>
                <a:tab pos="5033963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	except	lambda	while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939925" algn="l"/>
                <a:tab pos="3427413" algn="l"/>
                <a:tab pos="5033963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	False	None	with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939925" algn="l"/>
                <a:tab pos="3427413" algn="l"/>
                <a:tab pos="5033963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assert	finally	nonlocal	yield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939925" algn="l"/>
                <a:tab pos="3427413" algn="l"/>
                <a:tab pos="5033963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break	for	not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939925" algn="l"/>
                <a:tab pos="3427413" algn="l"/>
                <a:tab pos="5033963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	from	or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939925" algn="l"/>
                <a:tab pos="3427413" algn="l"/>
                <a:tab pos="5033963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continue	global	pass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939925" algn="l"/>
                <a:tab pos="3427413" algn="l"/>
                <a:tab pos="5033963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	if	raise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939925" algn="l"/>
                <a:tab pos="3427413" algn="l"/>
                <a:tab pos="5033963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	import	return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939925" algn="l"/>
                <a:tab pos="3427413" algn="l"/>
                <a:tab pos="5033963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in	True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939925" algn="l"/>
                <a:tab pos="3427413" algn="l"/>
                <a:tab pos="5033963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	is	try</a:t>
            </a:r>
          </a:p>
          <a:p>
            <a:pPr>
              <a:tabLst>
                <a:tab pos="1828800" algn="l"/>
                <a:tab pos="3200400" algn="l"/>
              </a:tabLst>
            </a:pPr>
            <a:endParaRPr lang="en-US" sz="16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14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681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naming styles for variables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489DDE-3DB7-453D-99EE-6D73760E9E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variable_name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# underscore notation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variableName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# camel case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Recommendations for naming variables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Start all variable names with a lowercase letter.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Use underscore notation or camel case.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Use meaningful names that are easy to remember.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Don’t use the names of built-in functions, such as print().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15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57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Python’s arithmetic operators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144852-30E3-4F52-AB86-74CA10D6B0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tabLst>
                <a:tab pos="1828800" algn="l"/>
                <a:tab pos="2514600" algn="l"/>
              </a:tabLst>
            </a:pPr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	Name</a:t>
            </a: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828800" algn="l"/>
                <a:tab pos="2514600" algn="l"/>
              </a:tabLst>
            </a:pP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Addition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828800" algn="l"/>
                <a:tab pos="2514600" algn="l"/>
              </a:tabLst>
            </a:pP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Subtraction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828800" algn="l"/>
                <a:tab pos="2514600" algn="l"/>
              </a:tabLst>
            </a:pP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Multiplication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828800" algn="l"/>
                <a:tab pos="2514600" algn="l"/>
              </a:tabLst>
            </a:pP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Division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828800" algn="l"/>
                <a:tab pos="2514600" algn="l"/>
              </a:tabLst>
            </a:pP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Integer division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828800" algn="l"/>
                <a:tab pos="2514600" algn="l"/>
              </a:tabLst>
            </a:pP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Modulo / Remainder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828800" algn="l"/>
                <a:tab pos="2514600" algn="l"/>
              </a:tabLst>
            </a:pP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**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Exponentiation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16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1334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with two operands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FB036C-65F4-43E6-AB47-862E708CD2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1828800" marR="0" indent="-1828800">
              <a:spcBef>
                <a:spcPts val="600"/>
              </a:spcBef>
              <a:spcAft>
                <a:spcPts val="600"/>
              </a:spcAft>
              <a:tabLst>
                <a:tab pos="1828800" algn="l"/>
                <a:tab pos="1885950" algn="l"/>
                <a:tab pos="2114550" algn="l"/>
                <a:tab pos="3200400" algn="l"/>
              </a:tabLst>
            </a:pPr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	Result</a:t>
            </a:r>
          </a:p>
          <a:p>
            <a:pPr marL="1828800" marR="0" indent="-1828800">
              <a:spcBef>
                <a:spcPts val="600"/>
              </a:spcBef>
              <a:spcAft>
                <a:spcPts val="600"/>
              </a:spcAft>
              <a:tabLst>
                <a:tab pos="2514600" algn="l"/>
                <a:tab pos="188595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5 + 4	9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28800" marR="0" indent="-1828800">
              <a:spcBef>
                <a:spcPts val="600"/>
              </a:spcBef>
              <a:spcAft>
                <a:spcPts val="600"/>
              </a:spcAft>
              <a:tabLst>
                <a:tab pos="2514600" algn="l"/>
                <a:tab pos="188595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25 / 4	6.25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28800" marR="0" indent="-1828800">
              <a:spcBef>
                <a:spcPts val="600"/>
              </a:spcBef>
              <a:spcAft>
                <a:spcPts val="600"/>
              </a:spcAft>
              <a:tabLst>
                <a:tab pos="2514600" algn="l"/>
                <a:tab pos="188595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25 // 4	6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28800" marR="0" indent="-1828800">
              <a:spcBef>
                <a:spcPts val="600"/>
              </a:spcBef>
              <a:spcAft>
                <a:spcPts val="600"/>
              </a:spcAft>
              <a:tabLst>
                <a:tab pos="2514600" algn="l"/>
                <a:tab pos="188595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25 % 4	1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28800" marR="0" indent="-1828800">
              <a:spcBef>
                <a:spcPts val="600"/>
              </a:spcBef>
              <a:spcAft>
                <a:spcPts val="600"/>
              </a:spcAft>
              <a:tabLst>
                <a:tab pos="2514600" algn="l"/>
                <a:tab pos="188595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3 ** 2	9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17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877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order of precedence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D5EBFAF-CC33-4172-BA71-03743E5370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685800" marR="0" indent="-685800">
              <a:spcBef>
                <a:spcPts val="600"/>
              </a:spcBef>
              <a:spcAft>
                <a:spcPts val="600"/>
              </a:spcAft>
              <a:tabLst>
                <a:tab pos="1149350" algn="l"/>
                <a:tab pos="3200400" algn="l"/>
                <a:tab pos="3771900" algn="l"/>
              </a:tabLst>
            </a:pPr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	Operators	Direction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149350" algn="l"/>
                <a:tab pos="3200400" algn="l"/>
                <a:tab pos="3771900" algn="l"/>
              </a:tabLst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	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**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	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Left to right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149350" algn="l"/>
                <a:tab pos="3200400" algn="l"/>
                <a:tab pos="3771900" algn="l"/>
              </a:tabLst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	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*  /  //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 %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Left to right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149350" algn="l"/>
                <a:tab pos="3200400" algn="l"/>
                <a:tab pos="3771900" algn="l"/>
              </a:tabLst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	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+  -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Left to right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18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0089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24988"/>
            <a:ext cx="7315200" cy="670411"/>
          </a:xfrm>
        </p:spPr>
        <p:txBody>
          <a:bodyPr/>
          <a:lstStyle/>
          <a:p>
            <a:r>
              <a:rPr lang="en-US" dirty="0"/>
              <a:t>Examples that show the order of precedence </a:t>
            </a:r>
            <a:br>
              <a:rPr lang="en-US" dirty="0"/>
            </a:br>
            <a:r>
              <a:rPr lang="en-US" dirty="0"/>
              <a:t>and use of parentheses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C4AE7B3-C2DC-4AFC-96D2-CCCF6B5CDB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447800"/>
            <a:ext cx="7391400" cy="44958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tabLst>
                <a:tab pos="1946275" algn="l"/>
                <a:tab pos="2514600" algn="l"/>
                <a:tab pos="2514600" algn="l"/>
                <a:tab pos="3200400" algn="l"/>
              </a:tabLst>
            </a:pPr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	Result</a:t>
            </a: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946275" algn="l"/>
                <a:tab pos="2514600" algn="l"/>
                <a:tab pos="2514600" algn="l"/>
                <a:tab pos="32004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3 + 4 * 5	23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(the multiplication is done first)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946275" algn="l"/>
                <a:tab pos="2514600" algn="l"/>
                <a:tab pos="2514600" algn="l"/>
                <a:tab pos="32004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(3 + 4) * 5	35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(the addition is done first)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19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03081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that calculates sales tax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D65FECE-D8C0-4F53-9944-E6B97752DD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572135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subtotal = 200.00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572135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tax_percent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.05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572135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tax_amount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subtotal *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tax_percent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# 10.0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572135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grand_total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subtotal +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tax_amount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# 210.0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Code that calculates the perimeter of a rectangle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572135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width = 4.25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572135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length = 8.5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572135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perimeter = (2 * width) + (2 * length)     # 25.5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20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1289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most useful compound assignment operators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CEFF0D9-E006-4811-8D0A-3D23054BDC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lang="en-US" sz="1600" b="1" spc="-1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+=</a:t>
            </a:r>
            <a:endParaRPr lang="en-US" sz="1600" spc="-1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lang="en-US" sz="1600" b="1" spc="-1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-=</a:t>
            </a:r>
            <a:endParaRPr lang="en-US" sz="1600" spc="-1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lang="en-US" sz="1600" b="1" spc="-1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*=</a:t>
            </a:r>
            <a:endParaRPr lang="en-US" sz="1600" spc="-1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ways to increment the number in a variable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counter = 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counter = counter + 1      # counter = 1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counter += 1               # counter = 2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Code that adds two numbers to a variable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score_total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0            #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score_total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  <a:b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score_total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+= 70          #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score_total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70</a:t>
            </a:r>
            <a:b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score_total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+= 80          #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score_total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150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21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3321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compound assignment operator examples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BFD7333-5049-4301-8DE7-41BA3E86E0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total = 1000.0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total += 100.0             # total = 1100.0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counter = 10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counter -= 1               # counter = 9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price = 100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price *= .8                # price = 80.0</a:t>
            </a:r>
          </a:p>
          <a:p>
            <a:endParaRPr lang="en-US" sz="16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22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0040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floating-point result that isn’t precise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491265-5419-4A7C-ABDA-020462E72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subtotal = 74.95               # subtotal = 74.95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tax = subtotal * .1            # tax = 7.495000000000001</a:t>
            </a:r>
          </a:p>
          <a:p>
            <a:endParaRPr lang="en-US" sz="16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23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1630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Python shell after some numeric testing</a:t>
            </a:r>
          </a:p>
        </p:txBody>
      </p:sp>
      <p:pic>
        <p:nvPicPr>
          <p:cNvPr id="7" name="Content Placeholder 6" descr="Refer to page 43 in the textbook.">
            <a:extLst>
              <a:ext uri="{FF2B5EF4-FFF2-40B4-BE49-F238E27FC236}">
                <a16:creationId xmlns:a16="http://schemas.microsoft.com/office/drawing/2014/main" id="{265FF461-F138-4D89-962E-862FB4D431F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676400" y="1219200"/>
            <a:ext cx="4800600" cy="459257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24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7577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the shell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29FAB2D-CD59-45D5-924F-1432B59782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To test a statement, type it at the prompt and press the Enter key. You can also type the name of a variable at the prompt to see what its value is.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Any variables that you create remain active for the current session. As a result, you can use them in statements that you enter later in the same session.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To retype your previous entry, press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Alt+p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(Windows) or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Command+p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(macOS).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To cycle through all of the previous entries, continue pressing the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Alt+p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(Windows) or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Command+p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(macOS) keystroke until the entry you want is displayed at the prompt.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25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62012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assign strings to variables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4F8328-A26D-4FAC-8FB2-3BEB50A007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"Bob"                   # Bob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'Smith'                  # Smith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 = ""                            # (empty string)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 = "Bob Smith"                   # Bob Smith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26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26978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E37E4-854E-427A-8ACB-9F03ED83C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join strings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C841F-BD2B-43CF-AD2F-BBCE1275C4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28600" marR="0">
              <a:spcBef>
                <a:spcPts val="600"/>
              </a:spcBef>
              <a:spcAft>
                <a:spcPts val="3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the + operator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 =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", " +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endParaRPr lang="en-US" sz="16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name is "Smith, Bob"</a:t>
            </a:r>
          </a:p>
          <a:p>
            <a:pPr marL="228600" marR="0">
              <a:spcBef>
                <a:spcPts val="600"/>
              </a:spcBef>
              <a:spcAft>
                <a:spcPts val="3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an f-string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 = f"{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}, {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}"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name is "Smith, Bob"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3BA63-53D3-4FA5-A903-B64BDC8F2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230CA-D283-476C-92CD-7655DB316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74F4C-1B31-410D-A877-C060AB3E4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4079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str</a:t>
            </a:r>
            <a:r>
              <a:rPr lang="en-US" dirty="0"/>
              <a:t>() function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545248-99D4-49CF-9ED9-FDC526252A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lang="en-US" sz="1600" b="1" spc="-10" dirty="0">
                <a:latin typeface="Courier New" panose="02070309020205020404" pitchFamily="49" charset="0"/>
                <a:ea typeface="Times New Roman" panose="02020603050405020304" pitchFamily="18" charset="0"/>
              </a:rPr>
              <a:t>str(</a:t>
            </a:r>
            <a:r>
              <a:rPr lang="en-US" sz="1600" b="1" i="1" spc="-10" dirty="0">
                <a:latin typeface="Courier New" panose="02070309020205020404" pitchFamily="49" charset="0"/>
                <a:ea typeface="Times New Roman" panose="02020603050405020304" pitchFamily="18" charset="0"/>
              </a:rPr>
              <a:t>data</a:t>
            </a:r>
            <a:r>
              <a:rPr lang="en-US" sz="1600" b="1" spc="-10" dirty="0">
                <a:latin typeface="Courier New" panose="02070309020205020404" pitchFamily="49" charset="0"/>
                <a:ea typeface="Times New Roman" panose="02020603050405020304" pitchFamily="18" charset="0"/>
              </a:rPr>
              <a:t>)</a:t>
            </a:r>
            <a:endParaRPr lang="en-US" sz="1600" spc="-1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join a string and a number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 = "Bob Smith"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 = 40</a:t>
            </a:r>
          </a:p>
          <a:p>
            <a:pPr marL="228600" marR="0">
              <a:spcBef>
                <a:spcPts val="600"/>
              </a:spcBef>
              <a:spcAft>
                <a:spcPts val="3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the + operator and the str() function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message = name + " is " + str(age) + " years old."</a:t>
            </a:r>
          </a:p>
          <a:p>
            <a:pPr marL="228600" marR="0">
              <a:spcBef>
                <a:spcPts val="600"/>
              </a:spcBef>
              <a:spcAft>
                <a:spcPts val="3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an f-string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message = f"{name} is {age} years old."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str() function not needed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28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1201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escape sequences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345864-5D31-4D96-9DB5-229F00440E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1828800" indent="-1828800">
              <a:spcBef>
                <a:spcPts val="600"/>
              </a:spcBef>
              <a:spcAft>
                <a:spcPts val="600"/>
              </a:spcAft>
              <a:tabLst>
                <a:tab pos="2514600" algn="l"/>
                <a:tab pos="2514600" algn="l"/>
              </a:tabLst>
            </a:pPr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Sequence	Character</a:t>
            </a:r>
          </a:p>
          <a:p>
            <a:pPr marL="1828800" marR="0" indent="-1828800">
              <a:spcBef>
                <a:spcPts val="600"/>
              </a:spcBef>
              <a:spcAft>
                <a:spcPts val="600"/>
              </a:spcAft>
              <a:tabLst>
                <a:tab pos="2514600" algn="l"/>
                <a:tab pos="2514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New line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28800" marR="0" indent="-1828800">
              <a:spcBef>
                <a:spcPts val="600"/>
              </a:spcBef>
              <a:spcAft>
                <a:spcPts val="600"/>
              </a:spcAft>
              <a:tabLst>
                <a:tab pos="2514600" algn="l"/>
                <a:tab pos="2514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\t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Tab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28800" marR="0" indent="-1828800">
              <a:spcBef>
                <a:spcPts val="600"/>
              </a:spcBef>
              <a:spcAft>
                <a:spcPts val="600"/>
              </a:spcAft>
              <a:tabLst>
                <a:tab pos="2514600" algn="l"/>
                <a:tab pos="2514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Return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28800" marR="0" indent="-1828800">
              <a:spcBef>
                <a:spcPts val="600"/>
              </a:spcBef>
              <a:spcAft>
                <a:spcPts val="600"/>
              </a:spcAft>
              <a:tabLst>
                <a:tab pos="2514600" algn="l"/>
                <a:tab pos="2514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\"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Quotation mark in a double quoted string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28800" marR="0" indent="-1828800">
              <a:spcBef>
                <a:spcPts val="600"/>
              </a:spcBef>
              <a:spcAft>
                <a:spcPts val="600"/>
              </a:spcAft>
              <a:tabLst>
                <a:tab pos="2514600" algn="l"/>
                <a:tab pos="2514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\'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Quotation mark in a single quoted string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28800" marR="0" indent="-1828800">
              <a:spcBef>
                <a:spcPts val="600"/>
              </a:spcBef>
              <a:spcAft>
                <a:spcPts val="600"/>
              </a:spcAft>
              <a:tabLst>
                <a:tab pos="2514600" algn="l"/>
                <a:tab pos="2514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\\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Backslash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29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1150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9D07C-28EA-423B-8C94-30BE489A5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Implicit continuation of a string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036EC-0A39-4A66-8DB6-88AF7FEF4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28600" marR="0">
              <a:spcBef>
                <a:spcPts val="600"/>
              </a:spcBef>
              <a:spcAft>
                <a:spcPts val="3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the + operator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print("Name: " + name + "\n" +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"Age:  " + str(age))</a:t>
            </a:r>
          </a:p>
          <a:p>
            <a:pPr marL="228600" marR="0">
              <a:spcBef>
                <a:spcPts val="600"/>
              </a:spcBef>
              <a:spcAft>
                <a:spcPts val="3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an f-string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f"Name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{name}\n"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f"Age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 {age}")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0620D-5431-454D-953F-7648911D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E962A-E93F-41F6-B81E-C44E6600D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8AB60-38C0-4832-B463-969D94278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1146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new line character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3CD7008-BBD4-4728-AC71-B6B67C6005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815635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print("Title: Python Programming\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nQuantity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5")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Displayed on the console</a:t>
            </a:r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4B73691-BA1B-49A8-8E6D-22DC6A884BE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5400" y="1905001"/>
            <a:ext cx="5562600" cy="6096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Title: Python Programming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Quantity: 5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18719E8-3C7F-40D7-958D-7DD7231166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200" y="2743200"/>
            <a:ext cx="7391400" cy="1253578"/>
          </a:xfrm>
        </p:spPr>
        <p:txBody>
          <a:bodyPr/>
          <a:lstStyle/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tab and new line characters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print("Title:\t\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tPython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Programming\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nQuantity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:\t5")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Displayed on the console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F13101-DE97-4F6A-B701-74FAB37D9A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95400" y="4038600"/>
            <a:ext cx="5562600" cy="6096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Title:          Python Programming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Quantity:       5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31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75651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backslash in a Windows path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A81A50E-E593-4FA6-9C3E-6D3B3EAF2A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87660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print("C:\\murach\\python")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Displayed on the console</a:t>
            </a:r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9785C31-EE5E-41CC-99C0-F34EA586EE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5400" y="1922299"/>
            <a:ext cx="5105400" cy="363701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C:\murach\python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3F8BF61-C664-41A7-BA60-2D6AECC716D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200" y="2590800"/>
            <a:ext cx="7391400" cy="1496734"/>
          </a:xfrm>
        </p:spPr>
        <p:txBody>
          <a:bodyPr/>
          <a:lstStyle/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Four ways to include quotation marks in a string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"Type \"x\" to exit"  # String is: Type "x" to exit.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'Type \'x\' to exit'  # String is: Type 'x' to exit.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"Type 'x' to exit"    # String is: Type 'x' to exit.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'Type "x" to exit'    # String is: Type "x" to exit.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32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8716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Python shell with string testing</a:t>
            </a:r>
          </a:p>
        </p:txBody>
      </p:sp>
      <p:pic>
        <p:nvPicPr>
          <p:cNvPr id="7" name="Content Placeholder 6" descr="Refer to page 49 in the textbook.">
            <a:extLst>
              <a:ext uri="{FF2B5EF4-FFF2-40B4-BE49-F238E27FC236}">
                <a16:creationId xmlns:a16="http://schemas.microsoft.com/office/drawing/2014/main" id="{50C5728D-3F79-4E8E-868B-0ED88A8A2BE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95400" y="1142999"/>
            <a:ext cx="5715000" cy="4637049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33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5286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how to use the shell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9142027-9C6D-4AF4-B53D-5D8BDD733C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To test a statement, type it at the prompt and press the Enter key. You can also type the name of a variable at the prompt to see what its value is.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Any variables that you create remain active for the current session. As a result, you can use them in statements that you enter later in the same session.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To retype the previous statement on Windows, press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Alt+p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To cycle through all of the previous statements, continue pressing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Alt+p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On macOS, use </a:t>
            </a:r>
            <a:r>
              <a:rPr lang="en-US" spc="-1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Command+p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34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8759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syntax of the print() function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801514-7CF8-43EA-8127-EFE377DEE7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sz="1600" b="1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[,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sep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 '][, end='</a:t>
            </a:r>
            <a:r>
              <a:rPr lang="en-US" sz="1600" b="1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1600" b="1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Three print() functions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print(19.99)                       # 19.99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print("Price:", 19.99)             # Price: 19.99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print(1, 2, 3, 4)                  # 1 2 3 4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35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1193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ways to get the same result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82FCF6C-9372-425A-B501-962E3A477E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2971800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print() function that receives four arguments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print("Total Score:",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score_total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"\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nAverage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Score:",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average_score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print() function that receives one string </a:t>
            </a:r>
            <a:br>
              <a:rPr lang="en-US" b="1" spc="-10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spc="-10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 the argument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f"Total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Score: {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score_total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}"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f"\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nAverage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Score: {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average_score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}")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data that’s displayed by both functions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71ED46-E2F8-4814-83C7-166857220C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95400" y="3806279"/>
            <a:ext cx="5105400" cy="6096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Total Score: 240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Average Score: 80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36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0739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that use the </a:t>
            </a:r>
            <a:r>
              <a:rPr lang="en-US" dirty="0" err="1"/>
              <a:t>sep</a:t>
            </a:r>
            <a:r>
              <a:rPr lang="en-US" dirty="0"/>
              <a:t> and end arguments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F60428-101F-44DD-81BB-5765BEA6C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print(1,2,3,4,sep=' | ')      # 1 | 2 | 3 | 4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print(1,2,3,4,end='!!!')      # 1 2 3 4!!!</a:t>
            </a:r>
          </a:p>
          <a:p>
            <a:endParaRPr lang="en-US" sz="16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37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60106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input() function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EB3C2EC-3001-4144-822E-F79795B2DC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2049956"/>
          </a:xfrm>
        </p:spPr>
        <p:txBody>
          <a:bodyPr/>
          <a:lstStyle/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lang="en-US" sz="1600" b="1" spc="-10" dirty="0">
                <a:latin typeface="Courier New" panose="02070309020205020404" pitchFamily="49" charset="0"/>
                <a:ea typeface="Times New Roman" panose="02020603050405020304" pitchFamily="18" charset="0"/>
              </a:rPr>
              <a:t>input([</a:t>
            </a:r>
            <a:r>
              <a:rPr lang="en-US" sz="1600" b="1" i="1" spc="-10" dirty="0">
                <a:latin typeface="Courier New" panose="02070309020205020404" pitchFamily="49" charset="0"/>
                <a:ea typeface="Times New Roman" panose="02020603050405020304" pitchFamily="18" charset="0"/>
              </a:rPr>
              <a:t>prompt</a:t>
            </a:r>
            <a:r>
              <a:rPr lang="en-US" sz="1600" b="1" spc="-10" dirty="0">
                <a:latin typeface="Courier New" panose="02070309020205020404" pitchFamily="49" charset="0"/>
                <a:ea typeface="Times New Roman" panose="02020603050405020304" pitchFamily="18" charset="0"/>
              </a:rPr>
              <a:t>]) </a:t>
            </a:r>
            <a:endParaRPr lang="en-US" sz="1600" spc="-1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Code that gets string input from the user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input("Enter your first name: 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f"Hello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{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}!")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console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6071D6D-7495-4AC1-AE18-1D605612EE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95400" y="3048000"/>
            <a:ext cx="5105400" cy="6037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Enter your first name: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Mike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Hello, Mike!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38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5898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way to get input from the user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5ADC298-6A1A-43E7-872D-2D843F87A2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12954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print("What is your first name?")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input()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f"Hello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{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}!")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console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840AC5A-E6C2-4D6E-A7EC-9DDCDC3AA9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95400" y="2362200"/>
            <a:ext cx="5105400" cy="8323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your first name?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Mike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Hello, Mike!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39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118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that attempts to get numeric input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78F4FB-6916-430A-BF17-71E67A0B6C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score_total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score = input("Enter your score: 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score_total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+= score      # causes an error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# because score is a string</a:t>
            </a:r>
          </a:p>
          <a:p>
            <a:endParaRPr lang="en-US" sz="16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40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6828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functions for working with numbers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0219A61-1784-427F-9D48-31BD0667B1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lang="en-US" sz="1600" b="1" spc="-10" dirty="0">
                <a:latin typeface="Courier New" panose="02070309020205020404" pitchFamily="49" charset="0"/>
                <a:ea typeface="Times New Roman" panose="02020603050405020304" pitchFamily="18" charset="0"/>
              </a:rPr>
              <a:t>int(</a:t>
            </a:r>
            <a:r>
              <a:rPr lang="en-US" sz="1600" b="1" i="1" spc="-10" dirty="0">
                <a:latin typeface="Courier New" panose="02070309020205020404" pitchFamily="49" charset="0"/>
                <a:ea typeface="Times New Roman" panose="02020603050405020304" pitchFamily="18" charset="0"/>
              </a:rPr>
              <a:t>data</a:t>
            </a:r>
            <a:r>
              <a:rPr lang="en-US" sz="1600" b="1" spc="-10" dirty="0">
                <a:latin typeface="Courier New" panose="02070309020205020404" pitchFamily="49" charset="0"/>
                <a:ea typeface="Times New Roman" panose="02020603050405020304" pitchFamily="18" charset="0"/>
              </a:rPr>
              <a:t>)</a:t>
            </a:r>
            <a:endParaRPr lang="en-US" sz="1600" spc="-1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lang="en-US" sz="1600" b="1" spc="-10" dirty="0">
                <a:latin typeface="Courier New" panose="02070309020205020404" pitchFamily="49" charset="0"/>
                <a:ea typeface="Times New Roman" panose="02020603050405020304" pitchFamily="18" charset="0"/>
              </a:rPr>
              <a:t>float(</a:t>
            </a:r>
            <a:r>
              <a:rPr lang="en-US" sz="1600" b="1" i="1" spc="-10" dirty="0">
                <a:latin typeface="Courier New" panose="02070309020205020404" pitchFamily="49" charset="0"/>
                <a:ea typeface="Times New Roman" panose="02020603050405020304" pitchFamily="18" charset="0"/>
              </a:rPr>
              <a:t>data</a:t>
            </a:r>
            <a:r>
              <a:rPr lang="en-US" sz="1600" b="1" spc="-10" dirty="0">
                <a:latin typeface="Courier New" panose="02070309020205020404" pitchFamily="49" charset="0"/>
                <a:ea typeface="Times New Roman" panose="02020603050405020304" pitchFamily="18" charset="0"/>
              </a:rPr>
              <a:t>)</a:t>
            </a:r>
            <a:endParaRPr lang="en-US" sz="1600" spc="-1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lang="en-US" sz="1600" b="1" spc="-10" dirty="0">
                <a:latin typeface="Courier New" panose="02070309020205020404" pitchFamily="49" charset="0"/>
                <a:ea typeface="Times New Roman" panose="02020603050405020304" pitchFamily="18" charset="0"/>
              </a:rPr>
              <a:t>round(</a:t>
            </a:r>
            <a:r>
              <a:rPr lang="en-US" sz="1600" b="1" i="1" spc="-10" dirty="0">
                <a:latin typeface="Courier New" panose="02070309020205020404" pitchFamily="49" charset="0"/>
                <a:ea typeface="Times New Roman" panose="02020603050405020304" pitchFamily="18" charset="0"/>
              </a:rPr>
              <a:t>number </a:t>
            </a:r>
            <a:r>
              <a:rPr lang="en-US" sz="1600" b="1" spc="-10" dirty="0">
                <a:latin typeface="Courier New" panose="02070309020205020404" pitchFamily="49" charset="0"/>
                <a:ea typeface="Times New Roman" panose="02020603050405020304" pitchFamily="18" charset="0"/>
              </a:rPr>
              <a:t>[,</a:t>
            </a:r>
            <a:r>
              <a:rPr lang="en-US" sz="1600" b="1" i="1" spc="-10" dirty="0">
                <a:latin typeface="Courier New" panose="02070309020205020404" pitchFamily="49" charset="0"/>
                <a:ea typeface="Times New Roman" panose="02020603050405020304" pitchFamily="18" charset="0"/>
              </a:rPr>
              <a:t>digits</a:t>
            </a:r>
            <a:r>
              <a:rPr lang="en-US" sz="1600" b="1" spc="-10" dirty="0">
                <a:latin typeface="Courier New" panose="02070309020205020404" pitchFamily="49" charset="0"/>
                <a:ea typeface="Times New Roman" panose="02020603050405020304" pitchFamily="18" charset="0"/>
              </a:rPr>
              <a:t>]) </a:t>
            </a:r>
            <a:endParaRPr lang="en-US" sz="1600" spc="-1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Code that causes an exception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 = 15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 = "5"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z = x + y	#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TypeError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can't add an int to a str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using the int() function fixes the exception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s-E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 = 15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s-E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 = "5"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s-E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z = x + </a:t>
            </a:r>
            <a:r>
              <a:rPr lang="es-E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s-E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(y)	# z </a:t>
            </a:r>
            <a:r>
              <a:rPr lang="es-E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s-E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20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41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837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that gets an </a:t>
            </a:r>
            <a:r>
              <a:rPr lang="en-US" dirty="0" err="1"/>
              <a:t>int</a:t>
            </a:r>
            <a:r>
              <a:rPr lang="en-US" dirty="0"/>
              <a:t> value from the user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D8C59B9-6928-4EF7-8306-74962D2330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quantity = input("Enter the quantity: ")	# get str type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quantity = int(quantity)           # convert to int type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chaining to get the value in one statement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quantity = int(input("Enter the quantity: "))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42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8811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that gets a float value from the user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A17F7B4-BD40-4800-9EA6-3D3C0ACD47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price = input("Enter the price: ")      # get str type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price = float(price)           # convert to float type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chaining to get the value in one statement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price = float(input("Enter the price: "))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43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2251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that uses the round() function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71BCEFC-0DF3-4B1A-977F-BBBF91E5D1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miles_driven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150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gallons_used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5.875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mpg =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miles_driven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gallons_used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# 25.53191489361702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mpg = round(mpg, 2)                # 25.53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combine the last two statements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mpg = round(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miles_driven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gallons_used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2)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44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9144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console for the Miles Per Gallon program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5F0DFF1-D8B3-410D-846B-2938ED8CEB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95400" y="1143000"/>
            <a:ext cx="5562600" cy="20574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Miles Per Gallon program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Enter miles driven:            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150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Enter gallons of gas used:     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35.875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Miles Per Gallon:               4.18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Bye!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45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7608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code for the Miles Per Gallon program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EB46955-C302-47D9-B118-6645DFE7E4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#!/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usr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/bin/env python3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display a title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print("The Miles Per Gallon program")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get input from the user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miles_driven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float(input("Enter miles driven:\t\t"))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gallons_used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float(input(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"Enter gallons of gas used:\t"))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calculate and round miles per gallon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mpg =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miles_driven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gallons_used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mpg = round(mpg, 2)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display the result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f"Miles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Per Gallon:\t\t{mpg}")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print("Bye!")</a:t>
            </a:r>
          </a:p>
          <a:p>
            <a:endParaRPr lang="en-US" sz="16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46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83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console for the Test Scores program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445006B-1B1D-46A6-9E10-D92E9F569A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95400" y="1143000"/>
            <a:ext cx="5105400" cy="30480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Test Scores program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Enter 3 test scores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Enter test score: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75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Enter test score: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85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Enter test score: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95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Total Score:   255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Average Score: 85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Bye!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47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24091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code for the Test Scores program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B0A860-ECD8-4E05-9533-1C2648F018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49530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#!/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usr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/bin/env python3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display a title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print("The Test Scores program")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print("Enter 3 test scores")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print("======================")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get scores from the user and accumulate the total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total_score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0       # initialize the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total_score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variable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total_score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+= int(input("Enter test score: "))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total_score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+= int(input("Enter test score: "))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total_score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+= int(input("Enter test score: "))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calculate average score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average_score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round(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total_score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/ 3)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format and display the result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print("======================")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print("Total Score:  ",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total_score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"\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nAverage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Score:", 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average_score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print("Bye!")</a:t>
            </a:r>
          </a:p>
          <a:p>
            <a:endParaRPr lang="en-US" sz="14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48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928980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slides_with_titles_logo">
  <a:themeElements>
    <a:clrScheme name="Master slide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aster slid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ter slide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MA accessible slides.potx" id="{FA774D23-CD87-4BB6-B365-D73C968B11E5}" vid="{78B8C40C-25A7-4077-896B-60A8EE8B832F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MMA accessible slides</Template>
  <TotalTime>527</TotalTime>
  <Words>3985</Words>
  <Application>Microsoft Office PowerPoint</Application>
  <PresentationFormat>On-screen Show (4:3)</PresentationFormat>
  <Paragraphs>576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Arial</vt:lpstr>
      <vt:lpstr>Arial Narrow</vt:lpstr>
      <vt:lpstr>Courier New</vt:lpstr>
      <vt:lpstr>Symbol</vt:lpstr>
      <vt:lpstr>Times New Roman</vt:lpstr>
      <vt:lpstr>Master slides_with_titles_logo</vt:lpstr>
      <vt:lpstr>Chapter 2</vt:lpstr>
      <vt:lpstr>The Python code for a Test Scores program</vt:lpstr>
      <vt:lpstr>An indentation error</vt:lpstr>
      <vt:lpstr>Two ways to continue one statement over two  or more lines</vt:lpstr>
      <vt:lpstr>Coding rules</vt:lpstr>
      <vt:lpstr>The Test Scores program with comments (part 1)</vt:lpstr>
      <vt:lpstr>The Test Scores program with comments (part 2)</vt:lpstr>
      <vt:lpstr>Guidelines for using comments</vt:lpstr>
      <vt:lpstr>The syntax for calling any function</vt:lpstr>
      <vt:lpstr>Three Python data types</vt:lpstr>
      <vt:lpstr>Code that initializes variables</vt:lpstr>
      <vt:lpstr>How to code literal values</vt:lpstr>
      <vt:lpstr>Rules for naming variables</vt:lpstr>
      <vt:lpstr>Python keywords</vt:lpstr>
      <vt:lpstr>Two naming styles for variables</vt:lpstr>
      <vt:lpstr>Python’s arithmetic operators</vt:lpstr>
      <vt:lpstr>Examples with two operands</vt:lpstr>
      <vt:lpstr>The order of precedence</vt:lpstr>
      <vt:lpstr>Examples that show the order of precedence  and use of parentheses</vt:lpstr>
      <vt:lpstr>Code that calculates sales tax</vt:lpstr>
      <vt:lpstr>The most useful compound assignment operators</vt:lpstr>
      <vt:lpstr>More compound assignment operator examples</vt:lpstr>
      <vt:lpstr>A floating-point result that isn’t precise</vt:lpstr>
      <vt:lpstr>The Python shell after some numeric testing</vt:lpstr>
      <vt:lpstr>How to use the shell</vt:lpstr>
      <vt:lpstr>How to assign strings to variables</vt:lpstr>
      <vt:lpstr>How to join strings</vt:lpstr>
      <vt:lpstr>The str() function</vt:lpstr>
      <vt:lpstr>Common escape sequences</vt:lpstr>
      <vt:lpstr>Implicit continuation of a string</vt:lpstr>
      <vt:lpstr>The new line character</vt:lpstr>
      <vt:lpstr>The backslash in a Windows path</vt:lpstr>
      <vt:lpstr>The Python shell with string testing</vt:lpstr>
      <vt:lpstr>Review of how to use the shell</vt:lpstr>
      <vt:lpstr>The syntax of the print() function</vt:lpstr>
      <vt:lpstr>Two ways to get the same result</vt:lpstr>
      <vt:lpstr>Examples that use the sep and end arguments</vt:lpstr>
      <vt:lpstr>The input() function</vt:lpstr>
      <vt:lpstr>Another way to get input from the user</vt:lpstr>
      <vt:lpstr>Code that attempts to get numeric input</vt:lpstr>
      <vt:lpstr>Three functions for working with numbers</vt:lpstr>
      <vt:lpstr>Code that gets an int value from the user</vt:lpstr>
      <vt:lpstr>Code that gets a float value from the user</vt:lpstr>
      <vt:lpstr>Code that uses the round() function</vt:lpstr>
      <vt:lpstr>The console for the Miles Per Gallon program</vt:lpstr>
      <vt:lpstr>The code for the Miles Per Gallon program</vt:lpstr>
      <vt:lpstr>The console for the Test Scores program</vt:lpstr>
      <vt:lpstr>The code for the Test Scores program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</dc:title>
  <dc:creator>Judy Taylor</dc:creator>
  <cp:lastModifiedBy>Randall Granier</cp:lastModifiedBy>
  <cp:revision>33</cp:revision>
  <cp:lastPrinted>2016-01-14T23:03:16Z</cp:lastPrinted>
  <dcterms:created xsi:type="dcterms:W3CDTF">2019-07-22T18:44:04Z</dcterms:created>
  <dcterms:modified xsi:type="dcterms:W3CDTF">2025-07-10T23:26:32Z</dcterms:modified>
</cp:coreProperties>
</file>