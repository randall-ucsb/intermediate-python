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86" r:id="rId4"/>
    <p:sldId id="28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9" autoAdjust="0"/>
    <p:restoredTop sz="86433" autoAdjust="0"/>
  </p:normalViewPr>
  <p:slideViewPr>
    <p:cSldViewPr>
      <p:cViewPr>
        <p:scale>
          <a:sx n="140" d="100"/>
          <a:sy n="140" d="100"/>
        </p:scale>
        <p:origin x="102" y="-22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0" r:id="rId6"/>
    <p:sldLayoutId id="2147483683" r:id="rId7"/>
    <p:sldLayoutId id="2147483681" r:id="rId8"/>
    <p:sldLayoutId id="2147483674" r:id="rId9"/>
    <p:sldLayoutId id="2147483687" r:id="rId10"/>
    <p:sldLayoutId id="2147483676" r:id="rId11"/>
    <p:sldLayoutId id="2147483675" r:id="rId12"/>
    <p:sldLayoutId id="2147483684" r:id="rId13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143000" y="2209800"/>
            <a:ext cx="6858000" cy="2971800"/>
          </a:xfrm>
        </p:spPr>
        <p:txBody>
          <a:bodyPr/>
          <a:lstStyle/>
          <a:p>
            <a: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essentials</a:t>
            </a:r>
            <a:b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data visualization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A7DC-8CE9-4A06-85A8-86E58733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5D5C4E-2B24-40CE-A616-53BE245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1)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FF85A4-66BD-4482-97A9-76E8B7AA1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Pandas plot() method to create these types of plots: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scatter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histogram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density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box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pie plot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parameters of the Pandas plot() method to enhance a plot in these ways: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a title, x and y labels, and grid lines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rotate the tick labels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the x- and y-axis limits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C685-27AF-49F2-94F0-CE12EAAA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8823E-1BDA-405F-989A-3BE20764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EBFB6-0F5D-4FBA-B647-51C7526D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98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CF3F-43EE-49F9-B555-C0A4AFC0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075D0-CBFA-4F46-9715-EFE4221B4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parameters of the Pandas plot() method to create a plot that has subplots.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Chain the Pandas plot() method to methods that prepare the data for the plot() method.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three data visualization libraries for Python.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long data and wide data and describe their effects on the Pandas plot() method.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way the Pandas plot() method works when no parameters are coded.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BE4B5-8A03-41B7-A986-C7BF16CA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B5D3-F1C4-4DFC-A5D4-7E662C93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86B70-1089-4970-9004-366A4D83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90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62F1-9F13-47C3-950D-AB097FE9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B8ED7-522F-4B11-A04F-16E30086B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these types of plots: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scatter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histogram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box plot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B23B-9C13-4F43-A34F-3467AC42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DE0B-C7B7-4E97-A3CA-0E9A3759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7CD5D-1677-437B-9BF6-70727C9C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00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E6E8-6A6D-49FC-B215-5AC299EE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libraries for Python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A3DB-25AE-438F-BB45-C483CB4A9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altair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can help you…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Understand your data more easily.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 the relationships between variables.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Spot unusual datapoints like outliers.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DA579-1E4D-4D20-B931-3486AC8E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F60B-9B6E-4BA9-BD28-A2AB6E1C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08A58-3094-4C41-93E5-CE954FA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3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686DDC-431B-4BC8-A080-FFA7245F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mortality data in long form (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3" name="Content Placeholder 2" descr="Refer to page 95 in textbook">
            <a:extLst>
              <a:ext uri="{FF2B5EF4-FFF2-40B4-BE49-F238E27FC236}">
                <a16:creationId xmlns:a16="http://schemas.microsoft.com/office/drawing/2014/main" id="{4F7A4470-5504-4BD4-B996-8B4DA24C297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5489" y="1097203"/>
            <a:ext cx="3316511" cy="88399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EDD917-1606-4457-A0DE-45956DEC7A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1336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scatter plot derived from the long data</a:t>
            </a:r>
            <a:endParaRPr lang="en-US" b="1" dirty="0">
              <a:solidFill>
                <a:srgbClr val="000099"/>
              </a:solidFill>
              <a:effectLst/>
              <a:latin typeface="Montserrat Medium" panose="000006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"01-04 Years"') \</a:t>
            </a:r>
            <a:b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plot.scatter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800" dirty="0"/>
          </a:p>
        </p:txBody>
      </p:sp>
      <p:pic>
        <p:nvPicPr>
          <p:cNvPr id="10" name="Content Placeholder 9" descr="Refer to page 95 in textbook">
            <a:extLst>
              <a:ext uri="{FF2B5EF4-FFF2-40B4-BE49-F238E27FC236}">
                <a16:creationId xmlns:a16="http://schemas.microsoft.com/office/drawing/2014/main" id="{A432A732-AD99-495A-B8C3-3641EA30A05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55489" y="3200400"/>
            <a:ext cx="4023709" cy="26093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B8BC-DF0F-4F7E-8B27-65EE56A9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70FC3-D625-491A-86D1-F6099BAE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706F-C8AD-41B4-970A-31A8661F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47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D2CD93-32DF-4B03-A1AF-C8AA8D50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mortality data in wide form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Year as the index (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8" name="Content Placeholder 7" descr="Refer to page 95 in textbook">
            <a:extLst>
              <a:ext uri="{FF2B5EF4-FFF2-40B4-BE49-F238E27FC236}">
                <a16:creationId xmlns:a16="http://schemas.microsoft.com/office/drawing/2014/main" id="{219DA96C-0407-4551-845D-3144486EBF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313477"/>
            <a:ext cx="4048095" cy="11461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A8D94B-BEE2-4292-8D31-8E5D583CF2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667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 plot derived from the wide data</a:t>
            </a:r>
            <a:endParaRPr lang="en-US" b="1" dirty="0">
              <a:solidFill>
                <a:srgbClr val="000099"/>
              </a:solidFill>
              <a:effectLst/>
              <a:latin typeface="Montserrat Medium" panose="000006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</a:t>
            </a:r>
            <a:r>
              <a:rPr lang="en-US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607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endParaRPr lang="en-US" sz="2000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" name="Content Placeholder 9" descr="Refer to page 95 in textbook">
            <a:extLst>
              <a:ext uri="{FF2B5EF4-FFF2-40B4-BE49-F238E27FC236}">
                <a16:creationId xmlns:a16="http://schemas.microsoft.com/office/drawing/2014/main" id="{777BD398-6F8B-47F4-9242-990F2555EEF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19200" y="3505200"/>
            <a:ext cx="3676207" cy="24751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FAA4-91A3-45F4-BD75-A2EFD53D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A478-8AB1-4D3A-82CA-369AA932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722BD-CF05-467B-9CB1-24FCE778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32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1A1B86-6064-4D93-A15A-FA1198E53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plot() method that plots the long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no parameters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D237F6-D7C8-4419-BDA3-CAC68CA3D8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607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3" name="Content Placeholder 2" descr="Refer to page 97 in textbook">
            <a:extLst>
              <a:ext uri="{FF2B5EF4-FFF2-40B4-BE49-F238E27FC236}">
                <a16:creationId xmlns:a16="http://schemas.microsoft.com/office/drawing/2014/main" id="{E254F853-D3F2-42F5-A0F3-3B2B9E96996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5166646" cy="3276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57A58-4C54-4FA8-B8B5-C8D1D18B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2EDA4-ACC5-4080-88FC-4DC68CD2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BD16-2C5F-4650-AFE4-E32E865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5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BA46AC-4C1D-4398-AFFE-D02661CB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plot() method that plots the wide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no parameters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3AA5F8-45C3-434B-8C5D-A2A4AC668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607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7 in textbook">
            <a:extLst>
              <a:ext uri="{FF2B5EF4-FFF2-40B4-BE49-F238E27FC236}">
                <a16:creationId xmlns:a16="http://schemas.microsoft.com/office/drawing/2014/main" id="{ED3469AA-F419-4D17-A51A-2A632FD6EE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5193778" cy="3505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8B3F-48E3-4A11-9861-1561063B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E58C-E756-4504-8417-FFA67687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2500D-12ED-47BF-9600-F42A2DBA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98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504-B880-45B1-8B59-8FDBA3F9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 basic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Pandas plot() method</a:t>
            </a:r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C20CA4BB-B6B1-4872-B454-2CD94FECAF1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95924857"/>
              </p:ext>
            </p:extLst>
          </p:nvPr>
        </p:nvGraphicFramePr>
        <p:xfrm>
          <a:off x="914400" y="1295400"/>
          <a:ext cx="6012180" cy="249936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775440499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18822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81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to be plotted on the x-axis. This column can’t be in an index.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066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be plotted on the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52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kind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kind of plot to be displayed. The default is ‘line’.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36243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5191D-1EF9-4750-B891-62CDDA7C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49800-3014-4559-A312-FCB50BFC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68661-0506-43BC-9FDC-7F474E3B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55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9FACEB-56BE-4376-B8E7-70A36ACD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code the plot()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using the kind parameter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3F6D80-AD64-4288-8816-7002DD5529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4930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# same as plot(kind='scatter')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mortality_data.plot.bar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    # same as plot(kind='bar')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 from the long data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"01-04 Years"') \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9 in textbook">
            <a:extLst>
              <a:ext uri="{FF2B5EF4-FFF2-40B4-BE49-F238E27FC236}">
                <a16:creationId xmlns:a16="http://schemas.microsoft.com/office/drawing/2014/main" id="{74DB9B1A-DD19-455C-9052-57FEE82E39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3048000"/>
            <a:ext cx="4356098" cy="2819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57D49-2031-4221-AA1F-2BEEF8A2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CFDF-9263-42B6-82AF-A1A69591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AE9D3-70D3-44A5-9C2F-50EB32CC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34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FDF9C3-9162-4548-817C-8680612D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 from the wide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two of the columns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EE527D-93D3-4DEE-87EE-67737938C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(y=['01-04 Years','15-19 Years'])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9 in textbook">
            <a:extLst>
              <a:ext uri="{FF2B5EF4-FFF2-40B4-BE49-F238E27FC236}">
                <a16:creationId xmlns:a16="http://schemas.microsoft.com/office/drawing/2014/main" id="{0E910C85-1BE0-415C-9D8F-8EF4CA1EE4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676400"/>
            <a:ext cx="5537603" cy="3733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9F0DB-20DD-43E6-BCF7-23253B95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F3D5-21C8-442A-BAD9-135433D6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9EA63-5223-4176-AE00-8EFE0550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6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8F91C1-4FF8-4C2F-BD43-1ACEEC9C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 from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6F3A7-8AE5-4F6D-B56D-62F5087E4B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1 in textbook">
            <a:extLst>
              <a:ext uri="{FF2B5EF4-FFF2-40B4-BE49-F238E27FC236}">
                <a16:creationId xmlns:a16="http://schemas.microsoft.com/office/drawing/2014/main" id="{1168EA14-40C9-493E-BD7A-CC04DB4AFE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3999"/>
            <a:ext cx="5644734" cy="3810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F1C6A-B4DD-494F-B839-D96188F4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1CBCC-4058-4E3B-A5CA-F296A08C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E6782-2B90-4CFD-A104-4CDEB3FA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9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FA5552-2A5B-4ED7-AAC0-B22D74D5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an area plot from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237E27-A217-42C3-AB4C-F07C73F0C4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mortality_wide.plot.area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1 in textbook">
            <a:extLst>
              <a:ext uri="{FF2B5EF4-FFF2-40B4-BE49-F238E27FC236}">
                <a16:creationId xmlns:a16="http://schemas.microsoft.com/office/drawing/2014/main" id="{B51C8F20-B32A-4472-9AFE-6FF0FA836A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5650616" cy="381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3DFE3-3E42-4A39-A579-EFCD9278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2DD09-DC9B-4BB3-817E-7E71DB03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D6DF-A3FC-4544-BE8A-A013F1F3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22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F40336-1BB5-409D-BF20-933DC307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 from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4BFD3B-2E17-4698-ADEE-365A22866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3 in textbook">
            <a:extLst>
              <a:ext uri="{FF2B5EF4-FFF2-40B4-BE49-F238E27FC236}">
                <a16:creationId xmlns:a16="http://schemas.microsoft.com/office/drawing/2014/main" id="{8D620405-46FD-4923-9024-9CDCB63C7F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4000"/>
            <a:ext cx="5637539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7B794-F2C7-40D8-955D-53E2874A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D5E80-1912-4EB4-BF59-338C28DF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798F-616A-48B7-A4A6-60504A5D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5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4581-D45B-4942-A1E8-904DEAE1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problems with scatter plots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wide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C71C3-D88F-433B-9EA0-A69700985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have to code both x and y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-----------------------------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scatter() missing 2 required positional arguments: 'x' and 'y'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x parameter can’t be in an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KeyError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'Year'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FC224-3643-485F-A918-D6CDC14C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AEF4A-466F-4461-B880-72D3087B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BC04B-5EE5-4971-B79B-84CB1DD0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558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7FBF65-9F54-46DE-A720-E864C1C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Seaborn improves on Pandas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39CCD4-12E4-4949-AB0C-63184BF7F0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sns.scatterplot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x='Year',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3 in textbook">
            <a:extLst>
              <a:ext uri="{FF2B5EF4-FFF2-40B4-BE49-F238E27FC236}">
                <a16:creationId xmlns:a16="http://schemas.microsoft.com/office/drawing/2014/main" id="{A9A9324A-AA1C-4F44-B4A8-167BA5D486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970886"/>
            <a:ext cx="5791201" cy="37441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A2BF2-A74B-4ED9-81BB-71519B51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D1507-F16B-456C-9B53-36D0EDEA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F81D9-BF1F-49FD-A6D2-8DF8B795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84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5D03A7-425E-4E85-B37C-E61ACA56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vertical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F99DC-BFF7-4512-89EA-95D83675D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(1900,2000)').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5 in textbook">
            <a:extLst>
              <a:ext uri="{FF2B5EF4-FFF2-40B4-BE49-F238E27FC236}">
                <a16:creationId xmlns:a16="http://schemas.microsoft.com/office/drawing/2014/main" id="{CC798487-EAB5-41CD-A638-A11A10524EB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43528"/>
            <a:ext cx="5715000" cy="40714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48FC-7268-40B8-B924-5970350A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476F-0D92-4CEE-A4A6-31704ED1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CC11D-3702-46EF-91B7-34CD8C89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46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8E699F-D920-4FF6-AD21-9FDC98D2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horizontal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12B5B0-5110-4BDD-B4C6-6E3379A3F0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(1900,2000)').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5 in textbook">
            <a:extLst>
              <a:ext uri="{FF2B5EF4-FFF2-40B4-BE49-F238E27FC236}">
                <a16:creationId xmlns:a16="http://schemas.microsoft.com/office/drawing/2014/main" id="{1C6CCB31-2A90-430E-A197-D3141FF6BC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50380"/>
            <a:ext cx="6096000" cy="37170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FDD6-CBE6-412E-90E4-C7399BA5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096D1-594E-4C38-BB5D-55BDF55C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6964E-E771-4B1D-A4A1-2781450E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89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AFD960-3F9A-46F0-B3BB-8F72240B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histogram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097BCD-961F-440D-B6DB-CF8BA83E2A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mortality_data.plot.hist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bins=8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7 in textbook">
            <a:extLst>
              <a:ext uri="{FF2B5EF4-FFF2-40B4-BE49-F238E27FC236}">
                <a16:creationId xmlns:a16="http://schemas.microsoft.com/office/drawing/2014/main" id="{E0B92E3E-558F-47A0-81BD-871589DBA2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3999"/>
            <a:ext cx="6096000" cy="37985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2F0F-D0B5-4095-BB49-8EA2CD6A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5A34-451A-477E-BB82-FF6D47E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8BC8B-64A5-4F12-A4A1-8B92C85C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79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4EAA6A-3A99-41A5-88DD-02082E11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density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AC217C-29C6-47A4-AAE9-BCD144103D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mortality_data.plot.density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7 in textbook">
            <a:extLst>
              <a:ext uri="{FF2B5EF4-FFF2-40B4-BE49-F238E27FC236}">
                <a16:creationId xmlns:a16="http://schemas.microsoft.com/office/drawing/2014/main" id="{D03260C6-60D0-45C5-AD89-2FC08F6F61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4000"/>
            <a:ext cx="6127572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A2AA-A605-403B-987D-61066565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D4C1B-3A2A-4EA4-9EED-9ED4AC45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5240-1ECB-467C-A028-A4D392E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23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631ACC-BAB8-40D7-8801-A7DEDDFD9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box plot 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928A5E-C876-4AE1-8AA9-B88B5B420C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mortality_wide.plot.box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9 in textbook">
            <a:extLst>
              <a:ext uri="{FF2B5EF4-FFF2-40B4-BE49-F238E27FC236}">
                <a16:creationId xmlns:a16="http://schemas.microsoft.com/office/drawing/2014/main" id="{9A8E21C9-5622-4F19-90EF-C78A9F78968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6001126" cy="381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8DABD-267E-48B4-ACE0-CCE96DFC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12B4-FE7D-497B-897D-979B9906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CB2-A4D5-4156-9A6E-0F212BCE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24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DFE18C-ACC4-4E4A-AF8A-4A01EAEE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pie plot from the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9E848A-351A-4532-91EB-F0BE82EE0A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645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'].sum().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plot.pie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8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3" name="Content Placeholder 2" descr="Refer to page 109 in textbook">
            <a:extLst>
              <a:ext uri="{FF2B5EF4-FFF2-40B4-BE49-F238E27FC236}">
                <a16:creationId xmlns:a16="http://schemas.microsoft.com/office/drawing/2014/main" id="{00FA5D6B-E60D-4B8F-B165-A0DC4784A5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22951" y="1524000"/>
            <a:ext cx="4478971" cy="3200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3B794-EA60-4A6E-A119-4CE11C40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E8F4A-2410-4114-9FF5-F5067DDF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D2CEF-EE51-447F-9604-CEDCE061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0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4D822A-6F2C-48CA-B9E6-28E34D5B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Pandas plot() method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6CDBEF32-B51F-4C66-87C7-B444A38DEA2A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914400" y="1349308"/>
          <a:ext cx="7315200" cy="4083184"/>
        </p:xfrm>
        <a:graphic>
          <a:graphicData uri="http://schemas.openxmlformats.org/drawingml/2006/table">
            <a:tbl>
              <a:tblPr firstRow="1"/>
              <a:tblGrid>
                <a:gridCol w="2008542">
                  <a:extLst>
                    <a:ext uri="{9D8B030D-6E8A-4147-A177-3AD203B41FA5}">
                      <a16:colId xmlns:a16="http://schemas.microsoft.com/office/drawing/2014/main" val="2903115616"/>
                    </a:ext>
                  </a:extLst>
                </a:gridCol>
                <a:gridCol w="5306658">
                  <a:extLst>
                    <a:ext uri="{9D8B030D-6E8A-4147-A177-3AD203B41FA5}">
                      <a16:colId xmlns:a16="http://schemas.microsoft.com/office/drawing/2014/main" val="235141383"/>
                    </a:ext>
                  </a:extLst>
                </a:gridCol>
              </a:tblGrid>
              <a:tr h="39562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44844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title of the plot.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3332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legend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False, the legend isn’t displayed. If ‘reverse’, the legend items are displayed in reverse order.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651108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grid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displays gridlines.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582902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rotation of the tick labels from 0 (the default) to 360.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280770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xlabel, ylabel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label for the x- or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15364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xlim, ylim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Tuples that set the range for the x- or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719571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figsize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tuple that sets the width and height of the plot in inches.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47537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F4D3D-4B0B-4B7F-B9FE-9F4BD30A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0CF4-A27C-4502-92A0-C59048A3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ABA2D-272B-4FD3-B966-0C75DD74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263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8D00CD-E1B5-4219-BD0D-A0CAC53A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a title and a grid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AA79DF-1C9C-4E52-B7AA-A9934D37F1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(title='Child Mortality: 1900-2018',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grid=True, rot=45)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1 in textbook">
            <a:extLst>
              <a:ext uri="{FF2B5EF4-FFF2-40B4-BE49-F238E27FC236}">
                <a16:creationId xmlns:a16="http://schemas.microsoft.com/office/drawing/2014/main" id="{DD00D0CE-82F5-468F-9908-AE5793E694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8944" y="2027773"/>
            <a:ext cx="5316406" cy="38396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5E05-1B95-460C-8332-C735A483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1BD1-A4BC-4986-91E5-B05DE0E2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2C34E-2AB7-412A-9ACA-F929C07B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67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CB4052-2D1F-44B5-A67D-9A4A9057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x and y limits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E587F5-A1AA-45E6-949D-BA8D5C7A7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(title='Child Mortality: 2000-2018',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=(8,4), grid=True,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rot=45,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=(2000,2018),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=(0,100))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1 in textbook">
            <a:extLst>
              <a:ext uri="{FF2B5EF4-FFF2-40B4-BE49-F238E27FC236}">
                <a16:creationId xmlns:a16="http://schemas.microsoft.com/office/drawing/2014/main" id="{049EB65B-E37D-4325-AA87-EEFD2FAD8C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981198"/>
            <a:ext cx="6985001" cy="38902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6DE5-3533-4AE0-801B-817CA106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F58B-8977-4D1C-B0C3-CD4AD499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3438-2813-4B04-81D1-5563D480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001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DD3621-EA49-4FCA-BBD7-C911010C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parameters for working with subplots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6F391417-FDC4-415B-B37C-A1EB1368966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89046168"/>
              </p:ext>
            </p:extLst>
          </p:nvPr>
        </p:nvGraphicFramePr>
        <p:xfrm>
          <a:off x="930442" y="1143000"/>
          <a:ext cx="6697980" cy="3505200"/>
        </p:xfrm>
        <a:graphic>
          <a:graphicData uri="http://schemas.openxmlformats.org/drawingml/2006/table">
            <a:tbl>
              <a:tblPr firstRow="1"/>
              <a:tblGrid>
                <a:gridCol w="1954530">
                  <a:extLst>
                    <a:ext uri="{9D8B030D-6E8A-4147-A177-3AD203B41FA5}">
                      <a16:colId xmlns:a16="http://schemas.microsoft.com/office/drawing/2014/main" val="4259167304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3300215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42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string for the plot title or a list of strings for the subplot titles.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07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subplots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creates subplots if the y-axis plots more than one Series.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3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layout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tuple that sets the number of rows and columns for the subplots.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2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sharex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sharey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shares the label for the x- or y-axis so it won’t be repeated for each subplot. By default,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sharex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True,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sharey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False.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29235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D2B5-DD58-4FDF-8589-CF9BAF80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C9AF7-41D9-4BC8-8052-431BBB22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41F33-9682-4F92-99B2-AFD4C03C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689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03D3-B3CC-4364-8284-44396E9E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four subplots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E728-5AE6-4F53-AF6E-08AE6B5F7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title=['Child Mortality: 01-04','Child Mortality: 05-09',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'Child Mortality: 10-14','Child Mortality: 15-19'],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grid=True, rot=45,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=(1900,1950), legend=False,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subplots=True, layout=(2,2),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=(10,10))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E9492-A339-4842-B749-250F1D91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B0B0-D621-45DC-A769-DCB51FDB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57D4C-0BD5-4D1B-ACE9-C29AFF20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908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9738AC-B43B-4E32-996E-0B362A7C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four subplots (continued)</a:t>
            </a:r>
            <a:endParaRPr lang="en-US" dirty="0"/>
          </a:p>
        </p:txBody>
      </p:sp>
      <p:pic>
        <p:nvPicPr>
          <p:cNvPr id="3" name="Content Placeholder 2" descr="Refer to page 113 in textbook">
            <a:extLst>
              <a:ext uri="{FF2B5EF4-FFF2-40B4-BE49-F238E27FC236}">
                <a16:creationId xmlns:a16="http://schemas.microsoft.com/office/drawing/2014/main" id="{9C3F0F8B-648B-46B8-9DE7-D54895FA5F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7275" y="1143000"/>
            <a:ext cx="5305925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812A5-03C3-4F0F-B7BD-51F8909E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9F10-E6BA-4659-9348-793C20BE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86B8-36D5-4459-9595-296E49F2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303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A03AB2-1534-4554-9FC5-95092426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chaining to create a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1254CB-DC1D-4E69-8D01-C34002A9F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(1900,2018)')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.pivot(index='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columns='Year',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5 in textbook">
            <a:extLst>
              <a:ext uri="{FF2B5EF4-FFF2-40B4-BE49-F238E27FC236}">
                <a16:creationId xmlns:a16="http://schemas.microsoft.com/office/drawing/2014/main" id="{6B4D3AE7-8BF2-4BBF-BC4D-C226BF5DC88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2133600"/>
            <a:ext cx="6523788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9034-A8BC-414D-9723-F1B8EF61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02B1-B890-483D-A114-45A98901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BA801-0507-4523-84FA-1B9A5896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196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68D4-D746-4734-9835-FFCEFC89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and chaining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8E714-2B49-4141-B3E9-774ADD79A2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mean','median','std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.plot(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100,000')</a:t>
            </a:r>
          </a:p>
          <a:p>
            <a:endParaRPr lang="en-US" sz="1600" dirty="0"/>
          </a:p>
        </p:txBody>
      </p:sp>
      <p:pic>
        <p:nvPicPr>
          <p:cNvPr id="9" name="Content Placeholder 8" descr="Refer to page 115 in textbook">
            <a:extLst>
              <a:ext uri="{FF2B5EF4-FFF2-40B4-BE49-F238E27FC236}">
                <a16:creationId xmlns:a16="http://schemas.microsoft.com/office/drawing/2014/main" id="{F351D872-47C6-4E0D-85DE-D6FBEAD7C4E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133601"/>
            <a:ext cx="5820632" cy="3810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5ECC7-507F-4931-ADF6-11399DA2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C19F4-6C39-4147-A6E6-F698750A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5F63-F721-43FB-AEA6-844F365A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00158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204</TotalTime>
  <Words>1879</Words>
  <Application>Microsoft Office PowerPoint</Application>
  <PresentationFormat>On-screen Show (4:3)</PresentationFormat>
  <Paragraphs>262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Narrow</vt:lpstr>
      <vt:lpstr>Consolas</vt:lpstr>
      <vt:lpstr>Montserrat Medium</vt:lpstr>
      <vt:lpstr>Symbol</vt:lpstr>
      <vt:lpstr>Times New Roman</vt:lpstr>
      <vt:lpstr>var(--jp-code-font-family)</vt:lpstr>
      <vt:lpstr>Master slides_with_titles_logo</vt:lpstr>
      <vt:lpstr>Chapter 3</vt:lpstr>
      <vt:lpstr>Objectives (part 1)</vt:lpstr>
      <vt:lpstr>Objectives (part 2)</vt:lpstr>
      <vt:lpstr>Objectives (part 3)</vt:lpstr>
      <vt:lpstr>Data visualization libraries for Python</vt:lpstr>
      <vt:lpstr>The mortality data in long form (mortality_data)</vt:lpstr>
      <vt:lpstr>The mortality data in wide form  with Year as the index (mortality_wide)</vt:lpstr>
      <vt:lpstr>A plot() method that plots the long data  with no parameters </vt:lpstr>
      <vt:lpstr>A plot() method that plots the wide data  with no parameters</vt:lpstr>
      <vt:lpstr>The three basic parameters  for the Pandas plot() method</vt:lpstr>
      <vt:lpstr>How to code the plot() method  without using the kind parameter</vt:lpstr>
      <vt:lpstr>How to create a line plot from the wide data  for just two of the columns</vt:lpstr>
      <vt:lpstr>How to create a line plot from wide data</vt:lpstr>
      <vt:lpstr>How to create an area plot from wide data</vt:lpstr>
      <vt:lpstr>How to create a scatter plot from long data</vt:lpstr>
      <vt:lpstr>Common problems with scatter plots  based on wide data</vt:lpstr>
      <vt:lpstr>How Seaborn improves on Pandas</vt:lpstr>
      <vt:lpstr>How to create a vertical bar plot  from the wide data</vt:lpstr>
      <vt:lpstr>How to create a horizontal bar plot  from the wide data</vt:lpstr>
      <vt:lpstr>How to create a histogram</vt:lpstr>
      <vt:lpstr>How to create a density plot</vt:lpstr>
      <vt:lpstr>How to create a box plot from the wide data</vt:lpstr>
      <vt:lpstr>How to create a pie plot from the long data</vt:lpstr>
      <vt:lpstr>Some of the parameters  for the Pandas plot() method</vt:lpstr>
      <vt:lpstr>A plot with a title and a grid</vt:lpstr>
      <vt:lpstr>A plot with x and y limits</vt:lpstr>
      <vt:lpstr>The Pandas parameters for working with subplots</vt:lpstr>
      <vt:lpstr>A plot with four subplots</vt:lpstr>
      <vt:lpstr>A plot with four subplots (continued)</vt:lpstr>
      <vt:lpstr>How to use chaining to create a bar plot  from long data</vt:lpstr>
      <vt:lpstr>How to use the groupby() method and chaining  to create a plot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30</cp:revision>
  <cp:lastPrinted>2016-01-14T23:03:16Z</cp:lastPrinted>
  <dcterms:created xsi:type="dcterms:W3CDTF">2021-06-22T17:52:44Z</dcterms:created>
  <dcterms:modified xsi:type="dcterms:W3CDTF">2024-04-15T20:41:26Z</dcterms:modified>
</cp:coreProperties>
</file>